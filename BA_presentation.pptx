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8" userDrawn="1">
          <p15:clr>
            <a:srgbClr val="A4A3A4"/>
          </p15:clr>
        </p15:guide>
        <p15:guide id="2" pos="285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48"/>
        <p:guide pos="285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59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65760"/>
            <a:ext cx="6400800" cy="201168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3834B"/>
                </a:solidFill>
                <a:latin typeface="Aptos"/>
              </a:rPr>
              <a:t>AI FOR INTELLIGENT REFUND RISK &amp; RESOLUTION</a:t>
            </a:r>
            <a:endParaRPr sz="900" b="1" i="0">
              <a:solidFill>
                <a:srgbClr val="13834B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85216" y="2350008"/>
            <a:ext cx="5029200" cy="347472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459D3"/>
                </a:solidFill>
                <a:latin typeface="Aptos Display"/>
              </a:rPr>
              <a:t>Less guesswork. Better decisions.</a:t>
            </a:r>
            <a:endParaRPr sz="1800" b="1" i="0">
              <a:solidFill>
                <a:srgbClr val="2459D3"/>
              </a:solidFill>
              <a:latin typeface="Aptos Display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94360" y="2852928"/>
            <a:ext cx="4434840" cy="731520"/>
          </a:xfrm>
          <a:prstGeom prst="rect">
            <a:avLst/>
          </a:prstGeom>
          <a:noFill/>
        </p:spPr>
        <p:txBody>
          <a:bodyPr wrap="square" lIns="45720" tIns="22860" rIns="45720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6758A"/>
                </a:solidFill>
                <a:latin typeface="Aptos"/>
              </a:rPr>
              <a:t>An AI-assisted layer that reads evidence, learns from refund behaviour, estimates the cost of each resolution, and keeps policy in control.</a:t>
            </a:r>
            <a:endParaRPr sz="1200" b="0" i="0">
              <a:solidFill>
                <a:srgbClr val="66758A"/>
              </a:solidFill>
              <a:latin typeface="Aptos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594487" y="6160262"/>
            <a:ext cx="5120640" cy="164592"/>
          </a:xfrm>
          <a:prstGeom prst="rect">
            <a:avLst/>
          </a:prstGeom>
          <a:noFill/>
        </p:spPr>
        <p:txBody>
          <a:bodyPr wrap="square" lIns="45720" tIns="22860" rIns="45720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66758A"/>
                </a:solidFill>
                <a:latin typeface="Aptos"/>
              </a:rPr>
              <a:t>PROTOTYPE CONCEPT  •  THREE SPECIALIST AGENTS  •  HUMAN-IN-THE-LOOP</a:t>
            </a:r>
            <a:endParaRPr sz="800" b="1" i="0">
              <a:solidFill>
                <a:srgbClr val="66758A"/>
              </a:solidFill>
              <a:latin typeface="Aptos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11365992" y="6473952"/>
            <a:ext cx="347472" cy="155448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650" b="1" i="0">
                <a:solidFill>
                  <a:srgbClr val="13834B"/>
                </a:solidFill>
                <a:latin typeface="Aptos"/>
              </a:rPr>
              <a:t>01</a:t>
            </a:r>
            <a:endParaRPr sz="650" b="1" i="0">
              <a:solidFill>
                <a:srgbClr val="13834B"/>
              </a:solidFill>
              <a:latin typeface="Aptos"/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566928" y="5692013"/>
            <a:ext cx="4526280" cy="384048"/>
          </a:xfrm>
          <a:prstGeom prst="roundRect">
            <a:avLst>
              <a:gd name="adj" fmla="val 8000"/>
            </a:avLst>
          </a:prstGeom>
          <a:solidFill>
            <a:srgbClr val="E7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04088" y="5788025"/>
            <a:ext cx="4160520" cy="137160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50" b="1">
                <a:solidFill>
                  <a:srgbClr val="2459D3"/>
                </a:solidFill>
                <a:latin typeface="Aptos"/>
              </a:rPr>
              <a:t>DECISION SUPPORT, NOT BLIND AUTOMATION</a:t>
            </a:r>
            <a:endParaRPr sz="650" b="1">
              <a:solidFill>
                <a:srgbClr val="2459D3"/>
              </a:solidFill>
              <a:latin typeface="Aptos"/>
            </a:endParaRPr>
          </a:p>
        </p:txBody>
      </p:sp>
      <p:sp>
        <p:nvSpPr>
          <p:cNvPr id="48" name="Rounded Rectangle 47"/>
          <p:cNvSpPr/>
          <p:nvPr/>
        </p:nvSpPr>
        <p:spPr>
          <a:xfrm>
            <a:off x="5532120" y="786384"/>
            <a:ext cx="6053328" cy="5138928"/>
          </a:xfrm>
          <a:prstGeom prst="roundRect">
            <a:avLst>
              <a:gd name="adj" fmla="val 10000"/>
            </a:avLst>
          </a:prstGeom>
          <a:solidFill>
            <a:srgbClr val="E8F1F3"/>
          </a:solidFill>
          <a:ln w="15240">
            <a:solidFill>
              <a:srgbClr val="D2E3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5806440" y="1078992"/>
            <a:ext cx="5440680" cy="438912"/>
          </a:xfrm>
          <a:prstGeom prst="roundRect">
            <a:avLst>
              <a:gd name="adj" fmla="val 10000"/>
            </a:avLst>
          </a:prstGeom>
          <a:solidFill>
            <a:srgbClr val="102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016752" y="1225296"/>
            <a:ext cx="5029200" cy="137160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50" b="1">
                <a:solidFill>
                  <a:srgbClr val="FFFFFF"/>
                </a:solidFill>
                <a:latin typeface="Aptos"/>
              </a:rPr>
              <a:t>REFUND SIGNAL FUSION ENGINE</a:t>
            </a:r>
            <a:endParaRPr sz="65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51" name="Oval 50"/>
          <p:cNvSpPr/>
          <p:nvPr/>
        </p:nvSpPr>
        <p:spPr>
          <a:xfrm>
            <a:off x="7360920" y="1965960"/>
            <a:ext cx="2304288" cy="2304288"/>
          </a:xfrm>
          <a:prstGeom prst="ellipse">
            <a:avLst/>
          </a:prstGeom>
          <a:solidFill>
            <a:srgbClr val="2459D3"/>
          </a:solidFill>
          <a:ln w="25400">
            <a:solidFill>
              <a:srgbClr val="A8D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7607808" y="2212848"/>
            <a:ext cx="1810512" cy="1810512"/>
          </a:xfrm>
          <a:prstGeom prst="ellipse">
            <a:avLst/>
          </a:prstGeom>
          <a:solidFill>
            <a:srgbClr val="102344"/>
          </a:solidFill>
          <a:ln w="19050">
            <a:solidFill>
              <a:srgbClr val="67B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7936992" y="2542032"/>
            <a:ext cx="1152144" cy="1152144"/>
          </a:xfrm>
          <a:prstGeom prst="ellipse">
            <a:avLst/>
          </a:prstGeom>
          <a:solidFill>
            <a:srgbClr val="159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936992" y="2816352"/>
            <a:ext cx="1152144" cy="274320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Aptos Display"/>
              </a:rPr>
              <a:t>AI</a:t>
            </a:r>
            <a:endParaRPr sz="2400" b="1">
              <a:solidFill>
                <a:srgbClr val="FFFFFF"/>
              </a:solidFill>
              <a:latin typeface="Aptos Display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7772400" y="3657600"/>
            <a:ext cx="1554480" cy="411480"/>
          </a:xfrm>
          <a:prstGeom prst="rect">
            <a:avLst/>
          </a:prstGeom>
          <a:noFill/>
        </p:spPr>
        <p:txBody>
          <a:bodyPr wrap="square" lIns="45720" tIns="22860" rIns="45720" bIns="2286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DECISION
CORE</a:t>
            </a:r>
            <a:endParaRPr sz="10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56" name="Rounded Rectangle 55"/>
          <p:cNvSpPr/>
          <p:nvPr/>
        </p:nvSpPr>
        <p:spPr>
          <a:xfrm>
            <a:off x="5870448" y="1828800"/>
            <a:ext cx="1325880" cy="7132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BD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870448" y="1828800"/>
            <a:ext cx="73152" cy="713232"/>
          </a:xfrm>
          <a:prstGeom prst="rect">
            <a:avLst/>
          </a:prstGeom>
          <a:solidFill>
            <a:srgbClr val="2459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998464" y="1956816"/>
            <a:ext cx="1106424" cy="146304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50" b="1">
                <a:solidFill>
                  <a:srgbClr val="2459D3"/>
                </a:solidFill>
                <a:latin typeface="Aptos"/>
              </a:rPr>
              <a:t>CLAIM</a:t>
            </a:r>
            <a:endParaRPr sz="650" b="1">
              <a:solidFill>
                <a:srgbClr val="2459D3"/>
              </a:solidFill>
              <a:latin typeface="Aptos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5998464" y="2194560"/>
            <a:ext cx="1106424" cy="155448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66758A"/>
                </a:solidFill>
                <a:latin typeface="Aptos"/>
              </a:rPr>
              <a:t>Order + reason</a:t>
            </a:r>
            <a:endParaRPr sz="700" b="0">
              <a:solidFill>
                <a:srgbClr val="66758A"/>
              </a:solidFill>
              <a:latin typeface="Aptos"/>
            </a:endParaRPr>
          </a:p>
        </p:txBody>
      </p:sp>
      <p:sp>
        <p:nvSpPr>
          <p:cNvPr id="60" name="Rounded Rectangle 59"/>
          <p:cNvSpPr/>
          <p:nvPr/>
        </p:nvSpPr>
        <p:spPr>
          <a:xfrm>
            <a:off x="9829800" y="1828800"/>
            <a:ext cx="1417320" cy="7132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BD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9829800" y="1828800"/>
            <a:ext cx="73152" cy="713232"/>
          </a:xfrm>
          <a:prstGeom prst="rect">
            <a:avLst/>
          </a:prstGeom>
          <a:solidFill>
            <a:srgbClr val="138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957816" y="1956816"/>
            <a:ext cx="1197864" cy="146304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50" b="1">
                <a:solidFill>
                  <a:srgbClr val="13834B"/>
                </a:solidFill>
                <a:latin typeface="Aptos"/>
              </a:rPr>
              <a:t>EVIDENCE</a:t>
            </a:r>
            <a:endParaRPr sz="650" b="1">
              <a:solidFill>
                <a:srgbClr val="13834B"/>
              </a:solidFill>
              <a:latin typeface="Aptos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9957816" y="2194560"/>
            <a:ext cx="1197864" cy="155448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66758A"/>
                </a:solidFill>
                <a:latin typeface="Aptos"/>
              </a:rPr>
              <a:t>Image + source</a:t>
            </a:r>
            <a:endParaRPr sz="700" b="0">
              <a:solidFill>
                <a:srgbClr val="66758A"/>
              </a:solidFill>
              <a:latin typeface="Aptos"/>
            </a:endParaRPr>
          </a:p>
        </p:txBody>
      </p:sp>
      <p:sp>
        <p:nvSpPr>
          <p:cNvPr id="64" name="Rounded Rectangle 63"/>
          <p:cNvSpPr/>
          <p:nvPr/>
        </p:nvSpPr>
        <p:spPr>
          <a:xfrm>
            <a:off x="5833872" y="4160520"/>
            <a:ext cx="1481328" cy="7132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BD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833872" y="4160520"/>
            <a:ext cx="73152" cy="713232"/>
          </a:xfrm>
          <a:prstGeom prst="rect">
            <a:avLst/>
          </a:prstGeom>
          <a:solidFill>
            <a:srgbClr val="765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961888" y="4288536"/>
            <a:ext cx="1261872" cy="146304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50" b="1">
                <a:solidFill>
                  <a:srgbClr val="7656D6"/>
                </a:solidFill>
                <a:latin typeface="Aptos"/>
              </a:rPr>
              <a:t>BEHAVIOUR</a:t>
            </a:r>
            <a:endParaRPr sz="650" b="1">
              <a:solidFill>
                <a:srgbClr val="7656D6"/>
              </a:solidFill>
              <a:latin typeface="Aptos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5961888" y="4526280"/>
            <a:ext cx="1261872" cy="155448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66758A"/>
                </a:solidFill>
                <a:latin typeface="Aptos"/>
              </a:rPr>
              <a:t>30/90/180d</a:t>
            </a:r>
            <a:endParaRPr sz="700" b="0">
              <a:solidFill>
                <a:srgbClr val="66758A"/>
              </a:solidFill>
              <a:latin typeface="Aptos"/>
            </a:endParaRPr>
          </a:p>
        </p:txBody>
      </p:sp>
      <p:sp>
        <p:nvSpPr>
          <p:cNvPr id="68" name="Rounded Rectangle 67"/>
          <p:cNvSpPr/>
          <p:nvPr/>
        </p:nvSpPr>
        <p:spPr>
          <a:xfrm>
            <a:off x="9720072" y="4160520"/>
            <a:ext cx="1527048" cy="7132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BD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9720072" y="4160520"/>
            <a:ext cx="73152" cy="713232"/>
          </a:xfrm>
          <a:prstGeom prst="rect">
            <a:avLst/>
          </a:prstGeom>
          <a:solidFill>
            <a:srgbClr val="D69D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848088" y="4288536"/>
            <a:ext cx="1307592" cy="146304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50" b="1">
                <a:solidFill>
                  <a:srgbClr val="D69D22"/>
                </a:solidFill>
                <a:latin typeface="Aptos"/>
              </a:rPr>
              <a:t>POLICY</a:t>
            </a:r>
            <a:endParaRPr sz="650" b="1">
              <a:solidFill>
                <a:srgbClr val="D69D22"/>
              </a:solidFill>
              <a:latin typeface="Aptos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9848088" y="4526280"/>
            <a:ext cx="1307592" cy="155448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66758A"/>
                </a:solidFill>
                <a:latin typeface="Aptos"/>
              </a:rPr>
              <a:t>Eligibility gates</a:t>
            </a:r>
            <a:endParaRPr sz="700" b="0">
              <a:solidFill>
                <a:srgbClr val="66758A"/>
              </a:solidFill>
              <a:latin typeface="Aptos"/>
            </a:endParaRPr>
          </a:p>
        </p:txBody>
      </p:sp>
      <p:cxnSp>
        <p:nvCxnSpPr>
          <p:cNvPr id="72" name="Connector 71"/>
          <p:cNvCxnSpPr/>
          <p:nvPr/>
        </p:nvCxnSpPr>
        <p:spPr>
          <a:xfrm>
            <a:off x="7196328" y="2185416"/>
            <a:ext cx="347472" cy="329184"/>
          </a:xfrm>
          <a:prstGeom prst="line">
            <a:avLst/>
          </a:prstGeom>
          <a:ln w="27940">
            <a:solidFill>
              <a:srgbClr val="245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Oval 72"/>
          <p:cNvSpPr/>
          <p:nvPr/>
        </p:nvSpPr>
        <p:spPr>
          <a:xfrm>
            <a:off x="7498079" y="2468880"/>
            <a:ext cx="91440" cy="91440"/>
          </a:xfrm>
          <a:prstGeom prst="ellipse">
            <a:avLst/>
          </a:prstGeom>
          <a:solidFill>
            <a:srgbClr val="2459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cxnSp>
        <p:nvCxnSpPr>
          <p:cNvPr id="74" name="Connector 73"/>
          <p:cNvCxnSpPr/>
          <p:nvPr/>
        </p:nvCxnSpPr>
        <p:spPr>
          <a:xfrm flipH="1">
            <a:off x="9473184" y="2185416"/>
            <a:ext cx="356616" cy="329184"/>
          </a:xfrm>
          <a:prstGeom prst="line">
            <a:avLst/>
          </a:prstGeom>
          <a:ln w="27940">
            <a:solidFill>
              <a:srgbClr val="1383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Oval 74"/>
          <p:cNvSpPr/>
          <p:nvPr/>
        </p:nvSpPr>
        <p:spPr>
          <a:xfrm>
            <a:off x="9427463" y="2468880"/>
            <a:ext cx="91440" cy="91440"/>
          </a:xfrm>
          <a:prstGeom prst="ellipse">
            <a:avLst/>
          </a:prstGeom>
          <a:solidFill>
            <a:srgbClr val="138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cxnSp>
        <p:nvCxnSpPr>
          <p:cNvPr id="76" name="Connector 75"/>
          <p:cNvCxnSpPr/>
          <p:nvPr/>
        </p:nvCxnSpPr>
        <p:spPr>
          <a:xfrm flipV="1">
            <a:off x="7315200" y="3904487"/>
            <a:ext cx="384048" cy="256033"/>
          </a:xfrm>
          <a:prstGeom prst="line">
            <a:avLst/>
          </a:prstGeom>
          <a:ln w="27940">
            <a:solidFill>
              <a:srgbClr val="7656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Oval 76"/>
          <p:cNvSpPr/>
          <p:nvPr/>
        </p:nvSpPr>
        <p:spPr>
          <a:xfrm>
            <a:off x="7653527" y="3858768"/>
            <a:ext cx="91440" cy="91440"/>
          </a:xfrm>
          <a:prstGeom prst="ellipse">
            <a:avLst/>
          </a:prstGeom>
          <a:solidFill>
            <a:srgbClr val="765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cxnSp>
        <p:nvCxnSpPr>
          <p:cNvPr id="78" name="Connector 77"/>
          <p:cNvCxnSpPr/>
          <p:nvPr/>
        </p:nvCxnSpPr>
        <p:spPr>
          <a:xfrm flipH="1" flipV="1">
            <a:off x="9326880" y="3904487"/>
            <a:ext cx="411480" cy="256033"/>
          </a:xfrm>
          <a:prstGeom prst="line">
            <a:avLst/>
          </a:prstGeom>
          <a:ln w="27940">
            <a:solidFill>
              <a:srgbClr val="D69D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Oval 78"/>
          <p:cNvSpPr/>
          <p:nvPr/>
        </p:nvSpPr>
        <p:spPr>
          <a:xfrm>
            <a:off x="9281159" y="3858768"/>
            <a:ext cx="91440" cy="91440"/>
          </a:xfrm>
          <a:prstGeom prst="ellipse">
            <a:avLst/>
          </a:prstGeom>
          <a:solidFill>
            <a:srgbClr val="D69D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80" name="Rounded Rectangle 79"/>
          <p:cNvSpPr/>
          <p:nvPr/>
        </p:nvSpPr>
        <p:spPr>
          <a:xfrm>
            <a:off x="6858000" y="5074920"/>
            <a:ext cx="3383280" cy="502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BD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7022592" y="5248656"/>
            <a:ext cx="3063240" cy="137160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50" b="1">
                <a:solidFill>
                  <a:srgbClr val="102344"/>
                </a:solidFill>
                <a:latin typeface="Aptos"/>
              </a:rPr>
              <a:t>RANK  →  EXPLAIN  →  ROUTE</a:t>
            </a:r>
            <a:endParaRPr sz="650" b="1">
              <a:solidFill>
                <a:srgbClr val="102344"/>
              </a:solidFill>
              <a:latin typeface="Aptos"/>
            </a:endParaRPr>
          </a:p>
        </p:txBody>
      </p:sp>
      <p:sp>
        <p:nvSpPr>
          <p:cNvPr id="82" name="Rounded Rectangle 81"/>
          <p:cNvSpPr/>
          <p:nvPr/>
        </p:nvSpPr>
        <p:spPr>
          <a:xfrm>
            <a:off x="5806440" y="5504688"/>
            <a:ext cx="1554480" cy="256032"/>
          </a:xfrm>
          <a:prstGeom prst="roundRect">
            <a:avLst>
              <a:gd name="adj" fmla="val 10000"/>
            </a:avLst>
          </a:prstGeom>
          <a:solidFill>
            <a:srgbClr val="DFF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5843016" y="5573268"/>
            <a:ext cx="1481328" cy="118872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075A3C"/>
                </a:solidFill>
                <a:latin typeface="Aptos"/>
              </a:rPr>
              <a:t>TRACEABLE EVIDENCE</a:t>
            </a:r>
            <a:endParaRPr sz="700" b="1">
              <a:solidFill>
                <a:srgbClr val="075A3C"/>
              </a:solidFill>
              <a:latin typeface="Aptos"/>
            </a:endParaRPr>
          </a:p>
        </p:txBody>
      </p:sp>
      <p:sp>
        <p:nvSpPr>
          <p:cNvPr id="84" name="Rounded Rectangle 83"/>
          <p:cNvSpPr/>
          <p:nvPr/>
        </p:nvSpPr>
        <p:spPr>
          <a:xfrm>
            <a:off x="7479792" y="5504688"/>
            <a:ext cx="1371600" cy="256032"/>
          </a:xfrm>
          <a:prstGeom prst="roundRect">
            <a:avLst>
              <a:gd name="adj" fmla="val 10000"/>
            </a:avLst>
          </a:prstGeom>
          <a:solidFill>
            <a:srgbClr val="E7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7516367" y="5573268"/>
            <a:ext cx="1298448" cy="118872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2459D3"/>
                </a:solidFill>
                <a:latin typeface="Aptos"/>
              </a:rPr>
              <a:t>EXPECTED COST</a:t>
            </a:r>
            <a:endParaRPr sz="700" b="1">
              <a:solidFill>
                <a:srgbClr val="2459D3"/>
              </a:solidFill>
              <a:latin typeface="Aptos"/>
            </a:endParaRPr>
          </a:p>
        </p:txBody>
      </p:sp>
      <p:sp>
        <p:nvSpPr>
          <p:cNvPr id="86" name="Rounded Rectangle 85"/>
          <p:cNvSpPr/>
          <p:nvPr/>
        </p:nvSpPr>
        <p:spPr>
          <a:xfrm>
            <a:off x="8961120" y="5504688"/>
            <a:ext cx="1508760" cy="256032"/>
          </a:xfrm>
          <a:prstGeom prst="roundRect">
            <a:avLst>
              <a:gd name="adj" fmla="val 10000"/>
            </a:avLst>
          </a:prstGeom>
          <a:solidFill>
            <a:srgbClr val="EC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997696" y="5573268"/>
            <a:ext cx="1435607" cy="118872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7656D6"/>
                </a:solidFill>
                <a:latin typeface="Aptos"/>
              </a:rPr>
              <a:t>HUMAN FALLBACK</a:t>
            </a:r>
            <a:endParaRPr sz="700" b="1">
              <a:solidFill>
                <a:srgbClr val="7656D6"/>
              </a:solidFill>
              <a:latin typeface="Aptos"/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567182" y="6416802"/>
            <a:ext cx="5120640" cy="164592"/>
          </a:xfrm>
          <a:prstGeom prst="rect">
            <a:avLst/>
          </a:prstGeom>
          <a:noFill/>
        </p:spPr>
        <p:txBody>
          <a:bodyPr wrap="square" lIns="45720" tIns="22860" rIns="45720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66758A"/>
                </a:solidFill>
                <a:latin typeface="Aptos"/>
              </a:rPr>
              <a:t>THREE SPECIALIST AGENTS  •  DETERMINISTIC GUARDRAILS  •  HUMAN-OWNED OUTCOMES</a:t>
            </a:r>
            <a:endParaRPr sz="700" b="1">
              <a:solidFill>
                <a:srgbClr val="66758A"/>
              </a:solidFill>
              <a:latin typeface="Aptos"/>
            </a:endParaRPr>
          </a:p>
        </p:txBody>
      </p:sp>
      <p:sp>
        <p:nvSpPr>
          <p:cNvPr id="101" name="Rounded Rectangle 100"/>
          <p:cNvSpPr/>
          <p:nvPr/>
        </p:nvSpPr>
        <p:spPr>
          <a:xfrm>
            <a:off x="566928" y="3767328"/>
            <a:ext cx="4407408" cy="53035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0160">
            <a:solidFill>
              <a:srgbClr val="D9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749808" y="3886200"/>
            <a:ext cx="1051560" cy="118872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13834B"/>
                </a:solidFill>
                <a:latin typeface="Aptos"/>
              </a:rPr>
              <a:t>THE PROBLEM</a:t>
            </a:r>
            <a:endParaRPr sz="700" b="1">
              <a:solidFill>
                <a:srgbClr val="13834B"/>
              </a:solidFill>
              <a:latin typeface="Aptos"/>
            </a:endParaRPr>
          </a:p>
        </p:txBody>
      </p:sp>
      <p:sp>
        <p:nvSpPr>
          <p:cNvPr id="103" name="TextBox 102"/>
          <p:cNvSpPr txBox="1"/>
          <p:nvPr/>
        </p:nvSpPr>
        <p:spPr>
          <a:xfrm>
            <a:off x="1847088" y="3867912"/>
            <a:ext cx="2889504" cy="182880"/>
          </a:xfrm>
          <a:prstGeom prst="rect">
            <a:avLst/>
          </a:prstGeom>
          <a:noFill/>
        </p:spPr>
        <p:txBody>
          <a:bodyPr wrap="square" lIns="45720" tIns="22860" rIns="45720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72B4D"/>
                </a:solidFill>
                <a:latin typeface="Aptos"/>
              </a:rPr>
              <a:t>Refund decisions are made with incomplete context.</a:t>
            </a:r>
            <a:endParaRPr sz="800" b="1">
              <a:solidFill>
                <a:srgbClr val="172B4D"/>
              </a:solidFill>
              <a:latin typeface="Aptos"/>
            </a:endParaRPr>
          </a:p>
        </p:txBody>
      </p:sp>
      <p:sp>
        <p:nvSpPr>
          <p:cNvPr id="104" name="Rounded Rectangle 103"/>
          <p:cNvSpPr/>
          <p:nvPr/>
        </p:nvSpPr>
        <p:spPr>
          <a:xfrm>
            <a:off x="566928" y="4443984"/>
            <a:ext cx="1335024" cy="713232"/>
          </a:xfrm>
          <a:prstGeom prst="roundRect">
            <a:avLst>
              <a:gd name="adj" fmla="val 7000"/>
            </a:avLst>
          </a:prstGeom>
          <a:solidFill>
            <a:srgbClr val="E7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58368" y="4553712"/>
            <a:ext cx="292608" cy="109728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2459D3"/>
                </a:solidFill>
                <a:latin typeface="Aptos"/>
              </a:rPr>
              <a:t>01</a:t>
            </a:r>
            <a:endParaRPr sz="700" b="1">
              <a:solidFill>
                <a:srgbClr val="2459D3"/>
              </a:solidFill>
              <a:latin typeface="Aptos"/>
            </a:endParaRPr>
          </a:p>
        </p:txBody>
      </p:sp>
      <p:sp>
        <p:nvSpPr>
          <p:cNvPr id="106" name="TextBox 105"/>
          <p:cNvSpPr txBox="1"/>
          <p:nvPr/>
        </p:nvSpPr>
        <p:spPr>
          <a:xfrm>
            <a:off x="658368" y="4754880"/>
            <a:ext cx="1143000" cy="137160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2459D3"/>
                </a:solidFill>
                <a:latin typeface="Aptos"/>
              </a:rPr>
              <a:t>CONNECT</a:t>
            </a:r>
            <a:endParaRPr sz="700" b="1">
              <a:solidFill>
                <a:srgbClr val="2459D3"/>
              </a:solidFill>
              <a:latin typeface="Aptos"/>
            </a:endParaRPr>
          </a:p>
        </p:txBody>
      </p:sp>
      <p:sp>
        <p:nvSpPr>
          <p:cNvPr id="107" name="TextBox 106"/>
          <p:cNvSpPr txBox="1"/>
          <p:nvPr/>
        </p:nvSpPr>
        <p:spPr>
          <a:xfrm>
            <a:off x="658368" y="4965192"/>
            <a:ext cx="1143000" cy="137160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66758A"/>
                </a:solidFill>
                <a:latin typeface="Aptos"/>
              </a:rPr>
              <a:t>Claims + evidence</a:t>
            </a:r>
            <a:endParaRPr sz="600" b="0">
              <a:solidFill>
                <a:srgbClr val="66758A"/>
              </a:solidFill>
              <a:latin typeface="Aptos"/>
            </a:endParaRPr>
          </a:p>
        </p:txBody>
      </p:sp>
      <p:sp>
        <p:nvSpPr>
          <p:cNvPr id="108" name="Rounded Rectangle 107"/>
          <p:cNvSpPr/>
          <p:nvPr/>
        </p:nvSpPr>
        <p:spPr>
          <a:xfrm>
            <a:off x="2048256" y="4443984"/>
            <a:ext cx="1335024" cy="713232"/>
          </a:xfrm>
          <a:prstGeom prst="roundRect">
            <a:avLst>
              <a:gd name="adj" fmla="val 7000"/>
            </a:avLst>
          </a:prstGeom>
          <a:solidFill>
            <a:srgbClr val="E1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2139696" y="4553712"/>
            <a:ext cx="292608" cy="109728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159E9A"/>
                </a:solidFill>
                <a:latin typeface="Aptos"/>
              </a:rPr>
              <a:t>02</a:t>
            </a:r>
            <a:endParaRPr sz="700" b="1">
              <a:solidFill>
                <a:srgbClr val="159E9A"/>
              </a:solidFill>
              <a:latin typeface="Aptos"/>
            </a:endParaRPr>
          </a:p>
        </p:txBody>
      </p:sp>
      <p:sp>
        <p:nvSpPr>
          <p:cNvPr id="110" name="TextBox 109"/>
          <p:cNvSpPr txBox="1"/>
          <p:nvPr/>
        </p:nvSpPr>
        <p:spPr>
          <a:xfrm>
            <a:off x="2139696" y="4754880"/>
            <a:ext cx="1143000" cy="137160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159E9A"/>
                </a:solidFill>
                <a:latin typeface="Aptos"/>
              </a:rPr>
              <a:t>COMPARE</a:t>
            </a:r>
            <a:endParaRPr sz="700" b="1">
              <a:solidFill>
                <a:srgbClr val="159E9A"/>
              </a:solidFill>
              <a:latin typeface="Aptos"/>
            </a:endParaRPr>
          </a:p>
        </p:txBody>
      </p:sp>
      <p:sp>
        <p:nvSpPr>
          <p:cNvPr id="111" name="TextBox 110"/>
          <p:cNvSpPr txBox="1"/>
          <p:nvPr/>
        </p:nvSpPr>
        <p:spPr>
          <a:xfrm>
            <a:off x="2139696" y="4965192"/>
            <a:ext cx="1143000" cy="137160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66758A"/>
                </a:solidFill>
                <a:latin typeface="Aptos"/>
              </a:rPr>
              <a:t>Risk + action cost</a:t>
            </a:r>
            <a:endParaRPr sz="600" b="0">
              <a:solidFill>
                <a:srgbClr val="66758A"/>
              </a:solidFill>
              <a:latin typeface="Aptos"/>
            </a:endParaRPr>
          </a:p>
        </p:txBody>
      </p:sp>
      <p:sp>
        <p:nvSpPr>
          <p:cNvPr id="112" name="Rounded Rectangle 111"/>
          <p:cNvSpPr/>
          <p:nvPr/>
        </p:nvSpPr>
        <p:spPr>
          <a:xfrm>
            <a:off x="3529584" y="4443984"/>
            <a:ext cx="1335024" cy="713232"/>
          </a:xfrm>
          <a:prstGeom prst="roundRect">
            <a:avLst>
              <a:gd name="adj" fmla="val 7000"/>
            </a:avLst>
          </a:prstGeom>
          <a:solidFill>
            <a:srgbClr val="DFF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3621024" y="4553712"/>
            <a:ext cx="292608" cy="109728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13834B"/>
                </a:solidFill>
                <a:latin typeface="Aptos"/>
              </a:rPr>
              <a:t>03</a:t>
            </a:r>
            <a:endParaRPr sz="700" b="1">
              <a:solidFill>
                <a:srgbClr val="13834B"/>
              </a:solidFill>
              <a:latin typeface="Aptos"/>
            </a:endParaRPr>
          </a:p>
        </p:txBody>
      </p:sp>
      <p:sp>
        <p:nvSpPr>
          <p:cNvPr id="114" name="TextBox 113"/>
          <p:cNvSpPr txBox="1"/>
          <p:nvPr/>
        </p:nvSpPr>
        <p:spPr>
          <a:xfrm>
            <a:off x="3621024" y="4754880"/>
            <a:ext cx="1143000" cy="137160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13834B"/>
                </a:solidFill>
                <a:latin typeface="Aptos"/>
              </a:rPr>
              <a:t>CONTROL</a:t>
            </a:r>
            <a:endParaRPr sz="700" b="1">
              <a:solidFill>
                <a:srgbClr val="13834B"/>
              </a:solidFill>
              <a:latin typeface="Aptos"/>
            </a:endParaRPr>
          </a:p>
        </p:txBody>
      </p:sp>
      <p:sp>
        <p:nvSpPr>
          <p:cNvPr id="115" name="TextBox 114"/>
          <p:cNvSpPr txBox="1"/>
          <p:nvPr/>
        </p:nvSpPr>
        <p:spPr>
          <a:xfrm>
            <a:off x="3621024" y="4965192"/>
            <a:ext cx="1143000" cy="137160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66758A"/>
                </a:solidFill>
                <a:latin typeface="Aptos"/>
              </a:rPr>
              <a:t>Policy + human review</a:t>
            </a:r>
            <a:endParaRPr sz="600" b="0">
              <a:solidFill>
                <a:srgbClr val="66758A"/>
              </a:solidFill>
              <a:latin typeface="Aptos"/>
            </a:endParaRPr>
          </a:p>
        </p:txBody>
      </p:sp>
      <p:sp>
        <p:nvSpPr>
          <p:cNvPr id="116" name="Rounded Rectangle 115"/>
          <p:cNvSpPr/>
          <p:nvPr/>
        </p:nvSpPr>
        <p:spPr>
          <a:xfrm>
            <a:off x="566928" y="5321808"/>
            <a:ext cx="4407408" cy="411480"/>
          </a:xfrm>
          <a:prstGeom prst="roundRect">
            <a:avLst>
              <a:gd name="adj" fmla="val 7000"/>
            </a:avLst>
          </a:prstGeom>
          <a:solidFill>
            <a:srgbClr val="102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713232" y="5468112"/>
            <a:ext cx="4114800" cy="118872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67B7E8"/>
                </a:solidFill>
                <a:latin typeface="Aptos"/>
              </a:rPr>
              <a:t>AI-ASSISTED • POLICY-BOUNDED • AUDITABLE</a:t>
            </a:r>
            <a:endParaRPr sz="700" b="1">
              <a:solidFill>
                <a:srgbClr val="67B7E8"/>
              </a:solidFill>
              <a:latin typeface="Aptos"/>
            </a:endParaRPr>
          </a:p>
        </p:txBody>
      </p:sp>
      <p:sp>
        <p:nvSpPr>
          <p:cNvPr id="119" name="TextBox 118"/>
          <p:cNvSpPr txBox="1"/>
          <p:nvPr/>
        </p:nvSpPr>
        <p:spPr>
          <a:xfrm>
            <a:off x="566928" y="832104"/>
            <a:ext cx="5166360" cy="3931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50" b="1">
                <a:solidFill>
                  <a:srgbClr val="144C58"/>
                </a:solidFill>
                <a:latin typeface="Montserrat"/>
              </a:rPr>
              <a:t>Automated Refund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566928" y="1307592"/>
            <a:ext cx="5166360" cy="3931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50" b="1">
                <a:solidFill>
                  <a:srgbClr val="144C58"/>
                </a:solidFill>
                <a:latin typeface="Montserrat"/>
              </a:rPr>
              <a:t>Processing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566928" y="1783080"/>
            <a:ext cx="5166360" cy="3566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50" b="1">
                <a:solidFill>
                  <a:srgbClr val="144C58"/>
                </a:solidFill>
                <a:latin typeface="Montserrat"/>
              </a:rPr>
              <a:t>using Agentic AI</a:t>
            </a:r>
          </a:p>
        </p:txBody>
      </p:sp>
      <p:pic>
        <p:nvPicPr>
          <p:cNvPr id="122" name="Picture 121" descr="image(20261024-111450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0747" y="195932"/>
            <a:ext cx="1645834" cy="46759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38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01168"/>
            <a:ext cx="7315200" cy="182880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3834B"/>
                </a:solidFill>
                <a:latin typeface="Aptos"/>
              </a:rPr>
              <a:t>REFUND INTELLIGENCE     /     THE SHIFT</a:t>
            </a:r>
            <a:endParaRPr sz="800" b="1" i="0">
              <a:solidFill>
                <a:srgbClr val="13834B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38912" y="502920"/>
            <a:ext cx="11247120" cy="576072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02344"/>
                </a:solidFill>
                <a:latin typeface="Aptos Display"/>
              </a:rPr>
              <a:t>From refund tickets to connected intelligence</a:t>
            </a:r>
            <a:endParaRPr sz="2600" b="1" i="0">
              <a:solidFill>
                <a:srgbClr val="102344"/>
              </a:solidFill>
              <a:latin typeface="Aptos Display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1115568"/>
            <a:ext cx="10972800" cy="256032"/>
          </a:xfrm>
          <a:prstGeom prst="rect">
            <a:avLst/>
          </a:prstGeom>
          <a:noFill/>
        </p:spPr>
        <p:txBody>
          <a:bodyPr wrap="square" lIns="45720" tIns="22860" rIns="45720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758A"/>
                </a:solidFill>
                <a:latin typeface="Aptos"/>
              </a:rPr>
              <a:t>The same claim can be a fast, fair resolution—or a costly blind spot—depending on how evidence and history are used.</a:t>
            </a:r>
            <a:endParaRPr sz="1000" b="0" i="0">
              <a:solidFill>
                <a:srgbClr val="66758A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347472" cy="155448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650" b="1" i="0">
                <a:solidFill>
                  <a:srgbClr val="13834B"/>
                </a:solidFill>
                <a:latin typeface="Aptos"/>
              </a:rPr>
              <a:t>02</a:t>
            </a:r>
            <a:endParaRPr sz="650" b="1" i="0">
              <a:solidFill>
                <a:srgbClr val="13834B"/>
              </a:solidFill>
              <a:latin typeface="Aptos"/>
            </a:endParaRPr>
          </a:p>
        </p:txBody>
      </p:sp>
      <p:sp>
        <p:nvSpPr>
          <p:cNvPr id="7" name="Oval 6"/>
          <p:cNvSpPr/>
          <p:nvPr/>
        </p:nvSpPr>
        <p:spPr>
          <a:xfrm>
            <a:off x="457200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66928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76656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86384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96112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5840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15568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225295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335024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444752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554480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664207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773936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883664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993391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103120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212848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322576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432304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542032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651760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761488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871215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980944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3090672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200400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3310128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419856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3529584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3639312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502920" y="1627632"/>
            <a:ext cx="3017520" cy="4069080"/>
          </a:xfrm>
          <a:prstGeom prst="roundRect">
            <a:avLst>
              <a:gd name="adj" fmla="val 10000"/>
            </a:avLst>
          </a:prstGeom>
          <a:solidFill>
            <a:srgbClr val="E8EAED"/>
          </a:solidFill>
          <a:ln w="12700">
            <a:solidFill>
              <a:srgbClr val="D9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749808" y="1828800"/>
            <a:ext cx="1691640" cy="265176"/>
          </a:xfrm>
          <a:prstGeom prst="roundRect">
            <a:avLst>
              <a:gd name="adj" fmla="val 10000"/>
            </a:avLst>
          </a:prstGeom>
          <a:solidFill>
            <a:srgbClr val="D4D9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" y="1892807"/>
            <a:ext cx="1618488" cy="128016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50" b="1" i="0">
                <a:solidFill>
                  <a:srgbClr val="334A67"/>
                </a:solidFill>
                <a:latin typeface="Aptos"/>
              </a:rPr>
              <a:t>TODAY  /  FRAGMENTED</a:t>
            </a:r>
            <a:endParaRPr sz="650" b="1" i="0">
              <a:solidFill>
                <a:srgbClr val="334A67"/>
              </a:solidFill>
              <a:latin typeface="Aptos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749808" y="2249424"/>
            <a:ext cx="2468880" cy="960120"/>
          </a:xfrm>
          <a:prstGeom prst="rect">
            <a:avLst/>
          </a:prstGeom>
          <a:noFill/>
        </p:spPr>
        <p:txBody>
          <a:bodyPr wrap="square" lIns="45720" tIns="22860" rIns="45720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334A67"/>
                </a:solidFill>
                <a:latin typeface="Aptos Display"/>
              </a:rPr>
              <a:t>One claim.
One screen.
Little context.</a:t>
            </a:r>
            <a:endParaRPr sz="2100" b="1" i="0">
              <a:solidFill>
                <a:srgbClr val="334A67"/>
              </a:solidFill>
              <a:latin typeface="Aptos Display"/>
            </a:endParaRPr>
          </a:p>
        </p:txBody>
      </p:sp>
      <p:sp>
        <p:nvSpPr>
          <p:cNvPr id="41" name="Rounded Rectangle 40"/>
          <p:cNvSpPr/>
          <p:nvPr/>
        </p:nvSpPr>
        <p:spPr>
          <a:xfrm>
            <a:off x="768096" y="3520440"/>
            <a:ext cx="2468880" cy="438912"/>
          </a:xfrm>
          <a:prstGeom prst="roundRect">
            <a:avLst>
              <a:gd name="adj" fmla="val 10000"/>
            </a:avLst>
          </a:prstGeom>
          <a:solidFill>
            <a:srgbClr val="B9C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96112" y="3675887"/>
            <a:ext cx="2194560" cy="137160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50" b="1" i="0">
                <a:solidFill>
                  <a:srgbClr val="FFFFFF"/>
                </a:solidFill>
                <a:latin typeface="Aptos"/>
              </a:rPr>
              <a:t>Manual checks + static rules</a:t>
            </a:r>
            <a:endParaRPr sz="650" b="1" i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43" name="Oval 42"/>
          <p:cNvSpPr/>
          <p:nvPr/>
        </p:nvSpPr>
        <p:spPr>
          <a:xfrm>
            <a:off x="804672" y="4160520"/>
            <a:ext cx="256032" cy="256032"/>
          </a:xfrm>
          <a:prstGeom prst="ellipse">
            <a:avLst/>
          </a:prstGeom>
          <a:solidFill>
            <a:srgbClr val="A1A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04672" y="4232208"/>
            <a:ext cx="256032" cy="89611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50" b="1" i="0">
                <a:solidFill>
                  <a:srgbClr val="FFFFFF"/>
                </a:solidFill>
                <a:latin typeface="Aptos"/>
              </a:rPr>
              <a:t>×</a:t>
            </a:r>
            <a:endParaRPr sz="650" b="1" i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1170432" y="4178807"/>
            <a:ext cx="1097280" cy="146304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50" b="1" i="0">
                <a:solidFill>
                  <a:srgbClr val="334A67"/>
                </a:solidFill>
                <a:latin typeface="Aptos"/>
              </a:rPr>
              <a:t>Missed reuse</a:t>
            </a:r>
            <a:endParaRPr sz="650" b="1" i="0">
              <a:solidFill>
                <a:srgbClr val="334A67"/>
              </a:solidFill>
              <a:latin typeface="Aptos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2103120" y="4178807"/>
            <a:ext cx="1143000" cy="228600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66758A"/>
                </a:solidFill>
                <a:latin typeface="Aptos"/>
              </a:rPr>
              <a:t>Signals stay siloed</a:t>
            </a:r>
            <a:endParaRPr sz="700" b="0" i="0">
              <a:solidFill>
                <a:srgbClr val="66758A"/>
              </a:solidFill>
              <a:latin typeface="Aptos"/>
            </a:endParaRPr>
          </a:p>
        </p:txBody>
      </p:sp>
      <p:sp>
        <p:nvSpPr>
          <p:cNvPr id="47" name="Oval 46"/>
          <p:cNvSpPr/>
          <p:nvPr/>
        </p:nvSpPr>
        <p:spPr>
          <a:xfrm>
            <a:off x="804672" y="4599431"/>
            <a:ext cx="256032" cy="256032"/>
          </a:xfrm>
          <a:prstGeom prst="ellipse">
            <a:avLst/>
          </a:prstGeom>
          <a:solidFill>
            <a:srgbClr val="A1A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04672" y="4671120"/>
            <a:ext cx="256032" cy="89611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50" b="1" i="0">
                <a:solidFill>
                  <a:srgbClr val="FFFFFF"/>
                </a:solidFill>
                <a:latin typeface="Aptos"/>
              </a:rPr>
              <a:t>×</a:t>
            </a:r>
            <a:endParaRPr sz="650" b="1" i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1170432" y="4617719"/>
            <a:ext cx="1097280" cy="146304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50" b="1" i="0">
                <a:solidFill>
                  <a:srgbClr val="334A67"/>
                </a:solidFill>
                <a:latin typeface="Aptos"/>
              </a:rPr>
              <a:t>Over-review</a:t>
            </a:r>
            <a:endParaRPr sz="650" b="1" i="0">
              <a:solidFill>
                <a:srgbClr val="334A67"/>
              </a:solidFill>
              <a:latin typeface="Aptos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2103120" y="4617719"/>
            <a:ext cx="1143000" cy="228600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66758A"/>
                </a:solidFill>
                <a:latin typeface="Aptos"/>
              </a:rPr>
              <a:t>Good customers wait</a:t>
            </a:r>
            <a:endParaRPr sz="700" b="0" i="0">
              <a:solidFill>
                <a:srgbClr val="66758A"/>
              </a:solidFill>
              <a:latin typeface="Aptos"/>
            </a:endParaRPr>
          </a:p>
        </p:txBody>
      </p:sp>
      <p:sp>
        <p:nvSpPr>
          <p:cNvPr id="51" name="Oval 50"/>
          <p:cNvSpPr/>
          <p:nvPr/>
        </p:nvSpPr>
        <p:spPr>
          <a:xfrm>
            <a:off x="804672" y="5038344"/>
            <a:ext cx="256032" cy="256032"/>
          </a:xfrm>
          <a:prstGeom prst="ellipse">
            <a:avLst/>
          </a:prstGeom>
          <a:solidFill>
            <a:srgbClr val="A1A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04672" y="5110032"/>
            <a:ext cx="256032" cy="89611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50" b="1" i="0">
                <a:solidFill>
                  <a:srgbClr val="FFFFFF"/>
                </a:solidFill>
                <a:latin typeface="Aptos"/>
              </a:rPr>
              <a:t>×</a:t>
            </a:r>
            <a:endParaRPr sz="650" b="1" i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1170432" y="5056631"/>
            <a:ext cx="1097280" cy="146304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50" b="1" i="0">
                <a:solidFill>
                  <a:srgbClr val="334A67"/>
                </a:solidFill>
                <a:latin typeface="Aptos"/>
              </a:rPr>
              <a:t>Inconsistent calls</a:t>
            </a:r>
            <a:endParaRPr sz="650" b="1" i="0">
              <a:solidFill>
                <a:srgbClr val="334A67"/>
              </a:solidFill>
              <a:latin typeface="Aptos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2103120" y="5056631"/>
            <a:ext cx="1143000" cy="228600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66758A"/>
                </a:solidFill>
                <a:latin typeface="Aptos"/>
              </a:rPr>
              <a:t>Hard to explain</a:t>
            </a:r>
            <a:endParaRPr sz="700" b="0" i="0">
              <a:solidFill>
                <a:srgbClr val="66758A"/>
              </a:solidFill>
              <a:latin typeface="Aptos"/>
            </a:endParaRPr>
          </a:p>
        </p:txBody>
      </p:sp>
      <p:cxnSp>
        <p:nvCxnSpPr>
          <p:cNvPr id="55" name="Connector 54"/>
          <p:cNvCxnSpPr/>
          <p:nvPr/>
        </p:nvCxnSpPr>
        <p:spPr>
          <a:xfrm>
            <a:off x="3639312" y="3657600"/>
            <a:ext cx="585216" cy="0"/>
          </a:xfrm>
          <a:prstGeom prst="line">
            <a:avLst/>
          </a:prstGeom>
          <a:ln w="38100">
            <a:solidFill>
              <a:srgbClr val="245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4133088" y="3593592"/>
            <a:ext cx="91440" cy="64008"/>
          </a:xfrm>
          <a:prstGeom prst="line">
            <a:avLst/>
          </a:prstGeom>
          <a:ln w="38100">
            <a:solidFill>
              <a:srgbClr val="245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4133088" y="3657600"/>
            <a:ext cx="91440" cy="64008"/>
          </a:xfrm>
          <a:prstGeom prst="line">
            <a:avLst/>
          </a:prstGeom>
          <a:ln w="38100">
            <a:solidFill>
              <a:srgbClr val="245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Rounded Rectangle 57"/>
          <p:cNvSpPr/>
          <p:nvPr/>
        </p:nvSpPr>
        <p:spPr>
          <a:xfrm>
            <a:off x="4389120" y="1627632"/>
            <a:ext cx="7269480" cy="4069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4681728" y="1828800"/>
            <a:ext cx="2926080" cy="265176"/>
          </a:xfrm>
          <a:prstGeom prst="roundRect">
            <a:avLst>
              <a:gd name="adj" fmla="val 10000"/>
            </a:avLst>
          </a:prstGeom>
          <a:solidFill>
            <a:srgbClr val="E1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718304" y="1892807"/>
            <a:ext cx="2852928" cy="128016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50" b="1" i="0">
                <a:solidFill>
                  <a:srgbClr val="075A3C"/>
                </a:solidFill>
                <a:latin typeface="Aptos"/>
              </a:rPr>
              <a:t>REFUND INTELLIGENCE  /  CONTEXT-AWARE</a:t>
            </a:r>
            <a:endParaRPr sz="650" b="1" i="0">
              <a:solidFill>
                <a:srgbClr val="075A3C"/>
              </a:solidFill>
              <a:latin typeface="Aptos"/>
            </a:endParaRPr>
          </a:p>
        </p:txBody>
      </p:sp>
      <p:sp>
        <p:nvSpPr>
          <p:cNvPr id="61" name="Rounded Rectangle 60"/>
          <p:cNvSpPr/>
          <p:nvPr/>
        </p:nvSpPr>
        <p:spPr>
          <a:xfrm>
            <a:off x="4681728" y="2395728"/>
            <a:ext cx="1298448" cy="2267712"/>
          </a:xfrm>
          <a:prstGeom prst="roundRect">
            <a:avLst>
              <a:gd name="adj" fmla="val 10000"/>
            </a:avLst>
          </a:prstGeom>
          <a:solidFill>
            <a:srgbClr val="E7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882896" y="2651760"/>
            <a:ext cx="896112" cy="182880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459D3"/>
                </a:solidFill>
                <a:latin typeface="Aptos"/>
              </a:rPr>
              <a:t>CLAIM</a:t>
            </a:r>
            <a:endParaRPr sz="1000" b="1" i="0">
              <a:solidFill>
                <a:srgbClr val="2459D3"/>
              </a:solidFill>
              <a:latin typeface="Aptos"/>
            </a:endParaRPr>
          </a:p>
        </p:txBody>
      </p:sp>
      <p:sp>
        <p:nvSpPr>
          <p:cNvPr id="63" name="Rounded Rectangle 62"/>
          <p:cNvSpPr/>
          <p:nvPr/>
        </p:nvSpPr>
        <p:spPr>
          <a:xfrm>
            <a:off x="4828032" y="2999232"/>
            <a:ext cx="1005840" cy="2468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864608" y="3072384"/>
            <a:ext cx="914400" cy="109728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50" b="1" i="0">
                <a:solidFill>
                  <a:srgbClr val="102344"/>
                </a:solidFill>
                <a:latin typeface="Aptos"/>
              </a:rPr>
              <a:t>Order</a:t>
            </a:r>
            <a:endParaRPr sz="650" b="1" i="0">
              <a:solidFill>
                <a:srgbClr val="102344"/>
              </a:solidFill>
              <a:latin typeface="Aptos"/>
            </a:endParaRPr>
          </a:p>
        </p:txBody>
      </p:sp>
      <p:sp>
        <p:nvSpPr>
          <p:cNvPr id="65" name="Rounded Rectangle 64"/>
          <p:cNvSpPr/>
          <p:nvPr/>
        </p:nvSpPr>
        <p:spPr>
          <a:xfrm>
            <a:off x="4828032" y="3346703"/>
            <a:ext cx="1005840" cy="2468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864608" y="3419856"/>
            <a:ext cx="914400" cy="109728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50" b="1" i="0">
                <a:solidFill>
                  <a:srgbClr val="102344"/>
                </a:solidFill>
                <a:latin typeface="Aptos"/>
              </a:rPr>
              <a:t>Reason</a:t>
            </a:r>
            <a:endParaRPr sz="650" b="1" i="0">
              <a:solidFill>
                <a:srgbClr val="102344"/>
              </a:solidFill>
              <a:latin typeface="Aptos"/>
            </a:endParaRPr>
          </a:p>
        </p:txBody>
      </p:sp>
      <p:sp>
        <p:nvSpPr>
          <p:cNvPr id="67" name="Rounded Rectangle 66"/>
          <p:cNvSpPr/>
          <p:nvPr/>
        </p:nvSpPr>
        <p:spPr>
          <a:xfrm>
            <a:off x="4828032" y="3694176"/>
            <a:ext cx="1005840" cy="2468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864608" y="3767328"/>
            <a:ext cx="914400" cy="109728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50" b="1" i="0">
                <a:solidFill>
                  <a:srgbClr val="102344"/>
                </a:solidFill>
                <a:latin typeface="Aptos"/>
              </a:rPr>
              <a:t>Photo</a:t>
            </a:r>
            <a:endParaRPr sz="650" b="1" i="0">
              <a:solidFill>
                <a:srgbClr val="102344"/>
              </a:solidFill>
              <a:latin typeface="Aptos"/>
            </a:endParaRPr>
          </a:p>
        </p:txBody>
      </p:sp>
      <p:sp>
        <p:nvSpPr>
          <p:cNvPr id="69" name="Rounded Rectangle 68"/>
          <p:cNvSpPr/>
          <p:nvPr/>
        </p:nvSpPr>
        <p:spPr>
          <a:xfrm>
            <a:off x="4828032" y="4041648"/>
            <a:ext cx="1005840" cy="2468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864608" y="4114800"/>
            <a:ext cx="914400" cy="109728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50" b="1" i="0">
                <a:solidFill>
                  <a:srgbClr val="102344"/>
                </a:solidFill>
                <a:latin typeface="Aptos"/>
              </a:rPr>
              <a:t>History</a:t>
            </a:r>
            <a:endParaRPr sz="650" b="1" i="0">
              <a:solidFill>
                <a:srgbClr val="102344"/>
              </a:solidFill>
              <a:latin typeface="Aptos"/>
            </a:endParaRPr>
          </a:p>
        </p:txBody>
      </p:sp>
      <p:cxnSp>
        <p:nvCxnSpPr>
          <p:cNvPr id="71" name="Connector 70"/>
          <p:cNvCxnSpPr/>
          <p:nvPr/>
        </p:nvCxnSpPr>
        <p:spPr>
          <a:xfrm>
            <a:off x="6080760" y="3502152"/>
            <a:ext cx="411480" cy="0"/>
          </a:xfrm>
          <a:prstGeom prst="line">
            <a:avLst/>
          </a:prstGeom>
          <a:ln w="31750">
            <a:solidFill>
              <a:srgbClr val="159E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6400800" y="3438144"/>
            <a:ext cx="91440" cy="64008"/>
          </a:xfrm>
          <a:prstGeom prst="line">
            <a:avLst/>
          </a:prstGeom>
          <a:ln w="31750">
            <a:solidFill>
              <a:srgbClr val="159E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6400800" y="3502152"/>
            <a:ext cx="91440" cy="64008"/>
          </a:xfrm>
          <a:prstGeom prst="line">
            <a:avLst/>
          </a:prstGeom>
          <a:ln w="31750">
            <a:solidFill>
              <a:srgbClr val="159E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Rounded Rectangle 73"/>
          <p:cNvSpPr/>
          <p:nvPr/>
        </p:nvSpPr>
        <p:spPr>
          <a:xfrm>
            <a:off x="6537960" y="2359152"/>
            <a:ext cx="2194560" cy="2331720"/>
          </a:xfrm>
          <a:prstGeom prst="roundRect">
            <a:avLst>
              <a:gd name="adj" fmla="val 10000"/>
            </a:avLst>
          </a:prstGeom>
          <a:solidFill>
            <a:srgbClr val="102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7296912" y="2560320"/>
            <a:ext cx="640080" cy="640080"/>
          </a:xfrm>
          <a:prstGeom prst="ellipse">
            <a:avLst/>
          </a:prstGeom>
          <a:solidFill>
            <a:srgbClr val="2459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296912" y="2739542"/>
            <a:ext cx="640080" cy="224027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Aptos"/>
              </a:rPr>
              <a:t>AI</a:t>
            </a:r>
            <a:endParaRPr sz="800" b="1" i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6720840" y="3319272"/>
            <a:ext cx="1828800" cy="201168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INTELLIGENCE LAYER</a:t>
            </a:r>
            <a:endParaRPr sz="1000" b="1" i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78" name="Rounded Rectangle 77"/>
          <p:cNvSpPr/>
          <p:nvPr/>
        </p:nvSpPr>
        <p:spPr>
          <a:xfrm>
            <a:off x="6784848" y="3639312"/>
            <a:ext cx="1691640" cy="265176"/>
          </a:xfrm>
          <a:prstGeom prst="roundRect">
            <a:avLst>
              <a:gd name="adj" fmla="val 10000"/>
            </a:avLst>
          </a:prstGeom>
          <a:solidFill>
            <a:srgbClr val="E7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821424" y="3703320"/>
            <a:ext cx="1618488" cy="128016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459D3"/>
                </a:solidFill>
                <a:latin typeface="Aptos"/>
              </a:rPr>
              <a:t>Evidence</a:t>
            </a:r>
            <a:endParaRPr sz="700" b="1" i="0">
              <a:solidFill>
                <a:srgbClr val="2459D3"/>
              </a:solidFill>
              <a:latin typeface="Aptos"/>
            </a:endParaRPr>
          </a:p>
        </p:txBody>
      </p:sp>
      <p:sp>
        <p:nvSpPr>
          <p:cNvPr id="80" name="Rounded Rectangle 79"/>
          <p:cNvSpPr/>
          <p:nvPr/>
        </p:nvSpPr>
        <p:spPr>
          <a:xfrm>
            <a:off x="6821424" y="3931920"/>
            <a:ext cx="1691640" cy="265176"/>
          </a:xfrm>
          <a:prstGeom prst="roundRect">
            <a:avLst>
              <a:gd name="adj" fmla="val 10000"/>
            </a:avLst>
          </a:prstGeom>
          <a:solidFill>
            <a:srgbClr val="E1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858000" y="3995928"/>
            <a:ext cx="1618488" cy="128016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075A3C"/>
                </a:solidFill>
                <a:latin typeface="Aptos"/>
              </a:rPr>
              <a:t>Behaviour</a:t>
            </a:r>
            <a:endParaRPr sz="700" b="1" i="0">
              <a:solidFill>
                <a:srgbClr val="075A3C"/>
              </a:solidFill>
              <a:latin typeface="Aptos"/>
            </a:endParaRPr>
          </a:p>
        </p:txBody>
      </p:sp>
      <p:sp>
        <p:nvSpPr>
          <p:cNvPr id="82" name="Rounded Rectangle 81"/>
          <p:cNvSpPr/>
          <p:nvPr/>
        </p:nvSpPr>
        <p:spPr>
          <a:xfrm>
            <a:off x="6858000" y="4224528"/>
            <a:ext cx="1691640" cy="265176"/>
          </a:xfrm>
          <a:prstGeom prst="roundRect">
            <a:avLst>
              <a:gd name="adj" fmla="val 10000"/>
            </a:avLst>
          </a:prstGeom>
          <a:solidFill>
            <a:srgbClr val="EC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894576" y="4288536"/>
            <a:ext cx="1618488" cy="128016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7656D6"/>
                </a:solidFill>
                <a:latin typeface="Aptos"/>
              </a:rPr>
              <a:t>Resolution</a:t>
            </a:r>
            <a:endParaRPr sz="700" b="1" i="0">
              <a:solidFill>
                <a:srgbClr val="7656D6"/>
              </a:solidFill>
              <a:latin typeface="Aptos"/>
            </a:endParaRPr>
          </a:p>
        </p:txBody>
      </p:sp>
      <p:cxnSp>
        <p:nvCxnSpPr>
          <p:cNvPr id="84" name="Connector 83"/>
          <p:cNvCxnSpPr/>
          <p:nvPr/>
        </p:nvCxnSpPr>
        <p:spPr>
          <a:xfrm>
            <a:off x="8823960" y="3502152"/>
            <a:ext cx="365760" cy="0"/>
          </a:xfrm>
          <a:prstGeom prst="line">
            <a:avLst/>
          </a:prstGeom>
          <a:ln w="31750">
            <a:solidFill>
              <a:srgbClr val="1383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9098280" y="3438144"/>
            <a:ext cx="91440" cy="64008"/>
          </a:xfrm>
          <a:prstGeom prst="line">
            <a:avLst/>
          </a:prstGeom>
          <a:ln w="31750">
            <a:solidFill>
              <a:srgbClr val="1383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9098280" y="3502152"/>
            <a:ext cx="91440" cy="64008"/>
          </a:xfrm>
          <a:prstGeom prst="line">
            <a:avLst/>
          </a:prstGeom>
          <a:ln w="31750">
            <a:solidFill>
              <a:srgbClr val="1383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Rounded Rectangle 86"/>
          <p:cNvSpPr/>
          <p:nvPr/>
        </p:nvSpPr>
        <p:spPr>
          <a:xfrm>
            <a:off x="9217152" y="2331720"/>
            <a:ext cx="2057400" cy="685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138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9345168" y="2441448"/>
            <a:ext cx="1783080" cy="155448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50" b="1" i="0">
                <a:solidFill>
                  <a:srgbClr val="13834B"/>
                </a:solidFill>
                <a:latin typeface="Aptos"/>
              </a:rPr>
              <a:t>FAST-TRACK</a:t>
            </a:r>
            <a:endParaRPr sz="650" b="1" i="0">
              <a:solidFill>
                <a:srgbClr val="13834B"/>
              </a:solidFill>
              <a:latin typeface="Aptos"/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9345168" y="2679191"/>
            <a:ext cx="1783080" cy="164592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6758A"/>
                </a:solidFill>
                <a:latin typeface="Aptos"/>
              </a:rPr>
              <a:t>Low-risk, eligible</a:t>
            </a:r>
            <a:endParaRPr sz="800" b="0" i="0">
              <a:solidFill>
                <a:srgbClr val="66758A"/>
              </a:solidFill>
              <a:latin typeface="Aptos"/>
            </a:endParaRPr>
          </a:p>
        </p:txBody>
      </p:sp>
      <p:sp>
        <p:nvSpPr>
          <p:cNvPr id="90" name="Rounded Rectangle 89"/>
          <p:cNvSpPr/>
          <p:nvPr/>
        </p:nvSpPr>
        <p:spPr>
          <a:xfrm>
            <a:off x="9217152" y="3200400"/>
            <a:ext cx="2057400" cy="685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245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9345168" y="3310128"/>
            <a:ext cx="1783080" cy="155448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50" b="1" i="0">
                <a:solidFill>
                  <a:srgbClr val="2459D3"/>
                </a:solidFill>
                <a:latin typeface="Aptos"/>
              </a:rPr>
              <a:t>ASK FOR PROOF</a:t>
            </a:r>
            <a:endParaRPr sz="650" b="1" i="0">
              <a:solidFill>
                <a:srgbClr val="2459D3"/>
              </a:solidFill>
              <a:latin typeface="Aptos"/>
            </a:endParaRPr>
          </a:p>
        </p:txBody>
      </p:sp>
      <p:sp>
        <p:nvSpPr>
          <p:cNvPr id="92" name="TextBox 91"/>
          <p:cNvSpPr txBox="1"/>
          <p:nvPr/>
        </p:nvSpPr>
        <p:spPr>
          <a:xfrm>
            <a:off x="9345168" y="3547872"/>
            <a:ext cx="1783080" cy="164592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6758A"/>
                </a:solidFill>
                <a:latin typeface="Aptos"/>
              </a:rPr>
              <a:t>Evidence gap</a:t>
            </a:r>
            <a:endParaRPr sz="800" b="0" i="0">
              <a:solidFill>
                <a:srgbClr val="66758A"/>
              </a:solidFill>
              <a:latin typeface="Aptos"/>
            </a:endParaRPr>
          </a:p>
        </p:txBody>
      </p:sp>
      <p:sp>
        <p:nvSpPr>
          <p:cNvPr id="93" name="Rounded Rectangle 92"/>
          <p:cNvSpPr/>
          <p:nvPr/>
        </p:nvSpPr>
        <p:spPr>
          <a:xfrm>
            <a:off x="9217152" y="4069079"/>
            <a:ext cx="2057400" cy="685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765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9345168" y="4178807"/>
            <a:ext cx="1783080" cy="155448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50" b="1" i="0">
                <a:solidFill>
                  <a:srgbClr val="7656D6"/>
                </a:solidFill>
                <a:latin typeface="Aptos"/>
              </a:rPr>
              <a:t>HUMAN REVIEW</a:t>
            </a:r>
            <a:endParaRPr sz="650" b="1" i="0">
              <a:solidFill>
                <a:srgbClr val="7656D6"/>
              </a:solidFill>
              <a:latin typeface="Aptos"/>
            </a:endParaRPr>
          </a:p>
        </p:txBody>
      </p:sp>
      <p:sp>
        <p:nvSpPr>
          <p:cNvPr id="95" name="TextBox 94"/>
          <p:cNvSpPr txBox="1"/>
          <p:nvPr/>
        </p:nvSpPr>
        <p:spPr>
          <a:xfrm>
            <a:off x="9345168" y="4416551"/>
            <a:ext cx="1783080" cy="164592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6758A"/>
                </a:solidFill>
                <a:latin typeface="Aptos"/>
              </a:rPr>
              <a:t>Ambiguous / high risk</a:t>
            </a:r>
            <a:endParaRPr sz="800" b="0" i="0">
              <a:solidFill>
                <a:srgbClr val="66758A"/>
              </a:solidFill>
              <a:latin typeface="Aptos"/>
            </a:endParaRPr>
          </a:p>
        </p:txBody>
      </p:sp>
      <p:sp>
        <p:nvSpPr>
          <p:cNvPr id="96" name="Rounded Rectangle 95"/>
          <p:cNvSpPr/>
          <p:nvPr/>
        </p:nvSpPr>
        <p:spPr>
          <a:xfrm>
            <a:off x="566928" y="5897880"/>
            <a:ext cx="11045952" cy="384048"/>
          </a:xfrm>
          <a:prstGeom prst="roundRect">
            <a:avLst>
              <a:gd name="adj" fmla="val 10000"/>
            </a:avLst>
          </a:prstGeom>
          <a:solidFill>
            <a:srgbClr val="DFF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58952" y="6007608"/>
            <a:ext cx="1645920" cy="146304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50" b="1" i="0">
                <a:solidFill>
                  <a:srgbClr val="13834B"/>
                </a:solidFill>
                <a:latin typeface="Aptos"/>
              </a:rPr>
              <a:t>THE DIFFERENCE</a:t>
            </a:r>
            <a:endParaRPr sz="650" b="1" i="0">
              <a:solidFill>
                <a:srgbClr val="13834B"/>
              </a:solidFill>
              <a:latin typeface="Aptos"/>
            </a:endParaRPr>
          </a:p>
        </p:txBody>
      </p:sp>
      <p:sp>
        <p:nvSpPr>
          <p:cNvPr id="98" name="TextBox 97"/>
          <p:cNvSpPr txBox="1"/>
          <p:nvPr/>
        </p:nvSpPr>
        <p:spPr>
          <a:xfrm>
            <a:off x="2304288" y="5989320"/>
            <a:ext cx="9052560" cy="182880"/>
          </a:xfrm>
          <a:prstGeom prst="rect">
            <a:avLst/>
          </a:prstGeom>
          <a:noFill/>
        </p:spPr>
        <p:txBody>
          <a:bodyPr wrap="square" lIns="45720" tIns="22860" rIns="45720" bIns="2286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02344"/>
                </a:solidFill>
                <a:latin typeface="Aptos"/>
              </a:rPr>
              <a:t>Evidence + history + expected cost → a reasoned action, with policy guardrails.</a:t>
            </a:r>
            <a:endParaRPr sz="900" b="1" i="0">
              <a:solidFill>
                <a:srgbClr val="102344"/>
              </a:solidFill>
              <a:latin typeface="Aptos"/>
            </a:endParaRPr>
          </a:p>
        </p:txBody>
      </p:sp>
      <p:sp>
        <p:nvSpPr>
          <p:cNvPr id="99" name="Rounded Rectangle 98"/>
          <p:cNvSpPr/>
          <p:nvPr/>
        </p:nvSpPr>
        <p:spPr>
          <a:xfrm>
            <a:off x="566928" y="5321808"/>
            <a:ext cx="11045952" cy="5029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0160">
            <a:solidFill>
              <a:srgbClr val="D9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749808" y="5504688"/>
            <a:ext cx="1143000" cy="118872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13834B"/>
                </a:solidFill>
                <a:latin typeface="Aptos"/>
              </a:rPr>
              <a:t>CASE JOURNEY</a:t>
            </a:r>
            <a:endParaRPr sz="700" b="1">
              <a:solidFill>
                <a:srgbClr val="13834B"/>
              </a:solidFill>
              <a:latin typeface="Aptos"/>
            </a:endParaRPr>
          </a:p>
        </p:txBody>
      </p:sp>
      <p:sp>
        <p:nvSpPr>
          <p:cNvPr id="101" name="Oval 100"/>
          <p:cNvSpPr/>
          <p:nvPr/>
        </p:nvSpPr>
        <p:spPr>
          <a:xfrm>
            <a:off x="2011680" y="5431536"/>
            <a:ext cx="256032" cy="256032"/>
          </a:xfrm>
          <a:prstGeom prst="ellipse">
            <a:avLst/>
          </a:prstGeom>
          <a:solidFill>
            <a:srgbClr val="2459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2011680" y="5509260"/>
            <a:ext cx="256032" cy="91440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00" b="1">
                <a:solidFill>
                  <a:srgbClr val="FFFFFF"/>
                </a:solidFill>
                <a:latin typeface="Aptos"/>
              </a:rPr>
              <a:t>01</a:t>
            </a:r>
            <a:endParaRPr sz="5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03" name="TextBox 102"/>
          <p:cNvSpPr txBox="1"/>
          <p:nvPr/>
        </p:nvSpPr>
        <p:spPr>
          <a:xfrm>
            <a:off x="2359152" y="5490972"/>
            <a:ext cx="1024128" cy="118872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2459D3"/>
                </a:solidFill>
                <a:latin typeface="Aptos"/>
              </a:rPr>
              <a:t>CAPTURE</a:t>
            </a:r>
            <a:endParaRPr sz="700" b="1">
              <a:solidFill>
                <a:srgbClr val="2459D3"/>
              </a:solidFill>
              <a:latin typeface="Aptos"/>
            </a:endParaRPr>
          </a:p>
        </p:txBody>
      </p:sp>
      <p:cxnSp>
        <p:nvCxnSpPr>
          <p:cNvPr id="104" name="Connector 103"/>
          <p:cNvCxnSpPr/>
          <p:nvPr/>
        </p:nvCxnSpPr>
        <p:spPr>
          <a:xfrm>
            <a:off x="3337560" y="5559552"/>
            <a:ext cx="338328" cy="0"/>
          </a:xfrm>
          <a:prstGeom prst="line">
            <a:avLst/>
          </a:prstGeom>
          <a:ln w="22860">
            <a:solidFill>
              <a:srgbClr val="67B7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Oval 104"/>
          <p:cNvSpPr/>
          <p:nvPr/>
        </p:nvSpPr>
        <p:spPr>
          <a:xfrm>
            <a:off x="3794760" y="5431536"/>
            <a:ext cx="256032" cy="256032"/>
          </a:xfrm>
          <a:prstGeom prst="ellipse">
            <a:avLst/>
          </a:prstGeom>
          <a:solidFill>
            <a:srgbClr val="159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3794760" y="5509260"/>
            <a:ext cx="256032" cy="91440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00" b="1">
                <a:solidFill>
                  <a:srgbClr val="FFFFFF"/>
                </a:solidFill>
                <a:latin typeface="Aptos"/>
              </a:rPr>
              <a:t>02</a:t>
            </a:r>
            <a:endParaRPr sz="5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07" name="TextBox 106"/>
          <p:cNvSpPr txBox="1"/>
          <p:nvPr/>
        </p:nvSpPr>
        <p:spPr>
          <a:xfrm>
            <a:off x="4142232" y="5490972"/>
            <a:ext cx="1024128" cy="118872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159E9A"/>
                </a:solidFill>
                <a:latin typeface="Aptos"/>
              </a:rPr>
              <a:t>ENRICH</a:t>
            </a:r>
            <a:endParaRPr sz="700" b="1">
              <a:solidFill>
                <a:srgbClr val="159E9A"/>
              </a:solidFill>
              <a:latin typeface="Aptos"/>
            </a:endParaRPr>
          </a:p>
        </p:txBody>
      </p:sp>
      <p:cxnSp>
        <p:nvCxnSpPr>
          <p:cNvPr id="108" name="Connector 107"/>
          <p:cNvCxnSpPr/>
          <p:nvPr/>
        </p:nvCxnSpPr>
        <p:spPr>
          <a:xfrm>
            <a:off x="5120640" y="5559552"/>
            <a:ext cx="338328" cy="0"/>
          </a:xfrm>
          <a:prstGeom prst="line">
            <a:avLst/>
          </a:prstGeom>
          <a:ln w="22860">
            <a:solidFill>
              <a:srgbClr val="67B7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Oval 108"/>
          <p:cNvSpPr/>
          <p:nvPr/>
        </p:nvSpPr>
        <p:spPr>
          <a:xfrm>
            <a:off x="5577840" y="5431536"/>
            <a:ext cx="256032" cy="256032"/>
          </a:xfrm>
          <a:prstGeom prst="ellipse">
            <a:avLst/>
          </a:prstGeom>
          <a:solidFill>
            <a:srgbClr val="765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5577840" y="5509260"/>
            <a:ext cx="256032" cy="91440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00" b="1">
                <a:solidFill>
                  <a:srgbClr val="FFFFFF"/>
                </a:solidFill>
                <a:latin typeface="Aptos"/>
              </a:rPr>
              <a:t>03</a:t>
            </a:r>
            <a:endParaRPr sz="5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11" name="TextBox 110"/>
          <p:cNvSpPr txBox="1"/>
          <p:nvPr/>
        </p:nvSpPr>
        <p:spPr>
          <a:xfrm>
            <a:off x="5925312" y="5490972"/>
            <a:ext cx="1024128" cy="118872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7656D6"/>
                </a:solidFill>
                <a:latin typeface="Aptos"/>
              </a:rPr>
              <a:t>SCORE</a:t>
            </a:r>
            <a:endParaRPr sz="700" b="1">
              <a:solidFill>
                <a:srgbClr val="7656D6"/>
              </a:solidFill>
              <a:latin typeface="Aptos"/>
            </a:endParaRPr>
          </a:p>
        </p:txBody>
      </p:sp>
      <p:cxnSp>
        <p:nvCxnSpPr>
          <p:cNvPr id="112" name="Connector 111"/>
          <p:cNvCxnSpPr/>
          <p:nvPr/>
        </p:nvCxnSpPr>
        <p:spPr>
          <a:xfrm>
            <a:off x="6903720" y="5559552"/>
            <a:ext cx="338328" cy="0"/>
          </a:xfrm>
          <a:prstGeom prst="line">
            <a:avLst/>
          </a:prstGeom>
          <a:ln w="22860">
            <a:solidFill>
              <a:srgbClr val="67B7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" name="Oval 112"/>
          <p:cNvSpPr/>
          <p:nvPr/>
        </p:nvSpPr>
        <p:spPr>
          <a:xfrm>
            <a:off x="7360920" y="5431536"/>
            <a:ext cx="256032" cy="256032"/>
          </a:xfrm>
          <a:prstGeom prst="ellipse">
            <a:avLst/>
          </a:prstGeom>
          <a:solidFill>
            <a:srgbClr val="D69D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7360920" y="5509260"/>
            <a:ext cx="256032" cy="91440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00" b="1">
                <a:solidFill>
                  <a:srgbClr val="FFFFFF"/>
                </a:solidFill>
                <a:latin typeface="Aptos"/>
              </a:rPr>
              <a:t>04</a:t>
            </a:r>
            <a:endParaRPr sz="5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15" name="TextBox 114"/>
          <p:cNvSpPr txBox="1"/>
          <p:nvPr/>
        </p:nvSpPr>
        <p:spPr>
          <a:xfrm>
            <a:off x="7708392" y="5490972"/>
            <a:ext cx="1024128" cy="118872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D69D22"/>
                </a:solidFill>
                <a:latin typeface="Aptos"/>
              </a:rPr>
              <a:t>COMPARE</a:t>
            </a:r>
            <a:endParaRPr sz="700" b="1">
              <a:solidFill>
                <a:srgbClr val="D69D22"/>
              </a:solidFill>
              <a:latin typeface="Aptos"/>
            </a:endParaRPr>
          </a:p>
        </p:txBody>
      </p:sp>
      <p:cxnSp>
        <p:nvCxnSpPr>
          <p:cNvPr id="116" name="Connector 115"/>
          <p:cNvCxnSpPr/>
          <p:nvPr/>
        </p:nvCxnSpPr>
        <p:spPr>
          <a:xfrm>
            <a:off x="8686800" y="5559552"/>
            <a:ext cx="338328" cy="0"/>
          </a:xfrm>
          <a:prstGeom prst="line">
            <a:avLst/>
          </a:prstGeom>
          <a:ln w="22860">
            <a:solidFill>
              <a:srgbClr val="67B7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" name="Oval 116"/>
          <p:cNvSpPr/>
          <p:nvPr/>
        </p:nvSpPr>
        <p:spPr>
          <a:xfrm>
            <a:off x="9144000" y="5431536"/>
            <a:ext cx="256032" cy="256032"/>
          </a:xfrm>
          <a:prstGeom prst="ellipse">
            <a:avLst/>
          </a:prstGeom>
          <a:solidFill>
            <a:srgbClr val="138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9144000" y="5509260"/>
            <a:ext cx="256032" cy="91440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00" b="1">
                <a:solidFill>
                  <a:srgbClr val="FFFFFF"/>
                </a:solidFill>
                <a:latin typeface="Aptos"/>
              </a:rPr>
              <a:t>05</a:t>
            </a:r>
            <a:endParaRPr sz="5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19" name="TextBox 118"/>
          <p:cNvSpPr txBox="1"/>
          <p:nvPr/>
        </p:nvSpPr>
        <p:spPr>
          <a:xfrm>
            <a:off x="9491472" y="5490972"/>
            <a:ext cx="1024128" cy="118872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13834B"/>
                </a:solidFill>
                <a:latin typeface="Aptos"/>
              </a:rPr>
              <a:t>ROUTE</a:t>
            </a:r>
            <a:endParaRPr sz="700" b="1">
              <a:solidFill>
                <a:srgbClr val="13834B"/>
              </a:solidFill>
              <a:latin typeface="Aptos"/>
            </a:endParaRPr>
          </a:p>
        </p:txBody>
      </p:sp>
      <p:pic>
        <p:nvPicPr>
          <p:cNvPr id="120" name="Picture 119" descr="image(20261024-111450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0747" y="195932"/>
            <a:ext cx="1645834" cy="46759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38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01168"/>
            <a:ext cx="7315200" cy="182880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3834B"/>
                </a:solidFill>
                <a:latin typeface="Aptos"/>
              </a:rPr>
              <a:t>REFUND INTELLIGENCE     /     HOW IT WORKS</a:t>
            </a:r>
            <a:endParaRPr sz="800" b="1" i="0">
              <a:solidFill>
                <a:srgbClr val="13834B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38912" y="502920"/>
            <a:ext cx="11247120" cy="576072"/>
          </a:xfrm>
          <a:prstGeom prst="rect">
            <a:avLst/>
          </a:prstGeom>
          <a:noFill/>
        </p:spPr>
        <p:txBody>
          <a:bodyPr wrap="square" lIns="45720" tIns="22860" rIns="45720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02344"/>
                </a:solidFill>
                <a:latin typeface="Aptos Display"/>
              </a:rPr>
              <a:t>Three specialist agents. One controlled decision path.</a:t>
            </a:r>
            <a:endParaRPr sz="2600" b="1" i="0">
              <a:solidFill>
                <a:srgbClr val="102344"/>
              </a:solidFill>
              <a:latin typeface="Aptos Display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1115568"/>
            <a:ext cx="10972800" cy="256032"/>
          </a:xfrm>
          <a:prstGeom prst="rect">
            <a:avLst/>
          </a:prstGeom>
          <a:noFill/>
        </p:spPr>
        <p:txBody>
          <a:bodyPr wrap="square" lIns="45720" tIns="22860" rIns="45720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758A"/>
                </a:solidFill>
                <a:latin typeface="Aptos"/>
              </a:rPr>
              <a:t>Deterministic features and rules provide the guardrails; agents interpret context, explain signals, and may escalate.</a:t>
            </a:r>
            <a:endParaRPr sz="1000" b="0" i="0">
              <a:solidFill>
                <a:srgbClr val="66758A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347472" cy="155448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650" b="1" i="0">
                <a:solidFill>
                  <a:srgbClr val="13834B"/>
                </a:solidFill>
                <a:latin typeface="Aptos"/>
              </a:rPr>
              <a:t>03</a:t>
            </a:r>
            <a:endParaRPr sz="650" b="1" i="0">
              <a:solidFill>
                <a:srgbClr val="13834B"/>
              </a:solidFill>
              <a:latin typeface="Aptos"/>
            </a:endParaRPr>
          </a:p>
        </p:txBody>
      </p:sp>
      <p:sp>
        <p:nvSpPr>
          <p:cNvPr id="7" name="Oval 6"/>
          <p:cNvSpPr/>
          <p:nvPr/>
        </p:nvSpPr>
        <p:spPr>
          <a:xfrm>
            <a:off x="457200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66928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76656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86384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96112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5840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15568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225295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335024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444752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554480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664207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773936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883664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993391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103120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212848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322576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432304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542032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651760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761488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871215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980944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3090672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200400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3310128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419856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3529584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3639312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1792" y="1627632"/>
            <a:ext cx="1188720" cy="182880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459D3"/>
                </a:solidFill>
                <a:latin typeface="Aptos"/>
              </a:rPr>
              <a:t>INPUTS</a:t>
            </a:r>
            <a:endParaRPr sz="900" b="1" i="0">
              <a:solidFill>
                <a:srgbClr val="2459D3"/>
              </a:solidFill>
              <a:latin typeface="Aptos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566928" y="1965960"/>
            <a:ext cx="2057400" cy="60350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713232" y="2103120"/>
            <a:ext cx="310896" cy="310896"/>
          </a:xfrm>
          <a:prstGeom prst="ellipse">
            <a:avLst/>
          </a:prstGeom>
          <a:solidFill>
            <a:srgbClr val="2459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13232" y="2190170"/>
            <a:ext cx="310896" cy="108813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50" b="1" i="0">
                <a:solidFill>
                  <a:srgbClr val="FFFFFF"/>
                </a:solidFill>
                <a:latin typeface="Aptos"/>
              </a:rPr>
              <a:t>1</a:t>
            </a:r>
            <a:endParaRPr sz="650" b="1" i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133856" y="2075688"/>
            <a:ext cx="1280160" cy="146304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50" b="1" i="0">
                <a:solidFill>
                  <a:srgbClr val="2459D3"/>
                </a:solidFill>
                <a:latin typeface="Aptos"/>
              </a:rPr>
              <a:t>ORDER + POLICY</a:t>
            </a:r>
            <a:endParaRPr sz="650" b="1" i="0">
              <a:solidFill>
                <a:srgbClr val="2459D3"/>
              </a:solidFill>
              <a:latin typeface="Aptos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133856" y="2286000"/>
            <a:ext cx="1325880" cy="146304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66758A"/>
                </a:solidFill>
                <a:latin typeface="Aptos"/>
              </a:rPr>
              <a:t>Eligibility facts</a:t>
            </a:r>
            <a:endParaRPr sz="700" b="0" i="0">
              <a:solidFill>
                <a:srgbClr val="66758A"/>
              </a:solidFill>
              <a:latin typeface="Aptos"/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566928" y="2752344"/>
            <a:ext cx="2057400" cy="60350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713232" y="2889503"/>
            <a:ext cx="310896" cy="310896"/>
          </a:xfrm>
          <a:prstGeom prst="ellipse">
            <a:avLst/>
          </a:prstGeom>
          <a:solidFill>
            <a:srgbClr val="159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13232" y="2976554"/>
            <a:ext cx="310896" cy="108813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50" b="1" i="0">
                <a:solidFill>
                  <a:srgbClr val="FFFFFF"/>
                </a:solidFill>
                <a:latin typeface="Aptos"/>
              </a:rPr>
              <a:t>2</a:t>
            </a:r>
            <a:endParaRPr sz="650" b="1" i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1133856" y="2862072"/>
            <a:ext cx="1280160" cy="146304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50" b="1" i="0">
                <a:solidFill>
                  <a:srgbClr val="159E9A"/>
                </a:solidFill>
                <a:latin typeface="Aptos"/>
              </a:rPr>
              <a:t>CLAIM TEXT</a:t>
            </a:r>
            <a:endParaRPr sz="650" b="1" i="0">
              <a:solidFill>
                <a:srgbClr val="159E9A"/>
              </a:solidFill>
              <a:latin typeface="Aptos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1133856" y="3072384"/>
            <a:ext cx="1325880" cy="146304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66758A"/>
                </a:solidFill>
                <a:latin typeface="Aptos"/>
              </a:rPr>
              <a:t>Reason + description</a:t>
            </a:r>
            <a:endParaRPr sz="700" b="0" i="0">
              <a:solidFill>
                <a:srgbClr val="66758A"/>
              </a:solidFill>
              <a:latin typeface="Aptos"/>
            </a:endParaRPr>
          </a:p>
        </p:txBody>
      </p:sp>
      <p:sp>
        <p:nvSpPr>
          <p:cNvPr id="48" name="Rounded Rectangle 47"/>
          <p:cNvSpPr/>
          <p:nvPr/>
        </p:nvSpPr>
        <p:spPr>
          <a:xfrm>
            <a:off x="566928" y="3538728"/>
            <a:ext cx="2057400" cy="60350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713232" y="3675888"/>
            <a:ext cx="310896" cy="310896"/>
          </a:xfrm>
          <a:prstGeom prst="ellipse">
            <a:avLst/>
          </a:prstGeom>
          <a:solidFill>
            <a:srgbClr val="765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13232" y="3762938"/>
            <a:ext cx="310896" cy="108813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50" b="1" i="0">
                <a:solidFill>
                  <a:srgbClr val="FFFFFF"/>
                </a:solidFill>
                <a:latin typeface="Aptos"/>
              </a:rPr>
              <a:t>3</a:t>
            </a:r>
            <a:endParaRPr sz="650" b="1" i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1133856" y="3648456"/>
            <a:ext cx="1280160" cy="146304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50" b="1" i="0">
                <a:solidFill>
                  <a:srgbClr val="7656D6"/>
                </a:solidFill>
                <a:latin typeface="Aptos"/>
              </a:rPr>
              <a:t>IMAGE EVIDENCE</a:t>
            </a:r>
            <a:endParaRPr sz="650" b="1" i="0">
              <a:solidFill>
                <a:srgbClr val="7656D6"/>
              </a:solidFill>
              <a:latin typeface="Aptos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1133856" y="3858768"/>
            <a:ext cx="1325880" cy="146304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66758A"/>
                </a:solidFill>
                <a:latin typeface="Aptos"/>
              </a:rPr>
              <a:t>Quality + reuse</a:t>
            </a:r>
            <a:endParaRPr sz="700" b="0" i="0">
              <a:solidFill>
                <a:srgbClr val="66758A"/>
              </a:solidFill>
              <a:latin typeface="Aptos"/>
            </a:endParaRPr>
          </a:p>
        </p:txBody>
      </p:sp>
      <p:sp>
        <p:nvSpPr>
          <p:cNvPr id="53" name="Rounded Rectangle 52"/>
          <p:cNvSpPr/>
          <p:nvPr/>
        </p:nvSpPr>
        <p:spPr>
          <a:xfrm>
            <a:off x="566928" y="4325112"/>
            <a:ext cx="2057400" cy="60350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713232" y="4462272"/>
            <a:ext cx="310896" cy="310896"/>
          </a:xfrm>
          <a:prstGeom prst="ellipse">
            <a:avLst/>
          </a:prstGeom>
          <a:solidFill>
            <a:srgbClr val="138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13232" y="4549322"/>
            <a:ext cx="310896" cy="108813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50" b="1" i="0">
                <a:solidFill>
                  <a:srgbClr val="FFFFFF"/>
                </a:solidFill>
                <a:latin typeface="Aptos"/>
              </a:rPr>
              <a:t>4</a:t>
            </a:r>
            <a:endParaRPr sz="650" b="1" i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133856" y="4434840"/>
            <a:ext cx="1280160" cy="146304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50" b="1" i="0">
                <a:solidFill>
                  <a:srgbClr val="13834B"/>
                </a:solidFill>
                <a:latin typeface="Aptos"/>
              </a:rPr>
              <a:t>REFUND HISTORY</a:t>
            </a:r>
            <a:endParaRPr sz="650" b="1" i="0">
              <a:solidFill>
                <a:srgbClr val="13834B"/>
              </a:solidFill>
              <a:latin typeface="Aptos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1133856" y="4645152"/>
            <a:ext cx="1325880" cy="146304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66758A"/>
                </a:solidFill>
                <a:latin typeface="Aptos"/>
              </a:rPr>
              <a:t>30 / 90 / 180 days</a:t>
            </a:r>
            <a:endParaRPr sz="700" b="0" i="0">
              <a:solidFill>
                <a:srgbClr val="66758A"/>
              </a:solidFill>
              <a:latin typeface="Aptos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2971800" y="1627632"/>
            <a:ext cx="2011680" cy="182880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3834B"/>
                </a:solidFill>
                <a:latin typeface="Aptos"/>
              </a:rPr>
              <a:t>SPECIALIST AGENTS</a:t>
            </a:r>
            <a:endParaRPr sz="900" b="1" i="0">
              <a:solidFill>
                <a:srgbClr val="13834B"/>
              </a:solidFill>
              <a:latin typeface="Aptos"/>
            </a:endParaRPr>
          </a:p>
        </p:txBody>
      </p:sp>
      <p:sp>
        <p:nvSpPr>
          <p:cNvPr id="59" name="Rounded Rectangle 58"/>
          <p:cNvSpPr/>
          <p:nvPr/>
        </p:nvSpPr>
        <p:spPr>
          <a:xfrm>
            <a:off x="2926080" y="1938528"/>
            <a:ext cx="2971800" cy="85953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6510">
            <a:solidFill>
              <a:srgbClr val="245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3090672" y="2121408"/>
            <a:ext cx="438912" cy="438912"/>
          </a:xfrm>
          <a:prstGeom prst="ellipse">
            <a:avLst/>
          </a:prstGeom>
          <a:solidFill>
            <a:srgbClr val="2459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090672" y="2244303"/>
            <a:ext cx="438912" cy="153619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50" b="1" i="0">
                <a:solidFill>
                  <a:srgbClr val="FFFFFF"/>
                </a:solidFill>
                <a:latin typeface="Aptos"/>
              </a:rPr>
              <a:t>01</a:t>
            </a:r>
            <a:endParaRPr sz="650" b="1" i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3657600" y="2075688"/>
            <a:ext cx="2011680" cy="164592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459D3"/>
                </a:solidFill>
                <a:latin typeface="Aptos"/>
              </a:rPr>
              <a:t>EVIDENCE &amp; CLAIM AGENT</a:t>
            </a:r>
            <a:endParaRPr sz="800" b="1" i="0">
              <a:solidFill>
                <a:srgbClr val="2459D3"/>
              </a:solidFill>
              <a:latin typeface="Aptos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3657600" y="2322576"/>
            <a:ext cx="2011680" cy="338328"/>
          </a:xfrm>
          <a:prstGeom prst="rect">
            <a:avLst/>
          </a:prstGeom>
          <a:noFill/>
        </p:spPr>
        <p:txBody>
          <a:bodyPr wrap="square" lIns="45720" tIns="22860" rIns="45720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6758A"/>
                </a:solidFill>
                <a:latin typeface="Aptos"/>
              </a:rPr>
              <a:t>Claim ambiguity • image quality
hash / similarity / consistency</a:t>
            </a:r>
            <a:endParaRPr sz="800" b="0" i="0">
              <a:solidFill>
                <a:srgbClr val="66758A"/>
              </a:solidFill>
              <a:latin typeface="Aptos"/>
            </a:endParaRPr>
          </a:p>
        </p:txBody>
      </p:sp>
      <p:sp>
        <p:nvSpPr>
          <p:cNvPr id="64" name="Rounded Rectangle 63"/>
          <p:cNvSpPr/>
          <p:nvPr/>
        </p:nvSpPr>
        <p:spPr>
          <a:xfrm>
            <a:off x="2926080" y="3017520"/>
            <a:ext cx="2971800" cy="85953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6510">
            <a:solidFill>
              <a:srgbClr val="159E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3090672" y="3200400"/>
            <a:ext cx="438912" cy="438912"/>
          </a:xfrm>
          <a:prstGeom prst="ellipse">
            <a:avLst/>
          </a:prstGeom>
          <a:solidFill>
            <a:srgbClr val="159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090672" y="3323295"/>
            <a:ext cx="438912" cy="153619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50" b="1" i="0">
                <a:solidFill>
                  <a:srgbClr val="FFFFFF"/>
                </a:solidFill>
                <a:latin typeface="Aptos"/>
              </a:rPr>
              <a:t>02</a:t>
            </a:r>
            <a:endParaRPr sz="650" b="1" i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3657600" y="3154679"/>
            <a:ext cx="2011680" cy="164592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59E9A"/>
                </a:solidFill>
                <a:latin typeface="Aptos"/>
              </a:rPr>
              <a:t>BEHAVIOUR &amp; ABUSE AGENT</a:t>
            </a:r>
            <a:endParaRPr sz="800" b="1" i="0">
              <a:solidFill>
                <a:srgbClr val="159E9A"/>
              </a:solidFill>
              <a:latin typeface="Aptos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3657600" y="3401568"/>
            <a:ext cx="2011680" cy="338328"/>
          </a:xfrm>
          <a:prstGeom prst="rect">
            <a:avLst/>
          </a:prstGeom>
          <a:noFill/>
        </p:spPr>
        <p:txBody>
          <a:bodyPr wrap="square" lIns="45720" tIns="22860" rIns="45720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6758A"/>
                </a:solidFill>
                <a:latin typeface="Aptos"/>
              </a:rPr>
              <a:t>Rolling features • repeat reasons
five deterministic abuse patterns</a:t>
            </a:r>
            <a:endParaRPr sz="800" b="0" i="0">
              <a:solidFill>
                <a:srgbClr val="66758A"/>
              </a:solidFill>
              <a:latin typeface="Aptos"/>
            </a:endParaRPr>
          </a:p>
        </p:txBody>
      </p:sp>
      <p:sp>
        <p:nvSpPr>
          <p:cNvPr id="69" name="Rounded Rectangle 68"/>
          <p:cNvSpPr/>
          <p:nvPr/>
        </p:nvSpPr>
        <p:spPr>
          <a:xfrm>
            <a:off x="2926080" y="4096512"/>
            <a:ext cx="2971800" cy="85953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6510">
            <a:solidFill>
              <a:srgbClr val="765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3090672" y="4279392"/>
            <a:ext cx="438912" cy="438912"/>
          </a:xfrm>
          <a:prstGeom prst="ellipse">
            <a:avLst/>
          </a:prstGeom>
          <a:solidFill>
            <a:srgbClr val="765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090672" y="4402287"/>
            <a:ext cx="438912" cy="153619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50" b="1" i="0">
                <a:solidFill>
                  <a:srgbClr val="FFFFFF"/>
                </a:solidFill>
                <a:latin typeface="Aptos"/>
              </a:rPr>
              <a:t>03</a:t>
            </a:r>
            <a:endParaRPr sz="650" b="1" i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3657600" y="4233672"/>
            <a:ext cx="2011680" cy="164592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7656D6"/>
                </a:solidFill>
                <a:latin typeface="Aptos"/>
              </a:rPr>
              <a:t>RESOLUTION REASONING AGENT</a:t>
            </a:r>
            <a:endParaRPr sz="800" b="1" i="0">
              <a:solidFill>
                <a:srgbClr val="7656D6"/>
              </a:solidFill>
              <a:latin typeface="Aptos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3657600" y="4480560"/>
            <a:ext cx="2011680" cy="338328"/>
          </a:xfrm>
          <a:prstGeom prst="rect">
            <a:avLst/>
          </a:prstGeom>
          <a:noFill/>
        </p:spPr>
        <p:txBody>
          <a:bodyPr wrap="square" lIns="45720" tIns="22860" rIns="45720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6758A"/>
                </a:solidFill>
                <a:latin typeface="Aptos"/>
              </a:rPr>
              <a:t>Explains the best eligible action
can escalate; cannot bypass policy</a:t>
            </a:r>
            <a:endParaRPr sz="800" b="0" i="0">
              <a:solidFill>
                <a:srgbClr val="66758A"/>
              </a:solidFill>
              <a:latin typeface="Aptos"/>
            </a:endParaRPr>
          </a:p>
        </p:txBody>
      </p:sp>
      <p:cxnSp>
        <p:nvCxnSpPr>
          <p:cNvPr id="74" name="Connector 73"/>
          <p:cNvCxnSpPr/>
          <p:nvPr/>
        </p:nvCxnSpPr>
        <p:spPr>
          <a:xfrm>
            <a:off x="5961888" y="3429000"/>
            <a:ext cx="365760" cy="0"/>
          </a:xfrm>
          <a:prstGeom prst="line">
            <a:avLst/>
          </a:prstGeom>
          <a:ln w="27940">
            <a:solidFill>
              <a:srgbClr val="245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6236208" y="3364992"/>
            <a:ext cx="91440" cy="64008"/>
          </a:xfrm>
          <a:prstGeom prst="line">
            <a:avLst/>
          </a:prstGeom>
          <a:ln w="27940">
            <a:solidFill>
              <a:srgbClr val="245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6236208" y="3429000"/>
            <a:ext cx="91440" cy="64008"/>
          </a:xfrm>
          <a:prstGeom prst="line">
            <a:avLst/>
          </a:prstGeom>
          <a:ln w="27940">
            <a:solidFill>
              <a:srgbClr val="245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Rounded Rectangle 76"/>
          <p:cNvSpPr/>
          <p:nvPr/>
        </p:nvSpPr>
        <p:spPr>
          <a:xfrm>
            <a:off x="6382512" y="2167128"/>
            <a:ext cx="1993392" cy="2651760"/>
          </a:xfrm>
          <a:prstGeom prst="roundRect">
            <a:avLst>
              <a:gd name="adj" fmla="val 10000"/>
            </a:avLst>
          </a:prstGeom>
          <a:solidFill>
            <a:srgbClr val="102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629400" y="2468880"/>
            <a:ext cx="1508760" cy="566928"/>
          </a:xfrm>
          <a:prstGeom prst="rect">
            <a:avLst/>
          </a:prstGeom>
          <a:noFill/>
        </p:spPr>
        <p:txBody>
          <a:bodyPr wrap="square" lIns="45720" tIns="22860" rIns="45720" bIns="2286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Aptos Display"/>
              </a:rPr>
              <a:t>RISK
SYNTHESIS</a:t>
            </a:r>
            <a:endParaRPr sz="1700" b="1" i="0">
              <a:solidFill>
                <a:srgbClr val="FFFFFF"/>
              </a:solidFill>
              <a:latin typeface="Aptos Display"/>
            </a:endParaRPr>
          </a:p>
        </p:txBody>
      </p:sp>
      <p:cxnSp>
        <p:nvCxnSpPr>
          <p:cNvPr id="79" name="Connector 78"/>
          <p:cNvCxnSpPr/>
          <p:nvPr/>
        </p:nvCxnSpPr>
        <p:spPr>
          <a:xfrm>
            <a:off x="6720840" y="3218688"/>
            <a:ext cx="1325880" cy="0"/>
          </a:xfrm>
          <a:prstGeom prst="line">
            <a:avLst/>
          </a:prstGeom>
          <a:ln w="25400">
            <a:solidFill>
              <a:srgbClr val="159E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TextBox 79"/>
          <p:cNvSpPr txBox="1"/>
          <p:nvPr/>
        </p:nvSpPr>
        <p:spPr>
          <a:xfrm>
            <a:off x="6693408" y="3429000"/>
            <a:ext cx="1417320" cy="292608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67B7E8"/>
                </a:solidFill>
                <a:latin typeface="Aptos"/>
              </a:rPr>
              <a:t>BR + CR</a:t>
            </a:r>
            <a:endParaRPr sz="1600" b="1" i="0">
              <a:solidFill>
                <a:srgbClr val="67B7E8"/>
              </a:solidFill>
              <a:latin typeface="Aptos"/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6601968" y="3840480"/>
            <a:ext cx="1554480" cy="502920"/>
          </a:xfrm>
          <a:prstGeom prst="rect">
            <a:avLst/>
          </a:prstGeom>
          <a:noFill/>
        </p:spPr>
        <p:txBody>
          <a:bodyPr wrap="square" lIns="45720" tIns="22860" rIns="45720" bIns="2286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Expected-cost
comparison</a:t>
            </a:r>
            <a:endParaRPr sz="1000" b="1" i="0">
              <a:solidFill>
                <a:srgbClr val="FFFFFF"/>
              </a:solidFill>
              <a:latin typeface="Aptos"/>
            </a:endParaRPr>
          </a:p>
        </p:txBody>
      </p:sp>
      <p:cxnSp>
        <p:nvCxnSpPr>
          <p:cNvPr id="82" name="Connector 81"/>
          <p:cNvCxnSpPr/>
          <p:nvPr/>
        </p:nvCxnSpPr>
        <p:spPr>
          <a:xfrm>
            <a:off x="8439912" y="3429000"/>
            <a:ext cx="384048" cy="0"/>
          </a:xfrm>
          <a:prstGeom prst="line">
            <a:avLst/>
          </a:prstGeom>
          <a:ln w="27940">
            <a:solidFill>
              <a:srgbClr val="1383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8732520" y="3364992"/>
            <a:ext cx="91440" cy="64008"/>
          </a:xfrm>
          <a:prstGeom prst="line">
            <a:avLst/>
          </a:prstGeom>
          <a:ln w="27940">
            <a:solidFill>
              <a:srgbClr val="1383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8732520" y="3429000"/>
            <a:ext cx="91440" cy="64008"/>
          </a:xfrm>
          <a:prstGeom prst="line">
            <a:avLst/>
          </a:prstGeom>
          <a:ln w="27940">
            <a:solidFill>
              <a:srgbClr val="1383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TextBox 84"/>
          <p:cNvSpPr txBox="1"/>
          <p:nvPr/>
        </p:nvSpPr>
        <p:spPr>
          <a:xfrm>
            <a:off x="8979408" y="1627632"/>
            <a:ext cx="2286000" cy="182880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3834B"/>
                </a:solidFill>
                <a:latin typeface="Aptos"/>
              </a:rPr>
              <a:t>PERMITTED OUTCOMES</a:t>
            </a:r>
            <a:endParaRPr sz="900" b="1" i="0">
              <a:solidFill>
                <a:srgbClr val="13834B"/>
              </a:solidFill>
              <a:latin typeface="Aptos"/>
            </a:endParaRPr>
          </a:p>
        </p:txBody>
      </p:sp>
      <p:sp>
        <p:nvSpPr>
          <p:cNvPr id="86" name="Rounded Rectangle 85"/>
          <p:cNvSpPr/>
          <p:nvPr/>
        </p:nvSpPr>
        <p:spPr>
          <a:xfrm>
            <a:off x="8942832" y="1938528"/>
            <a:ext cx="2697480" cy="6217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3970">
            <a:solidFill>
              <a:srgbClr val="138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9107424" y="2048256"/>
            <a:ext cx="2331720" cy="146304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50" b="1" i="0">
                <a:solidFill>
                  <a:srgbClr val="13834B"/>
                </a:solidFill>
                <a:latin typeface="Aptos"/>
              </a:rPr>
              <a:t>IMMEDIATE REFUND</a:t>
            </a:r>
            <a:endParaRPr sz="650" b="1" i="0">
              <a:solidFill>
                <a:srgbClr val="13834B"/>
              </a:solidFill>
              <a:latin typeface="Aptos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9107424" y="2267712"/>
            <a:ext cx="2331720" cy="164592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66758A"/>
                </a:solidFill>
                <a:latin typeface="Aptos"/>
              </a:rPr>
              <a:t>Eligible + lowest expected cost</a:t>
            </a:r>
            <a:endParaRPr sz="700" b="0" i="0">
              <a:solidFill>
                <a:srgbClr val="66758A"/>
              </a:solidFill>
              <a:latin typeface="Aptos"/>
            </a:endParaRPr>
          </a:p>
        </p:txBody>
      </p:sp>
      <p:sp>
        <p:nvSpPr>
          <p:cNvPr id="89" name="Rounded Rectangle 88"/>
          <p:cNvSpPr/>
          <p:nvPr/>
        </p:nvSpPr>
        <p:spPr>
          <a:xfrm>
            <a:off x="8942832" y="2724912"/>
            <a:ext cx="2697480" cy="6217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3970">
            <a:solidFill>
              <a:srgbClr val="245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9107424" y="2834640"/>
            <a:ext cx="2331720" cy="146304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50" b="1" i="0">
                <a:solidFill>
                  <a:srgbClr val="2459D3"/>
                </a:solidFill>
                <a:latin typeface="Aptos"/>
              </a:rPr>
              <a:t>REQUEST EVIDENCE</a:t>
            </a:r>
            <a:endParaRPr sz="650" b="1" i="0">
              <a:solidFill>
                <a:srgbClr val="2459D3"/>
              </a:solidFill>
              <a:latin typeface="Aptos"/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9107424" y="3054096"/>
            <a:ext cx="2331720" cy="164592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66758A"/>
                </a:solidFill>
                <a:latin typeface="Aptos"/>
              </a:rPr>
              <a:t>Physical claim + evidence gap</a:t>
            </a:r>
            <a:endParaRPr sz="700" b="0" i="0">
              <a:solidFill>
                <a:srgbClr val="66758A"/>
              </a:solidFill>
              <a:latin typeface="Aptos"/>
            </a:endParaRPr>
          </a:p>
        </p:txBody>
      </p:sp>
      <p:sp>
        <p:nvSpPr>
          <p:cNvPr id="92" name="Rounded Rectangle 91"/>
          <p:cNvSpPr/>
          <p:nvPr/>
        </p:nvSpPr>
        <p:spPr>
          <a:xfrm>
            <a:off x="8942832" y="3511296"/>
            <a:ext cx="2697480" cy="6217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3970">
            <a:solidFill>
              <a:srgbClr val="765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9107424" y="3621024"/>
            <a:ext cx="2331720" cy="146304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50" b="1" i="0">
                <a:solidFill>
                  <a:srgbClr val="7656D6"/>
                </a:solidFill>
                <a:latin typeface="Aptos"/>
              </a:rPr>
              <a:t>MANUAL REVIEW</a:t>
            </a:r>
            <a:endParaRPr sz="650" b="1" i="0">
              <a:solidFill>
                <a:srgbClr val="7656D6"/>
              </a:solidFill>
              <a:latin typeface="Aptos"/>
            </a:endParaRPr>
          </a:p>
        </p:txBody>
      </p:sp>
      <p:sp>
        <p:nvSpPr>
          <p:cNvPr id="94" name="TextBox 93"/>
          <p:cNvSpPr txBox="1"/>
          <p:nvPr/>
        </p:nvSpPr>
        <p:spPr>
          <a:xfrm>
            <a:off x="9107424" y="3840480"/>
            <a:ext cx="2331720" cy="164592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66758A"/>
                </a:solidFill>
                <a:latin typeface="Aptos"/>
              </a:rPr>
              <a:t>High uncertainty / hard signal</a:t>
            </a:r>
            <a:endParaRPr sz="700" b="0" i="0">
              <a:solidFill>
                <a:srgbClr val="66758A"/>
              </a:solidFill>
              <a:latin typeface="Aptos"/>
            </a:endParaRPr>
          </a:p>
        </p:txBody>
      </p:sp>
      <p:sp>
        <p:nvSpPr>
          <p:cNvPr id="95" name="Rounded Rectangle 94"/>
          <p:cNvSpPr/>
          <p:nvPr/>
        </p:nvSpPr>
        <p:spPr>
          <a:xfrm>
            <a:off x="8942832" y="4297680"/>
            <a:ext cx="2697480" cy="6217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3970">
            <a:solidFill>
              <a:srgbClr val="E966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9107424" y="4407408"/>
            <a:ext cx="2331720" cy="146304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50" b="1" i="0">
                <a:solidFill>
                  <a:srgbClr val="E9665B"/>
                </a:solidFill>
                <a:latin typeface="Aptos"/>
              </a:rPr>
              <a:t>POLICY DECLINE</a:t>
            </a:r>
            <a:endParaRPr sz="650" b="1" i="0">
              <a:solidFill>
                <a:srgbClr val="E9665B"/>
              </a:solidFill>
              <a:latin typeface="Aptos"/>
            </a:endParaRPr>
          </a:p>
        </p:txBody>
      </p:sp>
      <p:sp>
        <p:nvSpPr>
          <p:cNvPr id="97" name="TextBox 96"/>
          <p:cNvSpPr txBox="1"/>
          <p:nvPr/>
        </p:nvSpPr>
        <p:spPr>
          <a:xfrm>
            <a:off x="9107424" y="4626864"/>
            <a:ext cx="2331720" cy="164592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66758A"/>
                </a:solidFill>
                <a:latin typeface="Aptos"/>
              </a:rPr>
              <a:t>Gate fails — AI cannot override</a:t>
            </a:r>
            <a:endParaRPr sz="700" b="0" i="0">
              <a:solidFill>
                <a:srgbClr val="66758A"/>
              </a:solidFill>
              <a:latin typeface="Aptos"/>
            </a:endParaRPr>
          </a:p>
        </p:txBody>
      </p:sp>
      <p:sp>
        <p:nvSpPr>
          <p:cNvPr id="98" name="Rounded Rectangle 97"/>
          <p:cNvSpPr/>
          <p:nvPr/>
        </p:nvSpPr>
        <p:spPr>
          <a:xfrm>
            <a:off x="566928" y="5897880"/>
            <a:ext cx="11045952" cy="384048"/>
          </a:xfrm>
          <a:prstGeom prst="roundRect">
            <a:avLst>
              <a:gd name="adj" fmla="val 10000"/>
            </a:avLst>
          </a:prstGeom>
          <a:solidFill>
            <a:srgbClr val="FCE9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58952" y="6007608"/>
            <a:ext cx="1645920" cy="146304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50" b="1" i="0">
                <a:solidFill>
                  <a:srgbClr val="E9665B"/>
                </a:solidFill>
                <a:latin typeface="Aptos"/>
              </a:rPr>
              <a:t>FAIL-SAFE</a:t>
            </a:r>
            <a:endParaRPr sz="650" b="1" i="0">
              <a:solidFill>
                <a:srgbClr val="E9665B"/>
              </a:solidFill>
              <a:latin typeface="Aptos"/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2304288" y="5989320"/>
            <a:ext cx="9052560" cy="182880"/>
          </a:xfrm>
          <a:prstGeom prst="rect">
            <a:avLst/>
          </a:prstGeom>
          <a:noFill/>
        </p:spPr>
        <p:txBody>
          <a:bodyPr wrap="square" lIns="45720" tIns="22860" rIns="45720" bIns="2286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02344"/>
                </a:solidFill>
                <a:latin typeface="Aptos"/>
              </a:rPr>
              <a:t>Any critical failure routes to manual review — never a silent approval.</a:t>
            </a:r>
            <a:endParaRPr sz="900" b="1" i="0">
              <a:solidFill>
                <a:srgbClr val="102344"/>
              </a:solidFill>
              <a:latin typeface="Aptos"/>
            </a:endParaRPr>
          </a:p>
        </p:txBody>
      </p:sp>
      <p:sp>
        <p:nvSpPr>
          <p:cNvPr id="101" name="Rounded Rectangle 100"/>
          <p:cNvSpPr/>
          <p:nvPr/>
        </p:nvSpPr>
        <p:spPr>
          <a:xfrm>
            <a:off x="566928" y="5330952"/>
            <a:ext cx="11045952" cy="47548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0160">
            <a:solidFill>
              <a:srgbClr val="D9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749808" y="5495544"/>
            <a:ext cx="1234440" cy="118872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13834B"/>
                </a:solidFill>
                <a:latin typeface="Aptos"/>
              </a:rPr>
              <a:t>SAFETY RAILS</a:t>
            </a:r>
            <a:endParaRPr sz="700" b="1">
              <a:solidFill>
                <a:srgbClr val="13834B"/>
              </a:solidFill>
              <a:latin typeface="Aptos"/>
            </a:endParaRPr>
          </a:p>
        </p:txBody>
      </p:sp>
      <p:sp>
        <p:nvSpPr>
          <p:cNvPr id="103" name="Rounded Rectangle 102"/>
          <p:cNvSpPr/>
          <p:nvPr/>
        </p:nvSpPr>
        <p:spPr>
          <a:xfrm>
            <a:off x="2057400" y="5458968"/>
            <a:ext cx="2011680" cy="228600"/>
          </a:xfrm>
          <a:prstGeom prst="roundRect">
            <a:avLst>
              <a:gd name="adj" fmla="val 7000"/>
            </a:avLst>
          </a:prstGeom>
          <a:solidFill>
            <a:srgbClr val="E7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2093976" y="5518404"/>
            <a:ext cx="1938528" cy="109728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1">
                <a:solidFill>
                  <a:srgbClr val="2459D3"/>
                </a:solidFill>
                <a:latin typeface="Aptos"/>
              </a:rPr>
              <a:t>SOURCE LINKS</a:t>
            </a:r>
            <a:endParaRPr sz="600" b="1">
              <a:solidFill>
                <a:srgbClr val="2459D3"/>
              </a:solidFill>
              <a:latin typeface="Aptos"/>
            </a:endParaRPr>
          </a:p>
        </p:txBody>
      </p:sp>
      <p:sp>
        <p:nvSpPr>
          <p:cNvPr id="105" name="Rounded Rectangle 104"/>
          <p:cNvSpPr/>
          <p:nvPr/>
        </p:nvSpPr>
        <p:spPr>
          <a:xfrm>
            <a:off x="4389120" y="5458968"/>
            <a:ext cx="2011680" cy="228600"/>
          </a:xfrm>
          <a:prstGeom prst="roundRect">
            <a:avLst>
              <a:gd name="adj" fmla="val 7000"/>
            </a:avLst>
          </a:prstGeom>
          <a:solidFill>
            <a:srgbClr val="E1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4425696" y="5518404"/>
            <a:ext cx="1938528" cy="109728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1">
                <a:solidFill>
                  <a:srgbClr val="159E9A"/>
                </a:solidFill>
                <a:latin typeface="Aptos"/>
              </a:rPr>
              <a:t>RULE VERSION</a:t>
            </a:r>
            <a:endParaRPr sz="600" b="1">
              <a:solidFill>
                <a:srgbClr val="159E9A"/>
              </a:solidFill>
              <a:latin typeface="Aptos"/>
            </a:endParaRPr>
          </a:p>
        </p:txBody>
      </p:sp>
      <p:sp>
        <p:nvSpPr>
          <p:cNvPr id="107" name="Rounded Rectangle 106"/>
          <p:cNvSpPr/>
          <p:nvPr/>
        </p:nvSpPr>
        <p:spPr>
          <a:xfrm>
            <a:off x="6720840" y="5458968"/>
            <a:ext cx="2011680" cy="228600"/>
          </a:xfrm>
          <a:prstGeom prst="roundRect">
            <a:avLst>
              <a:gd name="adj" fmla="val 7000"/>
            </a:avLst>
          </a:prstGeom>
          <a:solidFill>
            <a:srgbClr val="EC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6757416" y="5518404"/>
            <a:ext cx="1938528" cy="109728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1">
                <a:solidFill>
                  <a:srgbClr val="7656D6"/>
                </a:solidFill>
                <a:latin typeface="Aptos"/>
              </a:rPr>
              <a:t>HUMAN FALLBACK</a:t>
            </a:r>
            <a:endParaRPr sz="600" b="1">
              <a:solidFill>
                <a:srgbClr val="7656D6"/>
              </a:solidFill>
              <a:latin typeface="Aptos"/>
            </a:endParaRPr>
          </a:p>
        </p:txBody>
      </p:sp>
      <p:sp>
        <p:nvSpPr>
          <p:cNvPr id="109" name="Rounded Rectangle 108"/>
          <p:cNvSpPr/>
          <p:nvPr/>
        </p:nvSpPr>
        <p:spPr>
          <a:xfrm>
            <a:off x="9052559" y="5458968"/>
            <a:ext cx="2011680" cy="228600"/>
          </a:xfrm>
          <a:prstGeom prst="roundRect">
            <a:avLst>
              <a:gd name="adj" fmla="val 7000"/>
            </a:avLst>
          </a:prstGeom>
          <a:solidFill>
            <a:srgbClr val="FCE9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9089135" y="5518404"/>
            <a:ext cx="1938528" cy="109728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1">
                <a:solidFill>
                  <a:srgbClr val="E9665B"/>
                </a:solidFill>
                <a:latin typeface="Aptos"/>
              </a:rPr>
              <a:t>NO SILENT APPROVAL</a:t>
            </a:r>
            <a:endParaRPr sz="600" b="1">
              <a:solidFill>
                <a:srgbClr val="E9665B"/>
              </a:solidFill>
              <a:latin typeface="Aptos"/>
            </a:endParaRPr>
          </a:p>
        </p:txBody>
      </p:sp>
      <p:pic>
        <p:nvPicPr>
          <p:cNvPr id="111" name="Picture 110" descr="image(20261024-111450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0747" y="195932"/>
            <a:ext cx="1645834" cy="46759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38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01168"/>
            <a:ext cx="7315200" cy="182880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3834B"/>
                </a:solidFill>
                <a:latin typeface="Aptos"/>
              </a:rPr>
              <a:t>REFUND INTELLIGENCE     /     CAPABILITIES</a:t>
            </a:r>
            <a:endParaRPr sz="800" b="1" i="0">
              <a:solidFill>
                <a:srgbClr val="13834B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38912" y="502920"/>
            <a:ext cx="11247120" cy="576072"/>
          </a:xfrm>
          <a:prstGeom prst="rect">
            <a:avLst/>
          </a:prstGeom>
          <a:noFill/>
        </p:spPr>
        <p:txBody>
          <a:bodyPr wrap="square" lIns="45720" tIns="22860" rIns="45720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02344"/>
                </a:solidFill>
                <a:latin typeface="Aptos Display"/>
              </a:rPr>
              <a:t>Every signal has a job. Every action has a guardrail.</a:t>
            </a:r>
            <a:endParaRPr sz="2600" b="1" i="0">
              <a:solidFill>
                <a:srgbClr val="102344"/>
              </a:solidFill>
              <a:latin typeface="Aptos Display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1115568"/>
            <a:ext cx="10972800" cy="256032"/>
          </a:xfrm>
          <a:prstGeom prst="rect">
            <a:avLst/>
          </a:prstGeom>
          <a:noFill/>
        </p:spPr>
        <p:txBody>
          <a:bodyPr wrap="square" lIns="45720" tIns="22860" rIns="45720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758A"/>
                </a:solidFill>
                <a:latin typeface="Aptos"/>
              </a:rPr>
              <a:t>Repository-defined capabilities and the outcomes they inform.</a:t>
            </a:r>
            <a:endParaRPr sz="1000" b="0" i="0">
              <a:solidFill>
                <a:srgbClr val="66758A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347472" cy="155448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650" b="1" i="0">
                <a:solidFill>
                  <a:srgbClr val="13834B"/>
                </a:solidFill>
                <a:latin typeface="Aptos"/>
              </a:rPr>
              <a:t>04</a:t>
            </a:r>
            <a:endParaRPr sz="650" b="1" i="0">
              <a:solidFill>
                <a:srgbClr val="13834B"/>
              </a:solidFill>
              <a:latin typeface="Aptos"/>
            </a:endParaRPr>
          </a:p>
        </p:txBody>
      </p:sp>
      <p:sp>
        <p:nvSpPr>
          <p:cNvPr id="7" name="Oval 6"/>
          <p:cNvSpPr/>
          <p:nvPr/>
        </p:nvSpPr>
        <p:spPr>
          <a:xfrm>
            <a:off x="457200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66928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76656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86384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96112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5840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15568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225295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335024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444752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554480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664207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773936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883664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993391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103120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212848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322576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432304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542032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651760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761488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871215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980944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3090672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200400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3310128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419856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3529584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3639312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94360" y="1536192"/>
            <a:ext cx="2560320" cy="182880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3834B"/>
                </a:solidFill>
                <a:latin typeface="Aptos"/>
              </a:rPr>
              <a:t>THE CAPABILITY STACK</a:t>
            </a:r>
            <a:endParaRPr sz="900" b="1">
              <a:solidFill>
                <a:srgbClr val="13834B"/>
              </a:solidFill>
              <a:latin typeface="Aptos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594360" y="1819656"/>
            <a:ext cx="2487168" cy="9875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594360" y="1819656"/>
            <a:ext cx="2487168" cy="73152"/>
          </a:xfrm>
          <a:prstGeom prst="roundRect">
            <a:avLst>
              <a:gd name="adj" fmla="val 8000"/>
            </a:avLst>
          </a:prstGeom>
          <a:solidFill>
            <a:srgbClr val="2459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40664" y="2029968"/>
            <a:ext cx="347472" cy="347472"/>
          </a:xfrm>
          <a:prstGeom prst="ellipse">
            <a:avLst/>
          </a:prstGeom>
          <a:solidFill>
            <a:srgbClr val="2459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40664" y="2139696"/>
            <a:ext cx="347472" cy="109728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50" b="1">
                <a:solidFill>
                  <a:srgbClr val="FFFFFF"/>
                </a:solidFill>
                <a:latin typeface="Aptos"/>
              </a:rPr>
              <a:t>01</a:t>
            </a:r>
            <a:endParaRPr sz="65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207008" y="2011680"/>
            <a:ext cx="1645920" cy="182880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459D3"/>
                </a:solidFill>
                <a:latin typeface="Aptos"/>
              </a:rPr>
              <a:t>SENSE</a:t>
            </a:r>
            <a:endParaRPr sz="900" b="1">
              <a:solidFill>
                <a:srgbClr val="2459D3"/>
              </a:solidFill>
              <a:latin typeface="Aptos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1207008" y="2286000"/>
            <a:ext cx="1691640" cy="256032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66758A"/>
                </a:solidFill>
                <a:latin typeface="Aptos"/>
              </a:rPr>
              <a:t>Claim • order • evidence</a:t>
            </a:r>
            <a:endParaRPr sz="700" b="0">
              <a:solidFill>
                <a:srgbClr val="66758A"/>
              </a:solidFill>
              <a:latin typeface="Aptos"/>
            </a:endParaRPr>
          </a:p>
        </p:txBody>
      </p:sp>
      <p:cxnSp>
        <p:nvCxnSpPr>
          <p:cNvPr id="44" name="Connector 43"/>
          <p:cNvCxnSpPr/>
          <p:nvPr/>
        </p:nvCxnSpPr>
        <p:spPr>
          <a:xfrm>
            <a:off x="3118103" y="2313432"/>
            <a:ext cx="246888" cy="0"/>
          </a:xfrm>
          <a:prstGeom prst="line">
            <a:avLst/>
          </a:prstGeom>
          <a:ln w="25400">
            <a:solidFill>
              <a:srgbClr val="67B7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3300984" y="2240280"/>
            <a:ext cx="64007" cy="73152"/>
          </a:xfrm>
          <a:prstGeom prst="line">
            <a:avLst/>
          </a:prstGeom>
          <a:ln w="25400">
            <a:solidFill>
              <a:srgbClr val="67B7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3300984" y="2313432"/>
            <a:ext cx="64007" cy="73152"/>
          </a:xfrm>
          <a:prstGeom prst="line">
            <a:avLst/>
          </a:prstGeom>
          <a:ln w="25400">
            <a:solidFill>
              <a:srgbClr val="67B7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/>
          <p:cNvSpPr/>
          <p:nvPr/>
        </p:nvSpPr>
        <p:spPr>
          <a:xfrm>
            <a:off x="3474720" y="1819656"/>
            <a:ext cx="2487168" cy="9875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3474720" y="1819656"/>
            <a:ext cx="2487168" cy="73152"/>
          </a:xfrm>
          <a:prstGeom prst="roundRect">
            <a:avLst>
              <a:gd name="adj" fmla="val 8000"/>
            </a:avLst>
          </a:prstGeom>
          <a:solidFill>
            <a:srgbClr val="159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3621024" y="2029968"/>
            <a:ext cx="347472" cy="347472"/>
          </a:xfrm>
          <a:prstGeom prst="ellipse">
            <a:avLst/>
          </a:prstGeom>
          <a:solidFill>
            <a:srgbClr val="159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621024" y="2139696"/>
            <a:ext cx="347472" cy="109728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50" b="1">
                <a:solidFill>
                  <a:srgbClr val="FFFFFF"/>
                </a:solidFill>
                <a:latin typeface="Aptos"/>
              </a:rPr>
              <a:t>02</a:t>
            </a:r>
            <a:endParaRPr sz="65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4087368" y="2011680"/>
            <a:ext cx="1645920" cy="182880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59E9A"/>
                </a:solidFill>
                <a:latin typeface="Aptos"/>
              </a:rPr>
              <a:t>INTERPRET</a:t>
            </a:r>
            <a:endParaRPr sz="900" b="1">
              <a:solidFill>
                <a:srgbClr val="159E9A"/>
              </a:solidFill>
              <a:latin typeface="Aptos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4087368" y="2286000"/>
            <a:ext cx="1691640" cy="256032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66758A"/>
                </a:solidFill>
                <a:latin typeface="Aptos"/>
              </a:rPr>
              <a:t>Behaviour • context • CX</a:t>
            </a:r>
            <a:endParaRPr sz="700" b="0">
              <a:solidFill>
                <a:srgbClr val="66758A"/>
              </a:solidFill>
              <a:latin typeface="Aptos"/>
            </a:endParaRPr>
          </a:p>
        </p:txBody>
      </p:sp>
      <p:cxnSp>
        <p:nvCxnSpPr>
          <p:cNvPr id="53" name="Connector 52"/>
          <p:cNvCxnSpPr/>
          <p:nvPr/>
        </p:nvCxnSpPr>
        <p:spPr>
          <a:xfrm>
            <a:off x="5998464" y="2313432"/>
            <a:ext cx="246888" cy="0"/>
          </a:xfrm>
          <a:prstGeom prst="line">
            <a:avLst/>
          </a:prstGeom>
          <a:ln w="25400">
            <a:solidFill>
              <a:srgbClr val="67B7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6181344" y="2240280"/>
            <a:ext cx="64008" cy="73152"/>
          </a:xfrm>
          <a:prstGeom prst="line">
            <a:avLst/>
          </a:prstGeom>
          <a:ln w="25400">
            <a:solidFill>
              <a:srgbClr val="67B7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6181344" y="2313432"/>
            <a:ext cx="64008" cy="73152"/>
          </a:xfrm>
          <a:prstGeom prst="line">
            <a:avLst/>
          </a:prstGeom>
          <a:ln w="25400">
            <a:solidFill>
              <a:srgbClr val="67B7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ounded Rectangle 55"/>
          <p:cNvSpPr/>
          <p:nvPr/>
        </p:nvSpPr>
        <p:spPr>
          <a:xfrm>
            <a:off x="6355080" y="1819656"/>
            <a:ext cx="2487168" cy="9875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6355080" y="1819656"/>
            <a:ext cx="2487168" cy="73152"/>
          </a:xfrm>
          <a:prstGeom prst="roundRect">
            <a:avLst>
              <a:gd name="adj" fmla="val 8000"/>
            </a:avLst>
          </a:prstGeom>
          <a:solidFill>
            <a:srgbClr val="765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6501384" y="2029968"/>
            <a:ext cx="347472" cy="347472"/>
          </a:xfrm>
          <a:prstGeom prst="ellipse">
            <a:avLst/>
          </a:prstGeom>
          <a:solidFill>
            <a:srgbClr val="765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501384" y="2139696"/>
            <a:ext cx="347472" cy="109728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50" b="1">
                <a:solidFill>
                  <a:srgbClr val="FFFFFF"/>
                </a:solidFill>
                <a:latin typeface="Aptos"/>
              </a:rPr>
              <a:t>03</a:t>
            </a:r>
            <a:endParaRPr sz="65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6967728" y="2011680"/>
            <a:ext cx="1645920" cy="182880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7656D6"/>
                </a:solidFill>
                <a:latin typeface="Aptos"/>
              </a:rPr>
              <a:t>COMPARE</a:t>
            </a:r>
            <a:endParaRPr sz="900" b="1">
              <a:solidFill>
                <a:srgbClr val="7656D6"/>
              </a:solidFill>
              <a:latin typeface="Aptos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6967728" y="2286000"/>
            <a:ext cx="1691640" cy="256032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66758A"/>
                </a:solidFill>
                <a:latin typeface="Aptos"/>
              </a:rPr>
              <a:t>Eligible actions • expected cost</a:t>
            </a:r>
            <a:endParaRPr sz="700" b="0">
              <a:solidFill>
                <a:srgbClr val="66758A"/>
              </a:solidFill>
              <a:latin typeface="Aptos"/>
            </a:endParaRPr>
          </a:p>
        </p:txBody>
      </p:sp>
      <p:cxnSp>
        <p:nvCxnSpPr>
          <p:cNvPr id="62" name="Connector 61"/>
          <p:cNvCxnSpPr/>
          <p:nvPr/>
        </p:nvCxnSpPr>
        <p:spPr>
          <a:xfrm>
            <a:off x="8878824" y="2313432"/>
            <a:ext cx="246888" cy="0"/>
          </a:xfrm>
          <a:prstGeom prst="line">
            <a:avLst/>
          </a:prstGeom>
          <a:ln w="25400">
            <a:solidFill>
              <a:srgbClr val="67B7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9061704" y="2240280"/>
            <a:ext cx="64008" cy="73152"/>
          </a:xfrm>
          <a:prstGeom prst="line">
            <a:avLst/>
          </a:prstGeom>
          <a:ln w="25400">
            <a:solidFill>
              <a:srgbClr val="67B7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9061704" y="2313432"/>
            <a:ext cx="64008" cy="73152"/>
          </a:xfrm>
          <a:prstGeom prst="line">
            <a:avLst/>
          </a:prstGeom>
          <a:ln w="25400">
            <a:solidFill>
              <a:srgbClr val="67B7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Rounded Rectangle 64"/>
          <p:cNvSpPr/>
          <p:nvPr/>
        </p:nvSpPr>
        <p:spPr>
          <a:xfrm>
            <a:off x="9235440" y="1819656"/>
            <a:ext cx="2487168" cy="9875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9235440" y="1819656"/>
            <a:ext cx="2487168" cy="73152"/>
          </a:xfrm>
          <a:prstGeom prst="roundRect">
            <a:avLst>
              <a:gd name="adj" fmla="val 8000"/>
            </a:avLst>
          </a:prstGeom>
          <a:solidFill>
            <a:srgbClr val="138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9381744" y="2029968"/>
            <a:ext cx="347472" cy="347472"/>
          </a:xfrm>
          <a:prstGeom prst="ellipse">
            <a:avLst/>
          </a:prstGeom>
          <a:solidFill>
            <a:srgbClr val="138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381744" y="2139696"/>
            <a:ext cx="347472" cy="109728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50" b="1">
                <a:solidFill>
                  <a:srgbClr val="FFFFFF"/>
                </a:solidFill>
                <a:latin typeface="Aptos"/>
              </a:rPr>
              <a:t>04</a:t>
            </a:r>
            <a:endParaRPr sz="65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9848088" y="2011680"/>
            <a:ext cx="1645920" cy="182880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3834B"/>
                </a:solidFill>
                <a:latin typeface="Aptos"/>
              </a:rPr>
              <a:t>CONTROL</a:t>
            </a:r>
            <a:endParaRPr sz="900" b="1">
              <a:solidFill>
                <a:srgbClr val="13834B"/>
              </a:solidFill>
              <a:latin typeface="Aptos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9848088" y="2286000"/>
            <a:ext cx="1691640" cy="256032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66758A"/>
                </a:solidFill>
                <a:latin typeface="Aptos"/>
              </a:rPr>
              <a:t>Policy gates • audit trail</a:t>
            </a:r>
            <a:endParaRPr sz="700" b="0">
              <a:solidFill>
                <a:srgbClr val="66758A"/>
              </a:solidFill>
              <a:latin typeface="Aptos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594360" y="3054096"/>
            <a:ext cx="3840480" cy="182880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459D3"/>
                </a:solidFill>
                <a:latin typeface="Aptos"/>
              </a:rPr>
              <a:t>SIX CAPABILITIES → BUSINESS VALUE</a:t>
            </a:r>
            <a:endParaRPr sz="900" b="1">
              <a:solidFill>
                <a:srgbClr val="2459D3"/>
              </a:solidFill>
              <a:latin typeface="Aptos"/>
            </a:endParaRPr>
          </a:p>
        </p:txBody>
      </p:sp>
      <p:sp>
        <p:nvSpPr>
          <p:cNvPr id="72" name="Rounded Rectangle 71"/>
          <p:cNvSpPr/>
          <p:nvPr/>
        </p:nvSpPr>
        <p:spPr>
          <a:xfrm>
            <a:off x="594360" y="3401568"/>
            <a:ext cx="2395728" cy="87782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594360" y="3401568"/>
            <a:ext cx="64008" cy="877824"/>
          </a:xfrm>
          <a:prstGeom prst="roundRect">
            <a:avLst>
              <a:gd name="adj" fmla="val 8000"/>
            </a:avLst>
          </a:prstGeom>
          <a:solidFill>
            <a:srgbClr val="2459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758952" y="3557016"/>
            <a:ext cx="292608" cy="292608"/>
          </a:xfrm>
          <a:prstGeom prst="ellipse">
            <a:avLst/>
          </a:prstGeom>
          <a:solidFill>
            <a:srgbClr val="E7F0FF"/>
          </a:solidFill>
          <a:ln w="12700">
            <a:solidFill>
              <a:srgbClr val="245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58952" y="3648456"/>
            <a:ext cx="292608" cy="91440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1">
                <a:solidFill>
                  <a:srgbClr val="2459D3"/>
                </a:solidFill>
                <a:latin typeface="Aptos"/>
              </a:rPr>
              <a:t>01</a:t>
            </a:r>
            <a:endParaRPr sz="600" b="1">
              <a:solidFill>
                <a:srgbClr val="2459D3"/>
              </a:solidFill>
              <a:latin typeface="Aptos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1161288" y="3529584"/>
            <a:ext cx="1664208" cy="256032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2459D3"/>
                </a:solidFill>
                <a:latin typeface="Aptos"/>
              </a:rPr>
              <a:t>EVIDENCE INTELLIGENCE</a:t>
            </a:r>
            <a:endParaRPr sz="800" b="1">
              <a:solidFill>
                <a:srgbClr val="2459D3"/>
              </a:solidFill>
              <a:latin typeface="Aptos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758952" y="3904488"/>
            <a:ext cx="2084831" cy="246888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66758A"/>
                </a:solidFill>
                <a:latin typeface="Aptos"/>
              </a:rPr>
              <a:t>Image quality • similarity • source provenance</a:t>
            </a:r>
            <a:endParaRPr sz="700" b="0">
              <a:solidFill>
                <a:srgbClr val="66758A"/>
              </a:solidFill>
              <a:latin typeface="Aptos"/>
            </a:endParaRPr>
          </a:p>
        </p:txBody>
      </p:sp>
      <p:sp>
        <p:nvSpPr>
          <p:cNvPr id="78" name="Rounded Rectangle 77"/>
          <p:cNvSpPr/>
          <p:nvPr/>
        </p:nvSpPr>
        <p:spPr>
          <a:xfrm>
            <a:off x="3264408" y="3401568"/>
            <a:ext cx="2395728" cy="87782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79" name="Rounded Rectangle 78"/>
          <p:cNvSpPr/>
          <p:nvPr/>
        </p:nvSpPr>
        <p:spPr>
          <a:xfrm>
            <a:off x="3264408" y="3401568"/>
            <a:ext cx="64008" cy="877824"/>
          </a:xfrm>
          <a:prstGeom prst="roundRect">
            <a:avLst>
              <a:gd name="adj" fmla="val 8000"/>
            </a:avLst>
          </a:prstGeom>
          <a:solidFill>
            <a:srgbClr val="159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3429000" y="3557016"/>
            <a:ext cx="292608" cy="292608"/>
          </a:xfrm>
          <a:prstGeom prst="ellipse">
            <a:avLst/>
          </a:prstGeom>
          <a:solidFill>
            <a:srgbClr val="E1F6F4"/>
          </a:solidFill>
          <a:ln w="12700">
            <a:solidFill>
              <a:srgbClr val="159E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3429000" y="3648456"/>
            <a:ext cx="292608" cy="91440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1">
                <a:solidFill>
                  <a:srgbClr val="159E9A"/>
                </a:solidFill>
                <a:latin typeface="Aptos"/>
              </a:rPr>
              <a:t>02</a:t>
            </a:r>
            <a:endParaRPr sz="600" b="1">
              <a:solidFill>
                <a:srgbClr val="159E9A"/>
              </a:solidFill>
              <a:latin typeface="Aptos"/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3831335" y="3529584"/>
            <a:ext cx="1664208" cy="256032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59E9A"/>
                </a:solidFill>
                <a:latin typeface="Aptos"/>
              </a:rPr>
              <a:t>BEHAVIOURAL RISK</a:t>
            </a:r>
            <a:endParaRPr sz="800" b="1">
              <a:solidFill>
                <a:srgbClr val="159E9A"/>
              </a:solidFill>
              <a:latin typeface="Aptos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3429000" y="3904488"/>
            <a:ext cx="2084831" cy="246888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66758A"/>
                </a:solidFill>
                <a:latin typeface="Aptos"/>
              </a:rPr>
              <a:t>Rolling 30 / 90 / 180-day patterns</a:t>
            </a:r>
            <a:endParaRPr sz="700" b="0">
              <a:solidFill>
                <a:srgbClr val="66758A"/>
              </a:solidFill>
              <a:latin typeface="Aptos"/>
            </a:endParaRPr>
          </a:p>
        </p:txBody>
      </p:sp>
      <p:sp>
        <p:nvSpPr>
          <p:cNvPr id="84" name="Rounded Rectangle 83"/>
          <p:cNvSpPr/>
          <p:nvPr/>
        </p:nvSpPr>
        <p:spPr>
          <a:xfrm>
            <a:off x="5934456" y="3401568"/>
            <a:ext cx="2395728" cy="87782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85" name="Rounded Rectangle 84"/>
          <p:cNvSpPr/>
          <p:nvPr/>
        </p:nvSpPr>
        <p:spPr>
          <a:xfrm>
            <a:off x="5934456" y="3401568"/>
            <a:ext cx="64008" cy="877824"/>
          </a:xfrm>
          <a:prstGeom prst="roundRect">
            <a:avLst>
              <a:gd name="adj" fmla="val 8000"/>
            </a:avLst>
          </a:prstGeom>
          <a:solidFill>
            <a:srgbClr val="E96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6099048" y="3557016"/>
            <a:ext cx="292608" cy="292608"/>
          </a:xfrm>
          <a:prstGeom prst="ellipse">
            <a:avLst/>
          </a:prstGeom>
          <a:solidFill>
            <a:srgbClr val="FCE9E6"/>
          </a:solidFill>
          <a:ln w="12700">
            <a:solidFill>
              <a:srgbClr val="E966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099048" y="3648456"/>
            <a:ext cx="292608" cy="91440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1">
                <a:solidFill>
                  <a:srgbClr val="E9665B"/>
                </a:solidFill>
                <a:latin typeface="Aptos"/>
              </a:rPr>
              <a:t>03</a:t>
            </a:r>
            <a:endParaRPr sz="600" b="1">
              <a:solidFill>
                <a:srgbClr val="E9665B"/>
              </a:solidFill>
              <a:latin typeface="Aptos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6501384" y="3529584"/>
            <a:ext cx="1664208" cy="256032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E9665B"/>
                </a:solidFill>
                <a:latin typeface="Aptos"/>
              </a:rPr>
              <a:t>ABUSE PATTERNS</a:t>
            </a:r>
            <a:endParaRPr sz="800" b="1">
              <a:solidFill>
                <a:srgbClr val="E9665B"/>
              </a:solidFill>
              <a:latin typeface="Aptos"/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6099048" y="3904488"/>
            <a:ext cx="2084831" cy="246888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66758A"/>
                </a:solidFill>
                <a:latin typeface="Aptos"/>
              </a:rPr>
              <a:t>Five deterministic, repeatable rule families</a:t>
            </a:r>
            <a:endParaRPr sz="700" b="0">
              <a:solidFill>
                <a:srgbClr val="66758A"/>
              </a:solidFill>
              <a:latin typeface="Aptos"/>
            </a:endParaRPr>
          </a:p>
        </p:txBody>
      </p:sp>
      <p:sp>
        <p:nvSpPr>
          <p:cNvPr id="90" name="Rounded Rectangle 89"/>
          <p:cNvSpPr/>
          <p:nvPr/>
        </p:nvSpPr>
        <p:spPr>
          <a:xfrm>
            <a:off x="594360" y="4453128"/>
            <a:ext cx="2395728" cy="87782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91" name="Rounded Rectangle 90"/>
          <p:cNvSpPr/>
          <p:nvPr/>
        </p:nvSpPr>
        <p:spPr>
          <a:xfrm>
            <a:off x="594360" y="4453128"/>
            <a:ext cx="64008" cy="877824"/>
          </a:xfrm>
          <a:prstGeom prst="roundRect">
            <a:avLst>
              <a:gd name="adj" fmla="val 8000"/>
            </a:avLst>
          </a:prstGeom>
          <a:solidFill>
            <a:srgbClr val="765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758952" y="4608576"/>
            <a:ext cx="292608" cy="292608"/>
          </a:xfrm>
          <a:prstGeom prst="ellipse">
            <a:avLst/>
          </a:prstGeom>
          <a:solidFill>
            <a:srgbClr val="ECE8FF"/>
          </a:solidFill>
          <a:ln w="12700">
            <a:solidFill>
              <a:srgbClr val="765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58952" y="4700016"/>
            <a:ext cx="292608" cy="91440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1">
                <a:solidFill>
                  <a:srgbClr val="7656D6"/>
                </a:solidFill>
                <a:latin typeface="Aptos"/>
              </a:rPr>
              <a:t>04</a:t>
            </a:r>
            <a:endParaRPr sz="600" b="1">
              <a:solidFill>
                <a:srgbClr val="7656D6"/>
              </a:solidFill>
              <a:latin typeface="Aptos"/>
            </a:endParaRPr>
          </a:p>
        </p:txBody>
      </p:sp>
      <p:sp>
        <p:nvSpPr>
          <p:cNvPr id="94" name="TextBox 93"/>
          <p:cNvSpPr txBox="1"/>
          <p:nvPr/>
        </p:nvSpPr>
        <p:spPr>
          <a:xfrm>
            <a:off x="1161288" y="4581144"/>
            <a:ext cx="1664208" cy="256032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7656D6"/>
                </a:solidFill>
                <a:latin typeface="Aptos"/>
              </a:rPr>
              <a:t>EXPECTED-COST ENGINE</a:t>
            </a:r>
            <a:endParaRPr sz="800" b="1">
              <a:solidFill>
                <a:srgbClr val="7656D6"/>
              </a:solidFill>
              <a:latin typeface="Aptos"/>
            </a:endParaRPr>
          </a:p>
        </p:txBody>
      </p:sp>
      <p:sp>
        <p:nvSpPr>
          <p:cNvPr id="95" name="TextBox 94"/>
          <p:cNvSpPr txBox="1"/>
          <p:nvPr/>
        </p:nvSpPr>
        <p:spPr>
          <a:xfrm>
            <a:off x="758952" y="4956048"/>
            <a:ext cx="2084831" cy="246888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66758A"/>
                </a:solidFill>
                <a:latin typeface="Aptos"/>
              </a:rPr>
              <a:t>Loss exposure + customer friction + handling</a:t>
            </a:r>
            <a:endParaRPr sz="700" b="0">
              <a:solidFill>
                <a:srgbClr val="66758A"/>
              </a:solidFill>
              <a:latin typeface="Aptos"/>
            </a:endParaRPr>
          </a:p>
        </p:txBody>
      </p:sp>
      <p:sp>
        <p:nvSpPr>
          <p:cNvPr id="96" name="Rounded Rectangle 95"/>
          <p:cNvSpPr/>
          <p:nvPr/>
        </p:nvSpPr>
        <p:spPr>
          <a:xfrm>
            <a:off x="3264408" y="4453128"/>
            <a:ext cx="2395728" cy="87782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97" name="Rounded Rectangle 96"/>
          <p:cNvSpPr/>
          <p:nvPr/>
        </p:nvSpPr>
        <p:spPr>
          <a:xfrm>
            <a:off x="3264408" y="4453128"/>
            <a:ext cx="64008" cy="877824"/>
          </a:xfrm>
          <a:prstGeom prst="roundRect">
            <a:avLst>
              <a:gd name="adj" fmla="val 8000"/>
            </a:avLst>
          </a:prstGeom>
          <a:solidFill>
            <a:srgbClr val="D69D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3429000" y="4608576"/>
            <a:ext cx="292608" cy="292608"/>
          </a:xfrm>
          <a:prstGeom prst="ellipse">
            <a:avLst/>
          </a:prstGeom>
          <a:solidFill>
            <a:srgbClr val="FFF4D8"/>
          </a:solidFill>
          <a:ln w="12700">
            <a:solidFill>
              <a:srgbClr val="D69D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3429000" y="4700016"/>
            <a:ext cx="292608" cy="91440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1">
                <a:solidFill>
                  <a:srgbClr val="D69D22"/>
                </a:solidFill>
                <a:latin typeface="Aptos"/>
              </a:rPr>
              <a:t>05</a:t>
            </a:r>
            <a:endParaRPr sz="600" b="1">
              <a:solidFill>
                <a:srgbClr val="D69D22"/>
              </a:solidFill>
              <a:latin typeface="Aptos"/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3831335" y="4581144"/>
            <a:ext cx="1664208" cy="256032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D69D22"/>
                </a:solidFill>
                <a:latin typeface="Aptos"/>
              </a:rPr>
              <a:t>CX PRIORITISATION</a:t>
            </a:r>
            <a:endParaRPr sz="800" b="1">
              <a:solidFill>
                <a:srgbClr val="D69D22"/>
              </a:solidFill>
              <a:latin typeface="Aptos"/>
            </a:endParaRPr>
          </a:p>
        </p:txBody>
      </p:sp>
      <p:sp>
        <p:nvSpPr>
          <p:cNvPr id="101" name="TextBox 100"/>
          <p:cNvSpPr txBox="1"/>
          <p:nvPr/>
        </p:nvSpPr>
        <p:spPr>
          <a:xfrm>
            <a:off x="3429000" y="4956048"/>
            <a:ext cx="2084831" cy="246888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66758A"/>
                </a:solidFill>
                <a:latin typeface="Aptos"/>
              </a:rPr>
              <a:t>Sentiment routes service urgency—not risk</a:t>
            </a:r>
            <a:endParaRPr sz="700" b="0">
              <a:solidFill>
                <a:srgbClr val="66758A"/>
              </a:solidFill>
              <a:latin typeface="Aptos"/>
            </a:endParaRPr>
          </a:p>
        </p:txBody>
      </p:sp>
      <p:sp>
        <p:nvSpPr>
          <p:cNvPr id="102" name="Rounded Rectangle 101"/>
          <p:cNvSpPr/>
          <p:nvPr/>
        </p:nvSpPr>
        <p:spPr>
          <a:xfrm>
            <a:off x="5934456" y="4453128"/>
            <a:ext cx="2395728" cy="87782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103" name="Rounded Rectangle 102"/>
          <p:cNvSpPr/>
          <p:nvPr/>
        </p:nvSpPr>
        <p:spPr>
          <a:xfrm>
            <a:off x="5934456" y="4453128"/>
            <a:ext cx="64008" cy="877824"/>
          </a:xfrm>
          <a:prstGeom prst="roundRect">
            <a:avLst>
              <a:gd name="adj" fmla="val 8000"/>
            </a:avLst>
          </a:prstGeom>
          <a:solidFill>
            <a:srgbClr val="138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6099048" y="4608576"/>
            <a:ext cx="292608" cy="292608"/>
          </a:xfrm>
          <a:prstGeom prst="ellipse">
            <a:avLst/>
          </a:prstGeom>
          <a:solidFill>
            <a:srgbClr val="DFF4E8"/>
          </a:solidFill>
          <a:ln w="12700">
            <a:solidFill>
              <a:srgbClr val="138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099048" y="4700016"/>
            <a:ext cx="292608" cy="91440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1">
                <a:solidFill>
                  <a:srgbClr val="13834B"/>
                </a:solidFill>
                <a:latin typeface="Aptos"/>
              </a:rPr>
              <a:t>06</a:t>
            </a:r>
            <a:endParaRPr sz="600" b="1">
              <a:solidFill>
                <a:srgbClr val="13834B"/>
              </a:solidFill>
              <a:latin typeface="Aptos"/>
            </a:endParaRPr>
          </a:p>
        </p:txBody>
      </p:sp>
      <p:sp>
        <p:nvSpPr>
          <p:cNvPr id="106" name="TextBox 105"/>
          <p:cNvSpPr txBox="1"/>
          <p:nvPr/>
        </p:nvSpPr>
        <p:spPr>
          <a:xfrm>
            <a:off x="6501384" y="4581144"/>
            <a:ext cx="1664208" cy="256032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3834B"/>
                </a:solidFill>
                <a:latin typeface="Aptos"/>
              </a:rPr>
              <a:t>POLICY GUARDRAILS</a:t>
            </a:r>
            <a:endParaRPr sz="800" b="1">
              <a:solidFill>
                <a:srgbClr val="13834B"/>
              </a:solidFill>
              <a:latin typeface="Aptos"/>
            </a:endParaRPr>
          </a:p>
        </p:txBody>
      </p:sp>
      <p:sp>
        <p:nvSpPr>
          <p:cNvPr id="107" name="TextBox 106"/>
          <p:cNvSpPr txBox="1"/>
          <p:nvPr/>
        </p:nvSpPr>
        <p:spPr>
          <a:xfrm>
            <a:off x="6099048" y="4956048"/>
            <a:ext cx="2084831" cy="246888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66758A"/>
                </a:solidFill>
                <a:latin typeface="Aptos"/>
              </a:rPr>
              <a:t>Hard eligibility checks + manual fallback</a:t>
            </a:r>
            <a:endParaRPr sz="700" b="0">
              <a:solidFill>
                <a:srgbClr val="66758A"/>
              </a:solidFill>
              <a:latin typeface="Aptos"/>
            </a:endParaRPr>
          </a:p>
        </p:txBody>
      </p:sp>
      <p:sp>
        <p:nvSpPr>
          <p:cNvPr id="108" name="Rounded Rectangle 107"/>
          <p:cNvSpPr/>
          <p:nvPr/>
        </p:nvSpPr>
        <p:spPr>
          <a:xfrm>
            <a:off x="8823960" y="3401568"/>
            <a:ext cx="2761488" cy="1938528"/>
          </a:xfrm>
          <a:prstGeom prst="roundRect">
            <a:avLst>
              <a:gd name="adj" fmla="val 8000"/>
            </a:avLst>
          </a:prstGeom>
          <a:solidFill>
            <a:srgbClr val="102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9052560" y="3611880"/>
            <a:ext cx="2286000" cy="182880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67B7E8"/>
                </a:solidFill>
                <a:latin typeface="Aptos"/>
              </a:rPr>
              <a:t>BUSINESS IMPACT</a:t>
            </a:r>
            <a:endParaRPr sz="900" b="1">
              <a:solidFill>
                <a:srgbClr val="67B7E8"/>
              </a:solidFill>
              <a:latin typeface="Aptos"/>
            </a:endParaRPr>
          </a:p>
        </p:txBody>
      </p:sp>
      <p:sp>
        <p:nvSpPr>
          <p:cNvPr id="110" name="Oval 109"/>
          <p:cNvSpPr/>
          <p:nvPr/>
        </p:nvSpPr>
        <p:spPr>
          <a:xfrm>
            <a:off x="9052560" y="3931920"/>
            <a:ext cx="210312" cy="210312"/>
          </a:xfrm>
          <a:prstGeom prst="ellipse">
            <a:avLst/>
          </a:prstGeom>
          <a:solidFill>
            <a:srgbClr val="E96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9052560" y="3973068"/>
            <a:ext cx="210312" cy="91440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↓</a:t>
            </a:r>
            <a:endParaRPr sz="7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12" name="TextBox 111"/>
          <p:cNvSpPr txBox="1"/>
          <p:nvPr/>
        </p:nvSpPr>
        <p:spPr>
          <a:xfrm>
            <a:off x="9400032" y="3973068"/>
            <a:ext cx="1874519" cy="128016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50" b="1">
                <a:solidFill>
                  <a:srgbClr val="FFFFFF"/>
                </a:solidFill>
                <a:latin typeface="Aptos"/>
              </a:rPr>
              <a:t>Avoidable loss</a:t>
            </a:r>
            <a:endParaRPr sz="65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13" name="Oval 112"/>
          <p:cNvSpPr/>
          <p:nvPr/>
        </p:nvSpPr>
        <p:spPr>
          <a:xfrm>
            <a:off x="9052560" y="4261104"/>
            <a:ext cx="210312" cy="210312"/>
          </a:xfrm>
          <a:prstGeom prst="ellipse">
            <a:avLst/>
          </a:prstGeom>
          <a:solidFill>
            <a:srgbClr val="2459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9052560" y="4302252"/>
            <a:ext cx="210312" cy="91440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↗</a:t>
            </a:r>
            <a:endParaRPr sz="7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15" name="TextBox 114"/>
          <p:cNvSpPr txBox="1"/>
          <p:nvPr/>
        </p:nvSpPr>
        <p:spPr>
          <a:xfrm>
            <a:off x="9400032" y="4302252"/>
            <a:ext cx="1874519" cy="128016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50" b="1">
                <a:solidFill>
                  <a:srgbClr val="FFFFFF"/>
                </a:solidFill>
                <a:latin typeface="Aptos"/>
              </a:rPr>
              <a:t>Review precision</a:t>
            </a:r>
            <a:endParaRPr sz="65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16" name="Oval 115"/>
          <p:cNvSpPr/>
          <p:nvPr/>
        </p:nvSpPr>
        <p:spPr>
          <a:xfrm>
            <a:off x="9052560" y="4590288"/>
            <a:ext cx="210312" cy="210312"/>
          </a:xfrm>
          <a:prstGeom prst="ellipse">
            <a:avLst/>
          </a:prstGeom>
          <a:solidFill>
            <a:srgbClr val="138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9052560" y="4631436"/>
            <a:ext cx="210312" cy="91440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✓</a:t>
            </a:r>
            <a:endParaRPr sz="7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18" name="TextBox 117"/>
          <p:cNvSpPr txBox="1"/>
          <p:nvPr/>
        </p:nvSpPr>
        <p:spPr>
          <a:xfrm>
            <a:off x="9400032" y="4631436"/>
            <a:ext cx="1874519" cy="128016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50" b="1">
                <a:solidFill>
                  <a:srgbClr val="FFFFFF"/>
                </a:solidFill>
                <a:latin typeface="Aptos"/>
              </a:rPr>
              <a:t>Decision traceability</a:t>
            </a:r>
            <a:endParaRPr sz="65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19" name="Oval 118"/>
          <p:cNvSpPr/>
          <p:nvPr/>
        </p:nvSpPr>
        <p:spPr>
          <a:xfrm>
            <a:off x="9052560" y="4919472"/>
            <a:ext cx="210312" cy="210312"/>
          </a:xfrm>
          <a:prstGeom prst="ellipse">
            <a:avLst/>
          </a:prstGeom>
          <a:solidFill>
            <a:srgbClr val="765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9052560" y="4960620"/>
            <a:ext cx="210312" cy="91440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↻</a:t>
            </a:r>
            <a:endParaRPr sz="7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21" name="TextBox 120"/>
          <p:cNvSpPr txBox="1"/>
          <p:nvPr/>
        </p:nvSpPr>
        <p:spPr>
          <a:xfrm>
            <a:off x="9400032" y="4960620"/>
            <a:ext cx="1874519" cy="128016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50" b="1">
                <a:solidFill>
                  <a:srgbClr val="FFFFFF"/>
                </a:solidFill>
                <a:latin typeface="Aptos"/>
              </a:rPr>
              <a:t>Prevention learning</a:t>
            </a:r>
            <a:endParaRPr sz="65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22" name="Rounded Rectangle 121"/>
          <p:cNvSpPr/>
          <p:nvPr/>
        </p:nvSpPr>
        <p:spPr>
          <a:xfrm>
            <a:off x="594360" y="5605272"/>
            <a:ext cx="10991088" cy="438912"/>
          </a:xfrm>
          <a:prstGeom prst="roundRect">
            <a:avLst>
              <a:gd name="adj" fmla="val 7000"/>
            </a:avLst>
          </a:prstGeom>
          <a:solidFill>
            <a:srgbClr val="102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777240" y="5751576"/>
            <a:ext cx="1554480" cy="118872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67B7E8"/>
                </a:solidFill>
                <a:latin typeface="Aptos"/>
              </a:rPr>
              <a:t>CAPABILITY → OUTCOME</a:t>
            </a:r>
            <a:endParaRPr sz="700" b="1">
              <a:solidFill>
                <a:srgbClr val="67B7E8"/>
              </a:solidFill>
              <a:latin typeface="Aptos"/>
            </a:endParaRPr>
          </a:p>
        </p:txBody>
      </p:sp>
      <p:sp>
        <p:nvSpPr>
          <p:cNvPr id="124" name="TextBox 123"/>
          <p:cNvSpPr txBox="1"/>
          <p:nvPr/>
        </p:nvSpPr>
        <p:spPr>
          <a:xfrm>
            <a:off x="2423160" y="5733288"/>
            <a:ext cx="8869680" cy="146304"/>
          </a:xfrm>
          <a:prstGeom prst="rect">
            <a:avLst/>
          </a:prstGeom>
          <a:noFill/>
        </p:spPr>
        <p:txBody>
          <a:bodyPr wrap="square" lIns="45720" tIns="22860" rIns="45720" bIns="2286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50" b="1">
                <a:solidFill>
                  <a:srgbClr val="FFFFFF"/>
                </a:solidFill>
                <a:latin typeface="Aptos"/>
              </a:rPr>
              <a:t>Evidence provenance → reason codes → eligible actions → review queue → intervention learning</a:t>
            </a:r>
            <a:endParaRPr sz="650" b="1">
              <a:solidFill>
                <a:srgbClr val="FFFFFF"/>
              </a:solidFill>
              <a:latin typeface="Aptos"/>
            </a:endParaRPr>
          </a:p>
        </p:txBody>
      </p:sp>
      <p:pic>
        <p:nvPicPr>
          <p:cNvPr id="125" name="Picture 124" descr="image(20261024-111450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0747" y="195932"/>
            <a:ext cx="1645834" cy="46759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38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01168"/>
            <a:ext cx="7315200" cy="182880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3834B"/>
                </a:solidFill>
                <a:latin typeface="Aptos"/>
              </a:rPr>
              <a:t>REFUND INTELLIGENCE     /     EVOLUTION</a:t>
            </a:r>
            <a:endParaRPr sz="800" b="1" i="0">
              <a:solidFill>
                <a:srgbClr val="13834B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38912" y="502920"/>
            <a:ext cx="11247120" cy="576072"/>
          </a:xfrm>
          <a:prstGeom prst="rect">
            <a:avLst/>
          </a:prstGeom>
          <a:noFill/>
        </p:spPr>
        <p:txBody>
          <a:bodyPr wrap="square" lIns="45720" tIns="22860" rIns="45720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02344"/>
                </a:solidFill>
                <a:latin typeface="Aptos Display"/>
              </a:rPr>
              <a:t>From static refund rules to expected-cost intelligence</a:t>
            </a:r>
            <a:endParaRPr sz="2600" b="1" i="0">
              <a:solidFill>
                <a:srgbClr val="102344"/>
              </a:solidFill>
              <a:latin typeface="Aptos Display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1115568"/>
            <a:ext cx="10972800" cy="256032"/>
          </a:xfrm>
          <a:prstGeom prst="rect">
            <a:avLst/>
          </a:prstGeom>
          <a:noFill/>
        </p:spPr>
        <p:txBody>
          <a:bodyPr wrap="square" lIns="45720" tIns="22860" rIns="45720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758A"/>
                </a:solidFill>
                <a:latin typeface="Aptos"/>
              </a:rPr>
              <a:t>A maturity path for refund operations—what changes at each stage, and what the prototype adds.</a:t>
            </a:r>
            <a:endParaRPr sz="1000" b="0" i="0">
              <a:solidFill>
                <a:srgbClr val="66758A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347472" cy="155448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650" b="1" i="0">
                <a:solidFill>
                  <a:srgbClr val="13834B"/>
                </a:solidFill>
                <a:latin typeface="Aptos"/>
              </a:rPr>
              <a:t>05</a:t>
            </a:r>
            <a:endParaRPr sz="650" b="1" i="0">
              <a:solidFill>
                <a:srgbClr val="13834B"/>
              </a:solidFill>
              <a:latin typeface="Aptos"/>
            </a:endParaRPr>
          </a:p>
        </p:txBody>
      </p:sp>
      <p:sp>
        <p:nvSpPr>
          <p:cNvPr id="7" name="Oval 6"/>
          <p:cNvSpPr/>
          <p:nvPr/>
        </p:nvSpPr>
        <p:spPr>
          <a:xfrm>
            <a:off x="457200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66928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76656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86384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96112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5840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15568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225295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335024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444752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554480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664207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773936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883664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993391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103120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212848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322576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432304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542032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651760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761488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871215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980944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3090672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200400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3310128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419856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3529584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3639312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2648" y="1536192"/>
            <a:ext cx="1371600" cy="164592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3834B"/>
                </a:solidFill>
                <a:latin typeface="Aptos"/>
              </a:rPr>
              <a:t>MATURITY  →</a:t>
            </a:r>
            <a:endParaRPr sz="800" b="1">
              <a:solidFill>
                <a:srgbClr val="13834B"/>
              </a:solidFill>
              <a:latin typeface="Aptos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217920" y="1536192"/>
            <a:ext cx="5303520" cy="164592"/>
          </a:xfrm>
          <a:prstGeom prst="rect">
            <a:avLst/>
          </a:prstGeom>
          <a:noFill/>
        </p:spPr>
        <p:txBody>
          <a:bodyPr wrap="square" lIns="45720" tIns="22860" rIns="45720" bIns="22860" anchor="t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2459D3"/>
                </a:solidFill>
                <a:latin typeface="Aptos"/>
              </a:rPr>
              <a:t>MORE CONTEXT  •  BETTER DECISIONS  •  MEASURED PREVENTION</a:t>
            </a:r>
            <a:endParaRPr sz="800" b="1">
              <a:solidFill>
                <a:srgbClr val="2459D3"/>
              </a:solidFill>
              <a:latin typeface="Aptos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557784" y="2624328"/>
            <a:ext cx="2057400" cy="2377440"/>
          </a:xfrm>
          <a:prstGeom prst="roundRect">
            <a:avLst>
              <a:gd name="adj" fmla="val 8000"/>
            </a:avLst>
          </a:prstGeom>
          <a:solidFill>
            <a:srgbClr val="E4E9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502920" y="2551176"/>
            <a:ext cx="2057400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02920" y="2551176"/>
            <a:ext cx="2057400" cy="109728"/>
          </a:xfrm>
          <a:prstGeom prst="rect">
            <a:avLst/>
          </a:prstGeom>
          <a:solidFill>
            <a:srgbClr val="334A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49224" y="2798064"/>
            <a:ext cx="438912" cy="438912"/>
          </a:xfrm>
          <a:prstGeom prst="ellipse">
            <a:avLst/>
          </a:prstGeom>
          <a:solidFill>
            <a:srgbClr val="334A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9224" y="2935224"/>
            <a:ext cx="438912" cy="118872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50" b="1">
                <a:solidFill>
                  <a:srgbClr val="FFFFFF"/>
                </a:solidFill>
                <a:latin typeface="Aptos"/>
              </a:rPr>
              <a:t>01</a:t>
            </a:r>
            <a:endParaRPr sz="65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649224" y="3383280"/>
            <a:ext cx="1773936" cy="411480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334A67"/>
                </a:solidFill>
                <a:latin typeface="Aptos"/>
              </a:rPr>
              <a:t>STATIC RULES</a:t>
            </a:r>
            <a:endParaRPr sz="900" b="1">
              <a:solidFill>
                <a:srgbClr val="334A67"/>
              </a:solidFill>
              <a:latin typeface="Aptos"/>
            </a:endParaRPr>
          </a:p>
        </p:txBody>
      </p:sp>
      <p:cxnSp>
        <p:nvCxnSpPr>
          <p:cNvPr id="45" name="Connector 44"/>
          <p:cNvCxnSpPr/>
          <p:nvPr/>
        </p:nvCxnSpPr>
        <p:spPr>
          <a:xfrm>
            <a:off x="649224" y="3877056"/>
            <a:ext cx="1700784" cy="0"/>
          </a:xfrm>
          <a:prstGeom prst="line">
            <a:avLst/>
          </a:prstGeom>
          <a:ln w="10160">
            <a:solidFill>
              <a:srgbClr val="D9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649224" y="4041648"/>
            <a:ext cx="1755648" cy="530352"/>
          </a:xfrm>
          <a:prstGeom prst="rect">
            <a:avLst/>
          </a:prstGeom>
          <a:noFill/>
        </p:spPr>
        <p:txBody>
          <a:bodyPr wrap="square" lIns="45720" tIns="22860" rIns="45720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66758A"/>
                </a:solidFill>
                <a:latin typeface="Aptos"/>
              </a:rPr>
              <a:t>Fixed thresholds
Manual investigation</a:t>
            </a:r>
            <a:endParaRPr sz="750" b="0">
              <a:solidFill>
                <a:srgbClr val="66758A"/>
              </a:solidFill>
              <a:latin typeface="Aptos"/>
            </a:endParaRPr>
          </a:p>
        </p:txBody>
      </p:sp>
      <p:sp>
        <p:nvSpPr>
          <p:cNvPr id="47" name="Rounded Rectangle 46"/>
          <p:cNvSpPr/>
          <p:nvPr/>
        </p:nvSpPr>
        <p:spPr>
          <a:xfrm>
            <a:off x="621792" y="4261104"/>
            <a:ext cx="1819656" cy="420624"/>
          </a:xfrm>
          <a:prstGeom prst="roundRect">
            <a:avLst>
              <a:gd name="adj" fmla="val 8000"/>
            </a:avLst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85800" y="4389120"/>
            <a:ext cx="1691640" cy="164592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334A67"/>
                </a:solidFill>
                <a:latin typeface="Aptos"/>
              </a:rPr>
              <a:t>Reactive • siloed signals</a:t>
            </a:r>
            <a:endParaRPr sz="700" b="1">
              <a:solidFill>
                <a:srgbClr val="334A67"/>
              </a:solidFill>
              <a:latin typeface="Aptos"/>
            </a:endParaRPr>
          </a:p>
        </p:txBody>
      </p:sp>
      <p:cxnSp>
        <p:nvCxnSpPr>
          <p:cNvPr id="49" name="Connector 48"/>
          <p:cNvCxnSpPr/>
          <p:nvPr/>
        </p:nvCxnSpPr>
        <p:spPr>
          <a:xfrm>
            <a:off x="2587752" y="3145536"/>
            <a:ext cx="210311" cy="0"/>
          </a:xfrm>
          <a:prstGeom prst="line">
            <a:avLst/>
          </a:prstGeom>
          <a:ln w="27940">
            <a:solidFill>
              <a:srgbClr val="67B7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2724912" y="3072384"/>
            <a:ext cx="73151" cy="73152"/>
          </a:xfrm>
          <a:prstGeom prst="line">
            <a:avLst/>
          </a:prstGeom>
          <a:ln w="27940">
            <a:solidFill>
              <a:srgbClr val="67B7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2724912" y="3145536"/>
            <a:ext cx="73151" cy="73152"/>
          </a:xfrm>
          <a:prstGeom prst="line">
            <a:avLst/>
          </a:prstGeom>
          <a:ln w="27940">
            <a:solidFill>
              <a:srgbClr val="67B7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ounded Rectangle 51"/>
          <p:cNvSpPr/>
          <p:nvPr/>
        </p:nvSpPr>
        <p:spPr>
          <a:xfrm>
            <a:off x="2898648" y="2478024"/>
            <a:ext cx="2057400" cy="2523744"/>
          </a:xfrm>
          <a:prstGeom prst="roundRect">
            <a:avLst>
              <a:gd name="adj" fmla="val 8000"/>
            </a:avLst>
          </a:prstGeom>
          <a:solidFill>
            <a:srgbClr val="E4E9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2843784" y="2404872"/>
            <a:ext cx="2057400" cy="25237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2843784" y="2404872"/>
            <a:ext cx="2057400" cy="109728"/>
          </a:xfrm>
          <a:prstGeom prst="rect">
            <a:avLst/>
          </a:prstGeom>
          <a:solidFill>
            <a:srgbClr val="2459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2990088" y="2651760"/>
            <a:ext cx="438912" cy="438912"/>
          </a:xfrm>
          <a:prstGeom prst="ellipse">
            <a:avLst/>
          </a:prstGeom>
          <a:solidFill>
            <a:srgbClr val="2459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990088" y="2788920"/>
            <a:ext cx="438912" cy="118872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50" b="1">
                <a:solidFill>
                  <a:srgbClr val="FFFFFF"/>
                </a:solidFill>
                <a:latin typeface="Aptos"/>
              </a:rPr>
              <a:t>02</a:t>
            </a:r>
            <a:endParaRPr sz="65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2990088" y="3236976"/>
            <a:ext cx="1773936" cy="411480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459D3"/>
                </a:solidFill>
                <a:latin typeface="Aptos"/>
              </a:rPr>
              <a:t>DIGITAL WORKFLOW</a:t>
            </a:r>
            <a:endParaRPr sz="900" b="1">
              <a:solidFill>
                <a:srgbClr val="2459D3"/>
              </a:solidFill>
              <a:latin typeface="Aptos"/>
            </a:endParaRPr>
          </a:p>
        </p:txBody>
      </p:sp>
      <p:cxnSp>
        <p:nvCxnSpPr>
          <p:cNvPr id="58" name="Connector 57"/>
          <p:cNvCxnSpPr/>
          <p:nvPr/>
        </p:nvCxnSpPr>
        <p:spPr>
          <a:xfrm>
            <a:off x="2990088" y="3730752"/>
            <a:ext cx="1700784" cy="0"/>
          </a:xfrm>
          <a:prstGeom prst="line">
            <a:avLst/>
          </a:prstGeom>
          <a:ln w="10160">
            <a:solidFill>
              <a:srgbClr val="D9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2990088" y="3895344"/>
            <a:ext cx="1755648" cy="530352"/>
          </a:xfrm>
          <a:prstGeom prst="rect">
            <a:avLst/>
          </a:prstGeom>
          <a:noFill/>
        </p:spPr>
        <p:txBody>
          <a:bodyPr wrap="square" lIns="45720" tIns="22860" rIns="45720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66758A"/>
                </a:solidFill>
                <a:latin typeface="Aptos"/>
              </a:rPr>
              <a:t>Forms, queues
Basic dashboards</a:t>
            </a:r>
            <a:endParaRPr sz="750" b="0">
              <a:solidFill>
                <a:srgbClr val="66758A"/>
              </a:solidFill>
              <a:latin typeface="Aptos"/>
            </a:endParaRPr>
          </a:p>
        </p:txBody>
      </p:sp>
      <p:sp>
        <p:nvSpPr>
          <p:cNvPr id="60" name="Rounded Rectangle 59"/>
          <p:cNvSpPr/>
          <p:nvPr/>
        </p:nvSpPr>
        <p:spPr>
          <a:xfrm>
            <a:off x="2962656" y="4261104"/>
            <a:ext cx="1819656" cy="420624"/>
          </a:xfrm>
          <a:prstGeom prst="roundRect">
            <a:avLst>
              <a:gd name="adj" fmla="val 8000"/>
            </a:avLst>
          </a:prstGeom>
          <a:solidFill>
            <a:srgbClr val="E7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026664" y="4389120"/>
            <a:ext cx="1691640" cy="164592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2459D3"/>
                </a:solidFill>
                <a:latin typeface="Aptos"/>
              </a:rPr>
              <a:t>Faster handling</a:t>
            </a:r>
            <a:endParaRPr sz="700" b="1">
              <a:solidFill>
                <a:srgbClr val="2459D3"/>
              </a:solidFill>
              <a:latin typeface="Aptos"/>
            </a:endParaRPr>
          </a:p>
        </p:txBody>
      </p:sp>
      <p:cxnSp>
        <p:nvCxnSpPr>
          <p:cNvPr id="62" name="Connector 61"/>
          <p:cNvCxnSpPr/>
          <p:nvPr/>
        </p:nvCxnSpPr>
        <p:spPr>
          <a:xfrm>
            <a:off x="4928616" y="2999232"/>
            <a:ext cx="210312" cy="0"/>
          </a:xfrm>
          <a:prstGeom prst="line">
            <a:avLst/>
          </a:prstGeom>
          <a:ln w="27940">
            <a:solidFill>
              <a:srgbClr val="67B7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5065776" y="2926079"/>
            <a:ext cx="73152" cy="73153"/>
          </a:xfrm>
          <a:prstGeom prst="line">
            <a:avLst/>
          </a:prstGeom>
          <a:ln w="27940">
            <a:solidFill>
              <a:srgbClr val="67B7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5065776" y="2999232"/>
            <a:ext cx="73152" cy="73152"/>
          </a:xfrm>
          <a:prstGeom prst="line">
            <a:avLst/>
          </a:prstGeom>
          <a:ln w="27940">
            <a:solidFill>
              <a:srgbClr val="67B7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Rounded Rectangle 64"/>
          <p:cNvSpPr/>
          <p:nvPr/>
        </p:nvSpPr>
        <p:spPr>
          <a:xfrm>
            <a:off x="5239512" y="2331720"/>
            <a:ext cx="2057400" cy="2670048"/>
          </a:xfrm>
          <a:prstGeom prst="roundRect">
            <a:avLst>
              <a:gd name="adj" fmla="val 8000"/>
            </a:avLst>
          </a:prstGeom>
          <a:solidFill>
            <a:srgbClr val="E4E9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5184648" y="2258568"/>
            <a:ext cx="2057400" cy="26700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184648" y="2258568"/>
            <a:ext cx="2057400" cy="109728"/>
          </a:xfrm>
          <a:prstGeom prst="rect">
            <a:avLst/>
          </a:prstGeom>
          <a:solidFill>
            <a:srgbClr val="159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5330952" y="2505456"/>
            <a:ext cx="438912" cy="438912"/>
          </a:xfrm>
          <a:prstGeom prst="ellipse">
            <a:avLst/>
          </a:prstGeom>
          <a:solidFill>
            <a:srgbClr val="159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330952" y="2642615"/>
            <a:ext cx="438912" cy="118872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50" b="1">
                <a:solidFill>
                  <a:srgbClr val="FFFFFF"/>
                </a:solidFill>
                <a:latin typeface="Aptos"/>
              </a:rPr>
              <a:t>03</a:t>
            </a:r>
            <a:endParaRPr sz="65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5330952" y="3090672"/>
            <a:ext cx="1773936" cy="411480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59E9A"/>
                </a:solidFill>
                <a:latin typeface="Aptos"/>
              </a:rPr>
              <a:t>RISK INTELLIGENCE</a:t>
            </a:r>
            <a:endParaRPr sz="900" b="1">
              <a:solidFill>
                <a:srgbClr val="159E9A"/>
              </a:solidFill>
              <a:latin typeface="Aptos"/>
            </a:endParaRPr>
          </a:p>
        </p:txBody>
      </p:sp>
      <p:cxnSp>
        <p:nvCxnSpPr>
          <p:cNvPr id="71" name="Connector 70"/>
          <p:cNvCxnSpPr/>
          <p:nvPr/>
        </p:nvCxnSpPr>
        <p:spPr>
          <a:xfrm>
            <a:off x="5330952" y="3584448"/>
            <a:ext cx="1700784" cy="0"/>
          </a:xfrm>
          <a:prstGeom prst="line">
            <a:avLst/>
          </a:prstGeom>
          <a:ln w="10160">
            <a:solidFill>
              <a:srgbClr val="D9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5330952" y="3749039"/>
            <a:ext cx="1755648" cy="530352"/>
          </a:xfrm>
          <a:prstGeom prst="rect">
            <a:avLst/>
          </a:prstGeom>
          <a:noFill/>
        </p:spPr>
        <p:txBody>
          <a:bodyPr wrap="square" lIns="45720" tIns="22860" rIns="45720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66758A"/>
                </a:solidFill>
                <a:latin typeface="Aptos"/>
              </a:rPr>
              <a:t>Evidence + behaviour
Rolling 30 / 90 / 180d</a:t>
            </a:r>
            <a:endParaRPr sz="750" b="0">
              <a:solidFill>
                <a:srgbClr val="66758A"/>
              </a:solidFill>
              <a:latin typeface="Aptos"/>
            </a:endParaRPr>
          </a:p>
        </p:txBody>
      </p:sp>
      <p:sp>
        <p:nvSpPr>
          <p:cNvPr id="73" name="Rounded Rectangle 72"/>
          <p:cNvSpPr/>
          <p:nvPr/>
        </p:nvSpPr>
        <p:spPr>
          <a:xfrm>
            <a:off x="5303520" y="4261104"/>
            <a:ext cx="1819656" cy="420624"/>
          </a:xfrm>
          <a:prstGeom prst="roundRect">
            <a:avLst>
              <a:gd name="adj" fmla="val 8000"/>
            </a:avLst>
          </a:prstGeom>
          <a:solidFill>
            <a:srgbClr val="E1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367528" y="4389120"/>
            <a:ext cx="1691640" cy="164592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159E9A"/>
                </a:solidFill>
                <a:latin typeface="Aptos"/>
              </a:rPr>
              <a:t>Prioritised attention</a:t>
            </a:r>
            <a:endParaRPr sz="700" b="1">
              <a:solidFill>
                <a:srgbClr val="159E9A"/>
              </a:solidFill>
              <a:latin typeface="Aptos"/>
            </a:endParaRPr>
          </a:p>
        </p:txBody>
      </p:sp>
      <p:cxnSp>
        <p:nvCxnSpPr>
          <p:cNvPr id="75" name="Connector 74"/>
          <p:cNvCxnSpPr/>
          <p:nvPr/>
        </p:nvCxnSpPr>
        <p:spPr>
          <a:xfrm>
            <a:off x="7269479" y="2852927"/>
            <a:ext cx="210313" cy="0"/>
          </a:xfrm>
          <a:prstGeom prst="line">
            <a:avLst/>
          </a:prstGeom>
          <a:ln w="27940">
            <a:solidFill>
              <a:srgbClr val="67B7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7406640" y="2779775"/>
            <a:ext cx="73152" cy="73152"/>
          </a:xfrm>
          <a:prstGeom prst="line">
            <a:avLst/>
          </a:prstGeom>
          <a:ln w="27940">
            <a:solidFill>
              <a:srgbClr val="67B7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7406640" y="2852927"/>
            <a:ext cx="73152" cy="73152"/>
          </a:xfrm>
          <a:prstGeom prst="line">
            <a:avLst/>
          </a:prstGeom>
          <a:ln w="27940">
            <a:solidFill>
              <a:srgbClr val="67B7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Rounded Rectangle 77"/>
          <p:cNvSpPr/>
          <p:nvPr/>
        </p:nvSpPr>
        <p:spPr>
          <a:xfrm>
            <a:off x="7580376" y="2185416"/>
            <a:ext cx="2057400" cy="2816352"/>
          </a:xfrm>
          <a:prstGeom prst="roundRect">
            <a:avLst>
              <a:gd name="adj" fmla="val 8000"/>
            </a:avLst>
          </a:prstGeom>
          <a:solidFill>
            <a:srgbClr val="E4E9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79" name="Rounded Rectangle 78"/>
          <p:cNvSpPr/>
          <p:nvPr/>
        </p:nvSpPr>
        <p:spPr>
          <a:xfrm>
            <a:off x="7525512" y="2112264"/>
            <a:ext cx="2057400" cy="2816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525512" y="2112264"/>
            <a:ext cx="2057400" cy="109728"/>
          </a:xfrm>
          <a:prstGeom prst="rect">
            <a:avLst/>
          </a:prstGeom>
          <a:solidFill>
            <a:srgbClr val="138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7671816" y="2359152"/>
            <a:ext cx="438912" cy="438912"/>
          </a:xfrm>
          <a:prstGeom prst="ellipse">
            <a:avLst/>
          </a:prstGeom>
          <a:solidFill>
            <a:srgbClr val="138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7671816" y="2496312"/>
            <a:ext cx="438912" cy="118872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50" b="1">
                <a:solidFill>
                  <a:srgbClr val="FFFFFF"/>
                </a:solidFill>
                <a:latin typeface="Aptos"/>
              </a:rPr>
              <a:t>04</a:t>
            </a:r>
            <a:endParaRPr sz="65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7671816" y="2944368"/>
            <a:ext cx="1773936" cy="411480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3834B"/>
                </a:solidFill>
                <a:latin typeface="Aptos"/>
              </a:rPr>
              <a:t>EXPECTED-COST ENGINE</a:t>
            </a:r>
            <a:endParaRPr sz="900" b="1">
              <a:solidFill>
                <a:srgbClr val="13834B"/>
              </a:solidFill>
              <a:latin typeface="Aptos"/>
            </a:endParaRPr>
          </a:p>
        </p:txBody>
      </p:sp>
      <p:cxnSp>
        <p:nvCxnSpPr>
          <p:cNvPr id="84" name="Connector 83"/>
          <p:cNvCxnSpPr/>
          <p:nvPr/>
        </p:nvCxnSpPr>
        <p:spPr>
          <a:xfrm>
            <a:off x="7671816" y="3438144"/>
            <a:ext cx="1700784" cy="0"/>
          </a:xfrm>
          <a:prstGeom prst="line">
            <a:avLst/>
          </a:prstGeom>
          <a:ln w="10160">
            <a:solidFill>
              <a:srgbClr val="D9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TextBox 84"/>
          <p:cNvSpPr txBox="1"/>
          <p:nvPr/>
        </p:nvSpPr>
        <p:spPr>
          <a:xfrm>
            <a:off x="7671816" y="3602736"/>
            <a:ext cx="1755648" cy="530352"/>
          </a:xfrm>
          <a:prstGeom prst="rect">
            <a:avLst/>
          </a:prstGeom>
          <a:noFill/>
        </p:spPr>
        <p:txBody>
          <a:bodyPr wrap="square" lIns="45720" tIns="22860" rIns="45720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66758A"/>
                </a:solidFill>
                <a:latin typeface="Aptos"/>
              </a:rPr>
              <a:t>Compare eligible actions
Loss + CX + handling</a:t>
            </a:r>
            <a:endParaRPr sz="750" b="0">
              <a:solidFill>
                <a:srgbClr val="66758A"/>
              </a:solidFill>
              <a:latin typeface="Aptos"/>
            </a:endParaRPr>
          </a:p>
        </p:txBody>
      </p:sp>
      <p:sp>
        <p:nvSpPr>
          <p:cNvPr id="86" name="Rounded Rectangle 85"/>
          <p:cNvSpPr/>
          <p:nvPr/>
        </p:nvSpPr>
        <p:spPr>
          <a:xfrm>
            <a:off x="7644384" y="4261104"/>
            <a:ext cx="1819656" cy="420624"/>
          </a:xfrm>
          <a:prstGeom prst="roundRect">
            <a:avLst>
              <a:gd name="adj" fmla="val 8000"/>
            </a:avLst>
          </a:prstGeom>
          <a:solidFill>
            <a:srgbClr val="DFF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708392" y="4389120"/>
            <a:ext cx="1691640" cy="164592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13834B"/>
                </a:solidFill>
                <a:latin typeface="Aptos"/>
              </a:rPr>
              <a:t>Decision economics</a:t>
            </a:r>
            <a:endParaRPr sz="700" b="1">
              <a:solidFill>
                <a:srgbClr val="13834B"/>
              </a:solidFill>
              <a:latin typeface="Aptos"/>
            </a:endParaRPr>
          </a:p>
        </p:txBody>
      </p:sp>
      <p:cxnSp>
        <p:nvCxnSpPr>
          <p:cNvPr id="88" name="Connector 87"/>
          <p:cNvCxnSpPr/>
          <p:nvPr/>
        </p:nvCxnSpPr>
        <p:spPr>
          <a:xfrm>
            <a:off x="9610344" y="2706624"/>
            <a:ext cx="210312" cy="0"/>
          </a:xfrm>
          <a:prstGeom prst="line">
            <a:avLst/>
          </a:prstGeom>
          <a:ln w="27940">
            <a:solidFill>
              <a:srgbClr val="67B7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9747504" y="2633472"/>
            <a:ext cx="73152" cy="73152"/>
          </a:xfrm>
          <a:prstGeom prst="line">
            <a:avLst/>
          </a:prstGeom>
          <a:ln w="27940">
            <a:solidFill>
              <a:srgbClr val="67B7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9747504" y="2706624"/>
            <a:ext cx="73152" cy="73152"/>
          </a:xfrm>
          <a:prstGeom prst="line">
            <a:avLst/>
          </a:prstGeom>
          <a:ln w="27940">
            <a:solidFill>
              <a:srgbClr val="67B7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Rounded Rectangle 90"/>
          <p:cNvSpPr/>
          <p:nvPr/>
        </p:nvSpPr>
        <p:spPr>
          <a:xfrm>
            <a:off x="9921240" y="2039112"/>
            <a:ext cx="2057400" cy="2962656"/>
          </a:xfrm>
          <a:prstGeom prst="roundRect">
            <a:avLst>
              <a:gd name="adj" fmla="val 8000"/>
            </a:avLst>
          </a:prstGeom>
          <a:solidFill>
            <a:srgbClr val="E4E9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92" name="Rounded Rectangle 91"/>
          <p:cNvSpPr/>
          <p:nvPr/>
        </p:nvSpPr>
        <p:spPr>
          <a:xfrm>
            <a:off x="9866376" y="1965960"/>
            <a:ext cx="2057400" cy="29626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9866376" y="1965960"/>
            <a:ext cx="2057400" cy="109728"/>
          </a:xfrm>
          <a:prstGeom prst="rect">
            <a:avLst/>
          </a:prstGeom>
          <a:solidFill>
            <a:srgbClr val="765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10012680" y="2212848"/>
            <a:ext cx="438912" cy="438912"/>
          </a:xfrm>
          <a:prstGeom prst="ellipse">
            <a:avLst/>
          </a:prstGeom>
          <a:solidFill>
            <a:srgbClr val="765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0012680" y="2350008"/>
            <a:ext cx="438912" cy="118872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50" b="1">
                <a:solidFill>
                  <a:srgbClr val="FFFFFF"/>
                </a:solidFill>
                <a:latin typeface="Aptos"/>
              </a:rPr>
              <a:t>05</a:t>
            </a:r>
            <a:endParaRPr sz="65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10012680" y="2798064"/>
            <a:ext cx="1773936" cy="411480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7656D6"/>
                </a:solidFill>
                <a:latin typeface="Aptos"/>
              </a:rPr>
              <a:t>PREVENTION LOOP</a:t>
            </a:r>
            <a:endParaRPr sz="900" b="1">
              <a:solidFill>
                <a:srgbClr val="7656D6"/>
              </a:solidFill>
              <a:latin typeface="Aptos"/>
            </a:endParaRPr>
          </a:p>
        </p:txBody>
      </p:sp>
      <p:cxnSp>
        <p:nvCxnSpPr>
          <p:cNvPr id="97" name="Connector 96"/>
          <p:cNvCxnSpPr/>
          <p:nvPr/>
        </p:nvCxnSpPr>
        <p:spPr>
          <a:xfrm>
            <a:off x="10012680" y="3291839"/>
            <a:ext cx="1700784" cy="0"/>
          </a:xfrm>
          <a:prstGeom prst="line">
            <a:avLst/>
          </a:prstGeom>
          <a:ln w="10160">
            <a:solidFill>
              <a:srgbClr val="D9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TextBox 97"/>
          <p:cNvSpPr txBox="1"/>
          <p:nvPr/>
        </p:nvSpPr>
        <p:spPr>
          <a:xfrm>
            <a:off x="10012680" y="3456432"/>
            <a:ext cx="1755648" cy="530352"/>
          </a:xfrm>
          <a:prstGeom prst="rect">
            <a:avLst/>
          </a:prstGeom>
          <a:noFill/>
        </p:spPr>
        <p:txBody>
          <a:bodyPr wrap="square" lIns="45720" tIns="22860" rIns="45720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66758A"/>
                </a:solidFill>
                <a:latin typeface="Aptos"/>
              </a:rPr>
              <a:t>Product / vendor insights
Measure interventions</a:t>
            </a:r>
            <a:endParaRPr sz="750" b="0">
              <a:solidFill>
                <a:srgbClr val="66758A"/>
              </a:solidFill>
              <a:latin typeface="Aptos"/>
            </a:endParaRPr>
          </a:p>
        </p:txBody>
      </p:sp>
      <p:sp>
        <p:nvSpPr>
          <p:cNvPr id="99" name="Rounded Rectangle 98"/>
          <p:cNvSpPr/>
          <p:nvPr/>
        </p:nvSpPr>
        <p:spPr>
          <a:xfrm>
            <a:off x="9985248" y="4261104"/>
            <a:ext cx="1819656" cy="420624"/>
          </a:xfrm>
          <a:prstGeom prst="roundRect">
            <a:avLst>
              <a:gd name="adj" fmla="val 8000"/>
            </a:avLst>
          </a:prstGeom>
          <a:solidFill>
            <a:srgbClr val="EC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10049256" y="4389120"/>
            <a:ext cx="1691640" cy="164592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7656D6"/>
                </a:solidFill>
                <a:latin typeface="Aptos"/>
              </a:rPr>
              <a:t>Learn and improve</a:t>
            </a:r>
            <a:endParaRPr sz="700" b="1">
              <a:solidFill>
                <a:srgbClr val="7656D6"/>
              </a:solidFill>
              <a:latin typeface="Aptos"/>
            </a:endParaRPr>
          </a:p>
        </p:txBody>
      </p:sp>
      <p:cxnSp>
        <p:nvCxnSpPr>
          <p:cNvPr id="101" name="Connector 100"/>
          <p:cNvCxnSpPr/>
          <p:nvPr/>
        </p:nvCxnSpPr>
        <p:spPr>
          <a:xfrm>
            <a:off x="731520" y="5486273"/>
            <a:ext cx="10744200" cy="0"/>
          </a:xfrm>
          <a:prstGeom prst="line">
            <a:avLst/>
          </a:prstGeom>
          <a:ln w="16510">
            <a:solidFill>
              <a:srgbClr val="AAB9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Oval 101"/>
          <p:cNvSpPr/>
          <p:nvPr/>
        </p:nvSpPr>
        <p:spPr>
          <a:xfrm>
            <a:off x="777240" y="5321808"/>
            <a:ext cx="182880" cy="182880"/>
          </a:xfrm>
          <a:prstGeom prst="ellipse">
            <a:avLst/>
          </a:prstGeom>
          <a:solidFill>
            <a:srgbClr val="334A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1024128" y="5349240"/>
            <a:ext cx="1325880" cy="137160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334A67"/>
                </a:solidFill>
                <a:latin typeface="Aptos"/>
              </a:rPr>
              <a:t>MANUAL</a:t>
            </a:r>
            <a:endParaRPr sz="700" b="1">
              <a:solidFill>
                <a:srgbClr val="334A67"/>
              </a:solidFill>
              <a:latin typeface="Aptos"/>
            </a:endParaRPr>
          </a:p>
        </p:txBody>
      </p:sp>
      <p:sp>
        <p:nvSpPr>
          <p:cNvPr id="104" name="Oval 103"/>
          <p:cNvSpPr/>
          <p:nvPr/>
        </p:nvSpPr>
        <p:spPr>
          <a:xfrm>
            <a:off x="3108960" y="5321808"/>
            <a:ext cx="182880" cy="182880"/>
          </a:xfrm>
          <a:prstGeom prst="ellipse">
            <a:avLst/>
          </a:prstGeom>
          <a:solidFill>
            <a:srgbClr val="2459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3355848" y="5349240"/>
            <a:ext cx="1325880" cy="137160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2459D3"/>
                </a:solidFill>
                <a:latin typeface="Aptos"/>
              </a:rPr>
              <a:t>VISIBLE</a:t>
            </a:r>
            <a:endParaRPr sz="700" b="1">
              <a:solidFill>
                <a:srgbClr val="2459D3"/>
              </a:solidFill>
              <a:latin typeface="Aptos"/>
            </a:endParaRPr>
          </a:p>
        </p:txBody>
      </p:sp>
      <p:sp>
        <p:nvSpPr>
          <p:cNvPr id="106" name="Oval 105"/>
          <p:cNvSpPr/>
          <p:nvPr/>
        </p:nvSpPr>
        <p:spPr>
          <a:xfrm>
            <a:off x="5440679" y="5321808"/>
            <a:ext cx="182880" cy="182880"/>
          </a:xfrm>
          <a:prstGeom prst="ellipse">
            <a:avLst/>
          </a:prstGeom>
          <a:solidFill>
            <a:srgbClr val="159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5687567" y="5349240"/>
            <a:ext cx="1325880" cy="137160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159E9A"/>
                </a:solidFill>
                <a:latin typeface="Aptos"/>
              </a:rPr>
              <a:t>PREDICTIVE</a:t>
            </a:r>
            <a:endParaRPr sz="700" b="1">
              <a:solidFill>
                <a:srgbClr val="159E9A"/>
              </a:solidFill>
              <a:latin typeface="Aptos"/>
            </a:endParaRPr>
          </a:p>
        </p:txBody>
      </p:sp>
      <p:sp>
        <p:nvSpPr>
          <p:cNvPr id="108" name="Oval 107"/>
          <p:cNvSpPr/>
          <p:nvPr/>
        </p:nvSpPr>
        <p:spPr>
          <a:xfrm>
            <a:off x="7772400" y="5321808"/>
            <a:ext cx="182880" cy="182880"/>
          </a:xfrm>
          <a:prstGeom prst="ellipse">
            <a:avLst/>
          </a:prstGeom>
          <a:solidFill>
            <a:srgbClr val="138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8019288" y="5349240"/>
            <a:ext cx="1325880" cy="137160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13834B"/>
                </a:solidFill>
                <a:latin typeface="Aptos"/>
              </a:rPr>
              <a:t>COST-AWARE</a:t>
            </a:r>
            <a:endParaRPr sz="700" b="1">
              <a:solidFill>
                <a:srgbClr val="13834B"/>
              </a:solidFill>
              <a:latin typeface="Aptos"/>
            </a:endParaRPr>
          </a:p>
        </p:txBody>
      </p:sp>
      <p:sp>
        <p:nvSpPr>
          <p:cNvPr id="110" name="Oval 109"/>
          <p:cNvSpPr/>
          <p:nvPr/>
        </p:nvSpPr>
        <p:spPr>
          <a:xfrm>
            <a:off x="10104119" y="5321808"/>
            <a:ext cx="182880" cy="182880"/>
          </a:xfrm>
          <a:prstGeom prst="ellipse">
            <a:avLst/>
          </a:prstGeom>
          <a:solidFill>
            <a:srgbClr val="765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10351007" y="5349240"/>
            <a:ext cx="1325880" cy="137160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7656D6"/>
                </a:solidFill>
                <a:latin typeface="Aptos"/>
              </a:rPr>
              <a:t>LEARNING</a:t>
            </a:r>
            <a:endParaRPr sz="700" b="1">
              <a:solidFill>
                <a:srgbClr val="7656D6"/>
              </a:solidFill>
              <a:latin typeface="Aptos"/>
            </a:endParaRPr>
          </a:p>
        </p:txBody>
      </p:sp>
      <p:sp>
        <p:nvSpPr>
          <p:cNvPr id="112" name="Rounded Rectangle 111"/>
          <p:cNvSpPr/>
          <p:nvPr/>
        </p:nvSpPr>
        <p:spPr>
          <a:xfrm>
            <a:off x="594360" y="5577840"/>
            <a:ext cx="10991088" cy="49377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0160">
            <a:solidFill>
              <a:srgbClr val="D9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768096" y="5760720"/>
            <a:ext cx="1325880" cy="118872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13834B"/>
                </a:solidFill>
                <a:latin typeface="Aptos"/>
              </a:rPr>
              <a:t>WHAT CHANGES</a:t>
            </a:r>
            <a:endParaRPr sz="700" b="1">
              <a:solidFill>
                <a:srgbClr val="13834B"/>
              </a:solidFill>
              <a:latin typeface="Aptos"/>
            </a:endParaRPr>
          </a:p>
        </p:txBody>
      </p:sp>
      <p:sp>
        <p:nvSpPr>
          <p:cNvPr id="114" name="TextBox 113"/>
          <p:cNvSpPr txBox="1"/>
          <p:nvPr/>
        </p:nvSpPr>
        <p:spPr>
          <a:xfrm>
            <a:off x="2148840" y="5650992"/>
            <a:ext cx="1508760" cy="109728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1">
                <a:solidFill>
                  <a:srgbClr val="2459D3"/>
                </a:solidFill>
                <a:latin typeface="Aptos"/>
              </a:rPr>
              <a:t>SIGNALS</a:t>
            </a:r>
            <a:endParaRPr sz="600" b="1">
              <a:solidFill>
                <a:srgbClr val="2459D3"/>
              </a:solidFill>
              <a:latin typeface="Aptos"/>
            </a:endParaRPr>
          </a:p>
        </p:txBody>
      </p:sp>
      <p:sp>
        <p:nvSpPr>
          <p:cNvPr id="115" name="TextBox 114"/>
          <p:cNvSpPr txBox="1"/>
          <p:nvPr/>
        </p:nvSpPr>
        <p:spPr>
          <a:xfrm>
            <a:off x="2148840" y="5833872"/>
            <a:ext cx="1508760" cy="118872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172B4D"/>
                </a:solidFill>
                <a:latin typeface="Aptos"/>
              </a:rPr>
              <a:t>Siloed → linked</a:t>
            </a:r>
            <a:endParaRPr sz="700" b="1">
              <a:solidFill>
                <a:srgbClr val="172B4D"/>
              </a:solidFill>
              <a:latin typeface="Aptos"/>
            </a:endParaRPr>
          </a:p>
        </p:txBody>
      </p:sp>
      <p:sp>
        <p:nvSpPr>
          <p:cNvPr id="116" name="TextBox 115"/>
          <p:cNvSpPr txBox="1"/>
          <p:nvPr/>
        </p:nvSpPr>
        <p:spPr>
          <a:xfrm>
            <a:off x="3977639" y="5650992"/>
            <a:ext cx="1508760" cy="109728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1">
                <a:solidFill>
                  <a:srgbClr val="159E9A"/>
                </a:solidFill>
                <a:latin typeface="Aptos"/>
              </a:rPr>
              <a:t>WORKFLOW</a:t>
            </a:r>
            <a:endParaRPr sz="600" b="1">
              <a:solidFill>
                <a:srgbClr val="159E9A"/>
              </a:solidFill>
              <a:latin typeface="Aptos"/>
            </a:endParaRPr>
          </a:p>
        </p:txBody>
      </p:sp>
      <p:sp>
        <p:nvSpPr>
          <p:cNvPr id="117" name="TextBox 116"/>
          <p:cNvSpPr txBox="1"/>
          <p:nvPr/>
        </p:nvSpPr>
        <p:spPr>
          <a:xfrm>
            <a:off x="3977639" y="5833872"/>
            <a:ext cx="1508760" cy="118872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172B4D"/>
                </a:solidFill>
                <a:latin typeface="Aptos"/>
              </a:rPr>
              <a:t>Manual → routed</a:t>
            </a:r>
            <a:endParaRPr sz="700" b="1">
              <a:solidFill>
                <a:srgbClr val="172B4D"/>
              </a:solidFill>
              <a:latin typeface="Aptos"/>
            </a:endParaRPr>
          </a:p>
        </p:txBody>
      </p:sp>
      <p:sp>
        <p:nvSpPr>
          <p:cNvPr id="118" name="TextBox 117"/>
          <p:cNvSpPr txBox="1"/>
          <p:nvPr/>
        </p:nvSpPr>
        <p:spPr>
          <a:xfrm>
            <a:off x="5806440" y="5650992"/>
            <a:ext cx="1508760" cy="109728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1">
                <a:solidFill>
                  <a:srgbClr val="7656D6"/>
                </a:solidFill>
                <a:latin typeface="Aptos"/>
              </a:rPr>
              <a:t>PRIORITY</a:t>
            </a:r>
            <a:endParaRPr sz="600" b="1">
              <a:solidFill>
                <a:srgbClr val="7656D6"/>
              </a:solidFill>
              <a:latin typeface="Aptos"/>
            </a:endParaRPr>
          </a:p>
        </p:txBody>
      </p:sp>
      <p:sp>
        <p:nvSpPr>
          <p:cNvPr id="119" name="TextBox 118"/>
          <p:cNvSpPr txBox="1"/>
          <p:nvPr/>
        </p:nvSpPr>
        <p:spPr>
          <a:xfrm>
            <a:off x="5806440" y="5833872"/>
            <a:ext cx="1508760" cy="118872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172B4D"/>
                </a:solidFill>
                <a:latin typeface="Aptos"/>
              </a:rPr>
              <a:t>Queue → ranked</a:t>
            </a:r>
            <a:endParaRPr sz="700" b="1">
              <a:solidFill>
                <a:srgbClr val="172B4D"/>
              </a:solidFill>
              <a:latin typeface="Aptos"/>
            </a:endParaRPr>
          </a:p>
        </p:txBody>
      </p:sp>
      <p:sp>
        <p:nvSpPr>
          <p:cNvPr id="120" name="TextBox 119"/>
          <p:cNvSpPr txBox="1"/>
          <p:nvPr/>
        </p:nvSpPr>
        <p:spPr>
          <a:xfrm>
            <a:off x="7635240" y="5650992"/>
            <a:ext cx="1508760" cy="109728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1">
                <a:solidFill>
                  <a:srgbClr val="13834B"/>
                </a:solidFill>
                <a:latin typeface="Aptos"/>
              </a:rPr>
              <a:t>DECISIONS</a:t>
            </a:r>
            <a:endParaRPr sz="600" b="1">
              <a:solidFill>
                <a:srgbClr val="13834B"/>
              </a:solidFill>
              <a:latin typeface="Aptos"/>
            </a:endParaRPr>
          </a:p>
        </p:txBody>
      </p:sp>
      <p:sp>
        <p:nvSpPr>
          <p:cNvPr id="121" name="TextBox 120"/>
          <p:cNvSpPr txBox="1"/>
          <p:nvPr/>
        </p:nvSpPr>
        <p:spPr>
          <a:xfrm>
            <a:off x="7635240" y="5833872"/>
            <a:ext cx="1508760" cy="118872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172B4D"/>
                </a:solidFill>
                <a:latin typeface="Aptos"/>
              </a:rPr>
              <a:t>Score → cost</a:t>
            </a:r>
            <a:endParaRPr sz="700" b="1">
              <a:solidFill>
                <a:srgbClr val="172B4D"/>
              </a:solidFill>
              <a:latin typeface="Aptos"/>
            </a:endParaRPr>
          </a:p>
        </p:txBody>
      </p:sp>
      <p:sp>
        <p:nvSpPr>
          <p:cNvPr id="122" name="TextBox 121"/>
          <p:cNvSpPr txBox="1"/>
          <p:nvPr/>
        </p:nvSpPr>
        <p:spPr>
          <a:xfrm>
            <a:off x="9464040" y="5650992"/>
            <a:ext cx="1508760" cy="109728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1">
                <a:solidFill>
                  <a:srgbClr val="D69D22"/>
                </a:solidFill>
                <a:latin typeface="Aptos"/>
              </a:rPr>
              <a:t>LEARNING</a:t>
            </a:r>
            <a:endParaRPr sz="600" b="1">
              <a:solidFill>
                <a:srgbClr val="D69D22"/>
              </a:solidFill>
              <a:latin typeface="Aptos"/>
            </a:endParaRPr>
          </a:p>
        </p:txBody>
      </p:sp>
      <p:sp>
        <p:nvSpPr>
          <p:cNvPr id="123" name="TextBox 122"/>
          <p:cNvSpPr txBox="1"/>
          <p:nvPr/>
        </p:nvSpPr>
        <p:spPr>
          <a:xfrm>
            <a:off x="9464040" y="5833872"/>
            <a:ext cx="1508760" cy="118872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172B4D"/>
                </a:solidFill>
                <a:latin typeface="Aptos"/>
              </a:rPr>
              <a:t>Static → measured</a:t>
            </a:r>
            <a:endParaRPr sz="700" b="1">
              <a:solidFill>
                <a:srgbClr val="172B4D"/>
              </a:solidFill>
              <a:latin typeface="Aptos"/>
            </a:endParaRPr>
          </a:p>
        </p:txBody>
      </p:sp>
      <p:pic>
        <p:nvPicPr>
          <p:cNvPr id="124" name="Picture 123" descr="image(20261024-111450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0747" y="195932"/>
            <a:ext cx="1645834" cy="46759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38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01168"/>
            <a:ext cx="7315200" cy="182880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3834B"/>
                </a:solidFill>
                <a:latin typeface="Aptos"/>
              </a:rPr>
              <a:t>REFUND INTELLIGENCE     /     RISK MODEL</a:t>
            </a:r>
            <a:endParaRPr sz="800" b="1" i="0">
              <a:solidFill>
                <a:srgbClr val="13834B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38912" y="502920"/>
            <a:ext cx="11247120" cy="576072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02344"/>
                </a:solidFill>
                <a:latin typeface="Aptos Display"/>
              </a:rPr>
              <a:t>Two scores. One expected-cost decision.</a:t>
            </a:r>
            <a:endParaRPr sz="2600" b="1" i="0">
              <a:solidFill>
                <a:srgbClr val="102344"/>
              </a:solidFill>
              <a:latin typeface="Aptos Display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1123823"/>
            <a:ext cx="10972800" cy="256032"/>
          </a:xfrm>
          <a:prstGeom prst="rect">
            <a:avLst/>
          </a:prstGeom>
          <a:noFill/>
        </p:spPr>
        <p:txBody>
          <a:bodyPr wrap="square" lIns="45720" tIns="22860" rIns="45720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758A"/>
                </a:solidFill>
                <a:latin typeface="Aptos"/>
              </a:rPr>
              <a:t>All scores are 0–100 in the repository proposal; the combined exposure formula is explicitly a prototype choice.</a:t>
            </a:r>
            <a:endParaRPr sz="1000" b="0" i="0">
              <a:solidFill>
                <a:srgbClr val="66758A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347472" cy="155448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650" b="1" i="0">
                <a:solidFill>
                  <a:srgbClr val="13834B"/>
                </a:solidFill>
                <a:latin typeface="Aptos"/>
              </a:rPr>
              <a:t>06</a:t>
            </a:r>
            <a:endParaRPr sz="650" b="1" i="0">
              <a:solidFill>
                <a:srgbClr val="13834B"/>
              </a:solidFill>
              <a:latin typeface="Aptos"/>
            </a:endParaRPr>
          </a:p>
        </p:txBody>
      </p:sp>
      <p:sp>
        <p:nvSpPr>
          <p:cNvPr id="7" name="Oval 6"/>
          <p:cNvSpPr/>
          <p:nvPr/>
        </p:nvSpPr>
        <p:spPr>
          <a:xfrm>
            <a:off x="457200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66928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76656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86384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96112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5840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15568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225295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335024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444752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554480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664207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773936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883664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993391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103120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212848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322576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432304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542032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651760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761488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871215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980944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3090672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200400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3310128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419856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3529584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3639312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58368" y="1691640"/>
            <a:ext cx="4160520" cy="4160520"/>
          </a:xfrm>
          <a:prstGeom prst="ellipse">
            <a:avLst/>
          </a:prstGeom>
          <a:solidFill>
            <a:srgbClr val="E7F0FF"/>
          </a:solidFill>
          <a:ln w="17780">
            <a:solidFill>
              <a:srgbClr val="245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143000" y="2176272"/>
            <a:ext cx="3200400" cy="3200400"/>
          </a:xfrm>
          <a:prstGeom prst="ellipse">
            <a:avLst/>
          </a:prstGeom>
          <a:solidFill>
            <a:srgbClr val="E1F6F4"/>
          </a:solidFill>
          <a:ln w="17780">
            <a:solidFill>
              <a:srgbClr val="159E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645920" y="2679192"/>
            <a:ext cx="2194560" cy="2194560"/>
          </a:xfrm>
          <a:prstGeom prst="ellipse">
            <a:avLst/>
          </a:prstGeom>
          <a:solidFill>
            <a:srgbClr val="ECE8FF"/>
          </a:solidFill>
          <a:ln w="17780">
            <a:solidFill>
              <a:srgbClr val="765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874519" y="3072384"/>
            <a:ext cx="1737360" cy="228600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7656D6"/>
                </a:solidFill>
                <a:latin typeface="Aptos"/>
              </a:rPr>
              <a:t>EXPOSURE</a:t>
            </a:r>
            <a:endParaRPr sz="800" b="1" i="0">
              <a:solidFill>
                <a:srgbClr val="7656D6"/>
              </a:solidFill>
              <a:latin typeface="Aptos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874519" y="3429000"/>
            <a:ext cx="1737360" cy="347472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02344"/>
                </a:solidFill>
                <a:latin typeface="Aptos"/>
              </a:rPr>
              <a:t>0–100</a:t>
            </a:r>
            <a:endParaRPr sz="2000" b="1" i="0">
              <a:solidFill>
                <a:srgbClr val="102344"/>
              </a:solidFill>
              <a:latin typeface="Aptos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783080" y="3867912"/>
            <a:ext cx="1920240" cy="201168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6758A"/>
                </a:solidFill>
                <a:latin typeface="Aptos"/>
              </a:rPr>
              <a:t>0.6 CR + 0.4 BR</a:t>
            </a:r>
            <a:endParaRPr sz="900" b="1" i="0">
              <a:solidFill>
                <a:srgbClr val="66758A"/>
              </a:solidFill>
              <a:latin typeface="Aptos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2075815" y="1938655"/>
            <a:ext cx="1371600" cy="164592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459D3"/>
                </a:solidFill>
                <a:latin typeface="Aptos"/>
              </a:rPr>
              <a:t>Claim Risk (CR)</a:t>
            </a:r>
            <a:endParaRPr sz="800" b="1" i="0">
              <a:solidFill>
                <a:srgbClr val="2459D3"/>
              </a:solidFill>
              <a:latin typeface="Aptos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2016125" y="4974590"/>
            <a:ext cx="1645920" cy="164592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59E9A"/>
                </a:solidFill>
                <a:latin typeface="Aptos"/>
              </a:rPr>
              <a:t>Behavioural Risk (BR)</a:t>
            </a:r>
            <a:endParaRPr sz="800" b="1" i="0">
              <a:solidFill>
                <a:srgbClr val="159E9A"/>
              </a:solidFill>
              <a:latin typeface="Aptos"/>
            </a:endParaRPr>
          </a:p>
        </p:txBody>
      </p:sp>
      <p:sp>
        <p:nvSpPr>
          <p:cNvPr id="45" name="Rounded Rectangle 44"/>
          <p:cNvSpPr/>
          <p:nvPr/>
        </p:nvSpPr>
        <p:spPr>
          <a:xfrm>
            <a:off x="5166360" y="1737360"/>
            <a:ext cx="2971800" cy="1828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5413248" y="1938528"/>
            <a:ext cx="2011680" cy="265176"/>
          </a:xfrm>
          <a:prstGeom prst="roundRect">
            <a:avLst>
              <a:gd name="adj" fmla="val 10000"/>
            </a:avLst>
          </a:prstGeom>
          <a:solidFill>
            <a:srgbClr val="E1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449824" y="2002536"/>
            <a:ext cx="1938528" cy="128016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50" b="1" i="0">
                <a:solidFill>
                  <a:srgbClr val="075A3C"/>
                </a:solidFill>
                <a:latin typeface="Aptos"/>
              </a:rPr>
              <a:t>BEHAVIOURAL RISK  /  BR</a:t>
            </a:r>
            <a:endParaRPr sz="650" b="1" i="0">
              <a:solidFill>
                <a:srgbClr val="075A3C"/>
              </a:solidFill>
              <a:latin typeface="Aptos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5440680" y="2359152"/>
            <a:ext cx="2240280" cy="201168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02344"/>
                </a:solidFill>
                <a:latin typeface="Aptos"/>
              </a:rPr>
              <a:t>0.35 Frequency</a:t>
            </a:r>
            <a:endParaRPr sz="1000" b="1" i="0">
              <a:solidFill>
                <a:srgbClr val="102344"/>
              </a:solidFill>
              <a:latin typeface="Aptos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5440680" y="2660904"/>
            <a:ext cx="2377440" cy="301752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6758A"/>
                </a:solidFill>
                <a:latin typeface="Aptos"/>
              </a:rPr>
              <a:t>0.25 Value ratio  •  0.15 Repeat reason</a:t>
            </a:r>
            <a:endParaRPr sz="800" b="0" i="0">
              <a:solidFill>
                <a:srgbClr val="66758A"/>
              </a:solidFill>
              <a:latin typeface="Aptos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5440680" y="3054096"/>
            <a:ext cx="2423160" cy="301752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6758A"/>
                </a:solidFill>
                <a:latin typeface="Aptos"/>
              </a:rPr>
              <a:t>0.15 Return exception  •  0.10 Evidence reuse</a:t>
            </a:r>
            <a:endParaRPr sz="800" b="0" i="0">
              <a:solidFill>
                <a:srgbClr val="66758A"/>
              </a:solidFill>
              <a:latin typeface="Aptos"/>
            </a:endParaRPr>
          </a:p>
        </p:txBody>
      </p:sp>
      <p:sp>
        <p:nvSpPr>
          <p:cNvPr id="51" name="Rounded Rectangle 50"/>
          <p:cNvSpPr/>
          <p:nvPr/>
        </p:nvSpPr>
        <p:spPr>
          <a:xfrm>
            <a:off x="8394192" y="1737360"/>
            <a:ext cx="3154680" cy="1828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8668512" y="1938528"/>
            <a:ext cx="1554480" cy="265176"/>
          </a:xfrm>
          <a:prstGeom prst="roundRect">
            <a:avLst>
              <a:gd name="adj" fmla="val 10000"/>
            </a:avLst>
          </a:prstGeom>
          <a:solidFill>
            <a:srgbClr val="E7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705088" y="2002536"/>
            <a:ext cx="1481328" cy="128016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50" b="1" i="0">
                <a:solidFill>
                  <a:srgbClr val="2459D3"/>
                </a:solidFill>
                <a:latin typeface="Aptos"/>
              </a:rPr>
              <a:t>CLAIM RISK  /  CR</a:t>
            </a:r>
            <a:endParaRPr sz="650" b="1" i="0">
              <a:solidFill>
                <a:srgbClr val="2459D3"/>
              </a:solidFill>
              <a:latin typeface="Aptos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8686800" y="2359152"/>
            <a:ext cx="2423160" cy="201168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02344"/>
                </a:solidFill>
                <a:latin typeface="Aptos"/>
              </a:rPr>
              <a:t>0.30 Claim ambiguity</a:t>
            </a:r>
            <a:endParaRPr sz="1000" b="1" i="0">
              <a:solidFill>
                <a:srgbClr val="102344"/>
              </a:solidFill>
              <a:latin typeface="Aptos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8686800" y="2660904"/>
            <a:ext cx="2468880" cy="201168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6758A"/>
                </a:solidFill>
                <a:latin typeface="Aptos"/>
              </a:rPr>
              <a:t>0.30 Evidence inconsistency</a:t>
            </a:r>
            <a:endParaRPr sz="800" b="0" i="0">
              <a:solidFill>
                <a:srgbClr val="66758A"/>
              </a:solidFill>
              <a:latin typeface="Aptos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8686800" y="3054096"/>
            <a:ext cx="2514600" cy="301752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6758A"/>
                </a:solidFill>
                <a:latin typeface="Aptos"/>
              </a:rPr>
              <a:t>0.20 Evidence reuse  •  0.20 Abuse strength</a:t>
            </a:r>
            <a:endParaRPr sz="800" b="0" i="0">
              <a:solidFill>
                <a:srgbClr val="66758A"/>
              </a:solidFill>
              <a:latin typeface="Aptos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5212080" y="3886200"/>
            <a:ext cx="2286000" cy="182880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3834B"/>
                </a:solidFill>
                <a:latin typeface="Aptos"/>
              </a:rPr>
              <a:t>EXPECTED-COST ENGINE</a:t>
            </a:r>
            <a:endParaRPr sz="900" b="1" i="0">
              <a:solidFill>
                <a:srgbClr val="13834B"/>
              </a:solidFill>
              <a:latin typeface="Aptos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5212080" y="4169663"/>
            <a:ext cx="6126480" cy="320040"/>
          </a:xfrm>
          <a:prstGeom prst="rect">
            <a:avLst/>
          </a:prstGeom>
          <a:noFill/>
        </p:spPr>
        <p:txBody>
          <a:bodyPr wrap="square" lIns="45720" tIns="22860" rIns="45720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02344"/>
                </a:solidFill>
                <a:latin typeface="Aptos"/>
              </a:rPr>
              <a:t>ExpectedCost(action) = risk exposure + customer friction + handling cost</a:t>
            </a:r>
            <a:endParaRPr sz="1300" b="1" i="0">
              <a:solidFill>
                <a:srgbClr val="102344"/>
              </a:solidFill>
              <a:latin typeface="Aptos"/>
            </a:endParaRPr>
          </a:p>
        </p:txBody>
      </p:sp>
      <p:sp>
        <p:nvSpPr>
          <p:cNvPr id="59" name="Rounded Rectangle 58"/>
          <p:cNvSpPr/>
          <p:nvPr/>
        </p:nvSpPr>
        <p:spPr>
          <a:xfrm>
            <a:off x="5193792" y="4709160"/>
            <a:ext cx="1444752" cy="822960"/>
          </a:xfrm>
          <a:prstGeom prst="roundRect">
            <a:avLst>
              <a:gd name="adj" fmla="val 10000"/>
            </a:avLst>
          </a:prstGeom>
          <a:solidFill>
            <a:srgbClr val="FCE9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266944" y="4873752"/>
            <a:ext cx="1298448" cy="164592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E9665B"/>
                </a:solidFill>
                <a:latin typeface="Aptos"/>
              </a:rPr>
              <a:t>IMMEDIATE</a:t>
            </a:r>
            <a:endParaRPr sz="700" b="1" i="0">
              <a:solidFill>
                <a:srgbClr val="E9665B"/>
              </a:solidFill>
              <a:latin typeface="Aptos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5266944" y="5138928"/>
            <a:ext cx="1298448" cy="146304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66758A"/>
                </a:solidFill>
                <a:latin typeface="Aptos"/>
              </a:rPr>
              <a:t>Exposure factor 1.00</a:t>
            </a:r>
            <a:endParaRPr sz="600" b="0" i="0">
              <a:solidFill>
                <a:srgbClr val="66758A"/>
              </a:solidFill>
              <a:latin typeface="Aptos"/>
            </a:endParaRPr>
          </a:p>
        </p:txBody>
      </p:sp>
      <p:sp>
        <p:nvSpPr>
          <p:cNvPr id="62" name="Rounded Rectangle 61"/>
          <p:cNvSpPr/>
          <p:nvPr/>
        </p:nvSpPr>
        <p:spPr>
          <a:xfrm>
            <a:off x="6821424" y="4709160"/>
            <a:ext cx="1444752" cy="822960"/>
          </a:xfrm>
          <a:prstGeom prst="roundRect">
            <a:avLst>
              <a:gd name="adj" fmla="val 10000"/>
            </a:avLst>
          </a:prstGeom>
          <a:solidFill>
            <a:srgbClr val="E7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894576" y="4873752"/>
            <a:ext cx="1298448" cy="164592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459D3"/>
                </a:solidFill>
                <a:latin typeface="Aptos"/>
              </a:rPr>
              <a:t>AFTER RETURN</a:t>
            </a:r>
            <a:endParaRPr sz="700" b="1" i="0">
              <a:solidFill>
                <a:srgbClr val="2459D3"/>
              </a:solidFill>
              <a:latin typeface="Aptos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6894576" y="5138928"/>
            <a:ext cx="1298448" cy="146304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66758A"/>
                </a:solidFill>
                <a:latin typeface="Aptos"/>
              </a:rPr>
              <a:t>Exposure factor 0.20</a:t>
            </a:r>
            <a:endParaRPr sz="600" b="0" i="0">
              <a:solidFill>
                <a:srgbClr val="66758A"/>
              </a:solidFill>
              <a:latin typeface="Aptos"/>
            </a:endParaRPr>
          </a:p>
        </p:txBody>
      </p:sp>
      <p:sp>
        <p:nvSpPr>
          <p:cNvPr id="65" name="Rounded Rectangle 64"/>
          <p:cNvSpPr/>
          <p:nvPr/>
        </p:nvSpPr>
        <p:spPr>
          <a:xfrm>
            <a:off x="8449056" y="4709160"/>
            <a:ext cx="1444752" cy="822960"/>
          </a:xfrm>
          <a:prstGeom prst="roundRect">
            <a:avLst>
              <a:gd name="adj" fmla="val 10000"/>
            </a:avLst>
          </a:prstGeom>
          <a:solidFill>
            <a:srgbClr val="E1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522208" y="4873752"/>
            <a:ext cx="1298448" cy="164592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159E9A"/>
                </a:solidFill>
                <a:latin typeface="Aptos"/>
              </a:rPr>
              <a:t>REQUEST PROOF</a:t>
            </a:r>
            <a:endParaRPr sz="700" b="1" i="0">
              <a:solidFill>
                <a:srgbClr val="159E9A"/>
              </a:solidFill>
              <a:latin typeface="Aptos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8522208" y="5138928"/>
            <a:ext cx="1298448" cy="146304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66758A"/>
                </a:solidFill>
                <a:latin typeface="Aptos"/>
              </a:rPr>
              <a:t>Exposure factor 0.15</a:t>
            </a:r>
            <a:endParaRPr sz="600" b="0" i="0">
              <a:solidFill>
                <a:srgbClr val="66758A"/>
              </a:solidFill>
              <a:latin typeface="Aptos"/>
            </a:endParaRPr>
          </a:p>
        </p:txBody>
      </p:sp>
      <p:sp>
        <p:nvSpPr>
          <p:cNvPr id="68" name="Rounded Rectangle 67"/>
          <p:cNvSpPr/>
          <p:nvPr/>
        </p:nvSpPr>
        <p:spPr>
          <a:xfrm>
            <a:off x="10076688" y="4709160"/>
            <a:ext cx="1444752" cy="822960"/>
          </a:xfrm>
          <a:prstGeom prst="roundRect">
            <a:avLst>
              <a:gd name="adj" fmla="val 10000"/>
            </a:avLst>
          </a:prstGeom>
          <a:solidFill>
            <a:srgbClr val="EC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0149840" y="4873752"/>
            <a:ext cx="1298448" cy="164592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7656D6"/>
                </a:solidFill>
                <a:latin typeface="Aptos"/>
              </a:rPr>
              <a:t>MANUAL REVIEW</a:t>
            </a:r>
            <a:endParaRPr sz="700" b="1" i="0">
              <a:solidFill>
                <a:srgbClr val="7656D6"/>
              </a:solidFill>
              <a:latin typeface="Aptos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10149840" y="5138928"/>
            <a:ext cx="1298448" cy="146304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66758A"/>
                </a:solidFill>
                <a:latin typeface="Aptos"/>
              </a:rPr>
              <a:t>Exposure factor 0.03</a:t>
            </a:r>
            <a:endParaRPr sz="600" b="0" i="0">
              <a:solidFill>
                <a:srgbClr val="66758A"/>
              </a:solidFill>
              <a:latin typeface="Aptos"/>
            </a:endParaRPr>
          </a:p>
        </p:txBody>
      </p:sp>
      <p:sp>
        <p:nvSpPr>
          <p:cNvPr id="71" name="Rounded Rectangle 70"/>
          <p:cNvSpPr/>
          <p:nvPr/>
        </p:nvSpPr>
        <p:spPr>
          <a:xfrm>
            <a:off x="566928" y="6072124"/>
            <a:ext cx="11045952" cy="384048"/>
          </a:xfrm>
          <a:prstGeom prst="roundRect">
            <a:avLst>
              <a:gd name="adj" fmla="val 10000"/>
            </a:avLst>
          </a:prstGeom>
          <a:solidFill>
            <a:srgbClr val="FFF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58952" y="5925312"/>
            <a:ext cx="1645920" cy="146304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50" b="1" i="0">
                <a:solidFill>
                  <a:srgbClr val="334A67"/>
                </a:solidFill>
                <a:latin typeface="Aptos"/>
              </a:rPr>
              <a:t>IMPORTANT</a:t>
            </a:r>
            <a:endParaRPr sz="650" b="1" i="0">
              <a:solidFill>
                <a:srgbClr val="334A67"/>
              </a:solidFill>
              <a:latin typeface="Aptos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2235708" y="6208014"/>
            <a:ext cx="9052560" cy="182880"/>
          </a:xfrm>
          <a:prstGeom prst="rect">
            <a:avLst/>
          </a:prstGeom>
          <a:noFill/>
        </p:spPr>
        <p:txBody>
          <a:bodyPr wrap="square" lIns="45720" tIns="22860" rIns="45720" bIns="2286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02344"/>
                </a:solidFill>
                <a:latin typeface="Aptos"/>
              </a:rPr>
              <a:t>Hard policy failures decline; blacklist / exact cross-customer evidence reuse → manual review.</a:t>
            </a:r>
            <a:endParaRPr sz="900" b="1" i="0">
              <a:solidFill>
                <a:srgbClr val="102344"/>
              </a:solidFill>
              <a:latin typeface="Aptos"/>
            </a:endParaRPr>
          </a:p>
        </p:txBody>
      </p:sp>
      <p:sp>
        <p:nvSpPr>
          <p:cNvPr id="74" name="Rounded Rectangle 73"/>
          <p:cNvSpPr/>
          <p:nvPr/>
        </p:nvSpPr>
        <p:spPr>
          <a:xfrm>
            <a:off x="566928" y="5449824"/>
            <a:ext cx="4315968" cy="283464"/>
          </a:xfrm>
          <a:prstGeom prst="roundRect">
            <a:avLst>
              <a:gd name="adj" fmla="val 8000"/>
            </a:avLst>
          </a:prstGeom>
          <a:solidFill>
            <a:srgbClr val="E7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94944" y="5532120"/>
            <a:ext cx="4041648" cy="118872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2459D3"/>
                </a:solidFill>
                <a:latin typeface="Aptos"/>
              </a:rPr>
              <a:t>BR = Behavioural Risk  |  CR = Claim Risk</a:t>
            </a:r>
            <a:endParaRPr sz="700" b="1">
              <a:solidFill>
                <a:srgbClr val="2459D3"/>
              </a:solidFill>
              <a:latin typeface="Aptos"/>
            </a:endParaRPr>
          </a:p>
        </p:txBody>
      </p:sp>
      <p:sp>
        <p:nvSpPr>
          <p:cNvPr id="76" name="Rounded Rectangle 75"/>
          <p:cNvSpPr/>
          <p:nvPr/>
        </p:nvSpPr>
        <p:spPr>
          <a:xfrm>
            <a:off x="5193792" y="5321808"/>
            <a:ext cx="6355080" cy="29260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0160">
            <a:solidFill>
              <a:srgbClr val="D9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321808" y="5422392"/>
            <a:ext cx="1005840" cy="91440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00" b="1">
                <a:solidFill>
                  <a:srgbClr val="13834B"/>
                </a:solidFill>
                <a:latin typeface="Aptos"/>
              </a:rPr>
              <a:t>MODEL INPUTS</a:t>
            </a:r>
            <a:endParaRPr sz="600" b="1">
              <a:solidFill>
                <a:srgbClr val="13834B"/>
              </a:solidFill>
              <a:latin typeface="Aptos"/>
            </a:endParaRPr>
          </a:p>
        </p:txBody>
      </p:sp>
      <p:sp>
        <p:nvSpPr>
          <p:cNvPr id="78" name="Rounded Rectangle 77"/>
          <p:cNvSpPr/>
          <p:nvPr/>
        </p:nvSpPr>
        <p:spPr>
          <a:xfrm>
            <a:off x="6382512" y="5358384"/>
            <a:ext cx="1051560" cy="228600"/>
          </a:xfrm>
          <a:prstGeom prst="roundRect">
            <a:avLst>
              <a:gd name="adj" fmla="val 7000"/>
            </a:avLst>
          </a:prstGeom>
          <a:solidFill>
            <a:srgbClr val="E1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419088" y="5417820"/>
            <a:ext cx="978407" cy="109728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1">
                <a:solidFill>
                  <a:srgbClr val="159E9A"/>
                </a:solidFill>
                <a:latin typeface="Aptos"/>
              </a:rPr>
              <a:t>BR  35%</a:t>
            </a:r>
            <a:endParaRPr sz="600" b="1">
              <a:solidFill>
                <a:srgbClr val="159E9A"/>
              </a:solidFill>
              <a:latin typeface="Aptos"/>
            </a:endParaRPr>
          </a:p>
        </p:txBody>
      </p:sp>
      <p:sp>
        <p:nvSpPr>
          <p:cNvPr id="80" name="Rounded Rectangle 79"/>
          <p:cNvSpPr/>
          <p:nvPr/>
        </p:nvSpPr>
        <p:spPr>
          <a:xfrm>
            <a:off x="7589520" y="5358384"/>
            <a:ext cx="1051560" cy="228600"/>
          </a:xfrm>
          <a:prstGeom prst="roundRect">
            <a:avLst>
              <a:gd name="adj" fmla="val 7000"/>
            </a:avLst>
          </a:prstGeom>
          <a:solidFill>
            <a:srgbClr val="E7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7626096" y="5417820"/>
            <a:ext cx="978407" cy="109728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1">
                <a:solidFill>
                  <a:srgbClr val="2459D3"/>
                </a:solidFill>
                <a:latin typeface="Aptos"/>
              </a:rPr>
              <a:t>CR  30%</a:t>
            </a:r>
            <a:endParaRPr sz="600" b="1">
              <a:solidFill>
                <a:srgbClr val="2459D3"/>
              </a:solidFill>
              <a:latin typeface="Aptos"/>
            </a:endParaRPr>
          </a:p>
        </p:txBody>
      </p:sp>
      <p:sp>
        <p:nvSpPr>
          <p:cNvPr id="82" name="Rounded Rectangle 81"/>
          <p:cNvSpPr/>
          <p:nvPr/>
        </p:nvSpPr>
        <p:spPr>
          <a:xfrm>
            <a:off x="8796528" y="5358384"/>
            <a:ext cx="1051560" cy="228600"/>
          </a:xfrm>
          <a:prstGeom prst="roundRect">
            <a:avLst>
              <a:gd name="adj" fmla="val 7000"/>
            </a:avLst>
          </a:prstGeom>
          <a:solidFill>
            <a:srgbClr val="EC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833104" y="5417820"/>
            <a:ext cx="978407" cy="109728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1">
                <a:solidFill>
                  <a:srgbClr val="7656D6"/>
                </a:solidFill>
                <a:latin typeface="Aptos"/>
              </a:rPr>
              <a:t>COST  20%</a:t>
            </a:r>
            <a:endParaRPr sz="600" b="1">
              <a:solidFill>
                <a:srgbClr val="7656D6"/>
              </a:solidFill>
              <a:latin typeface="Aptos"/>
            </a:endParaRPr>
          </a:p>
        </p:txBody>
      </p:sp>
      <p:sp>
        <p:nvSpPr>
          <p:cNvPr id="84" name="Rounded Rectangle 83"/>
          <p:cNvSpPr/>
          <p:nvPr/>
        </p:nvSpPr>
        <p:spPr>
          <a:xfrm>
            <a:off x="10003536" y="5358384"/>
            <a:ext cx="1051560" cy="228600"/>
          </a:xfrm>
          <a:prstGeom prst="roundRect">
            <a:avLst>
              <a:gd name="adj" fmla="val 7000"/>
            </a:avLst>
          </a:prstGeom>
          <a:solidFill>
            <a:srgbClr val="FFF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10040112" y="5417820"/>
            <a:ext cx="978407" cy="109728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1">
                <a:solidFill>
                  <a:srgbClr val="D69D22"/>
                </a:solidFill>
                <a:latin typeface="Aptos"/>
              </a:rPr>
              <a:t>CX  15%</a:t>
            </a:r>
            <a:endParaRPr sz="600" b="1">
              <a:solidFill>
                <a:srgbClr val="D69D22"/>
              </a:solidFill>
              <a:latin typeface="Aptos"/>
            </a:endParaRPr>
          </a:p>
        </p:txBody>
      </p:sp>
      <p:sp>
        <p:nvSpPr>
          <p:cNvPr id="86" name="Rounded Rectangle 85"/>
          <p:cNvSpPr/>
          <p:nvPr/>
        </p:nvSpPr>
        <p:spPr>
          <a:xfrm>
            <a:off x="566928" y="5733415"/>
            <a:ext cx="10991088" cy="365760"/>
          </a:xfrm>
          <a:prstGeom prst="roundRect">
            <a:avLst>
              <a:gd name="adj" fmla="val 7000"/>
            </a:avLst>
          </a:prstGeom>
          <a:solidFill>
            <a:srgbClr val="FFF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49808" y="5879592"/>
            <a:ext cx="1325880" cy="109728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102344"/>
                </a:solidFill>
                <a:latin typeface="Aptos"/>
              </a:rPr>
              <a:t>CALIBRATION NOTE</a:t>
            </a:r>
            <a:endParaRPr sz="700" b="1">
              <a:solidFill>
                <a:srgbClr val="102344"/>
              </a:solidFill>
              <a:latin typeface="Aptos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2125980" y="5852414"/>
            <a:ext cx="9098280" cy="137160"/>
          </a:xfrm>
          <a:prstGeom prst="rect">
            <a:avLst/>
          </a:prstGeom>
          <a:noFill/>
        </p:spPr>
        <p:txBody>
          <a:bodyPr wrap="square" lIns="45720" tIns="22860" rIns="45720" bIns="2286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172B4D"/>
                </a:solidFill>
                <a:latin typeface="Aptos"/>
              </a:rPr>
              <a:t>Weights and exposure factors are prototype assumptions until tested on labelled, held-out claims.</a:t>
            </a:r>
            <a:endParaRPr sz="700" b="1">
              <a:solidFill>
                <a:srgbClr val="172B4D"/>
              </a:solidFill>
              <a:latin typeface="Aptos"/>
            </a:endParaRPr>
          </a:p>
        </p:txBody>
      </p:sp>
      <p:pic>
        <p:nvPicPr>
          <p:cNvPr id="89" name="Picture 88" descr="image(20261024-111450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0747" y="195932"/>
            <a:ext cx="1645834" cy="46759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38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01168"/>
            <a:ext cx="7315200" cy="182880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3834B"/>
                </a:solidFill>
                <a:latin typeface="Aptos"/>
              </a:rPr>
              <a:t>REFUND INTELLIGENCE     /     ABUSE PATTERNS</a:t>
            </a:r>
            <a:endParaRPr sz="800" b="1" i="0">
              <a:solidFill>
                <a:srgbClr val="13834B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38912" y="502920"/>
            <a:ext cx="11247120" cy="576072"/>
          </a:xfrm>
          <a:prstGeom prst="rect">
            <a:avLst/>
          </a:prstGeom>
          <a:noFill/>
        </p:spPr>
        <p:txBody>
          <a:bodyPr wrap="square" lIns="45720" tIns="22860" rIns="45720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02344"/>
                </a:solidFill>
                <a:latin typeface="Aptos Display"/>
              </a:rPr>
              <a:t>Five repeatable patterns. One consistent rulebook.</a:t>
            </a:r>
            <a:endParaRPr sz="2600" b="1" i="0">
              <a:solidFill>
                <a:srgbClr val="102344"/>
              </a:solidFill>
              <a:latin typeface="Aptos Display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1115568"/>
            <a:ext cx="10972800" cy="256032"/>
          </a:xfrm>
          <a:prstGeom prst="rect">
            <a:avLst/>
          </a:prstGeom>
          <a:noFill/>
        </p:spPr>
        <p:txBody>
          <a:bodyPr wrap="square" lIns="45720" tIns="22860" rIns="45720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758A"/>
                </a:solidFill>
                <a:latin typeface="Aptos"/>
              </a:rPr>
              <a:t>Patterns are deterministic rules over rolling history—not model accusations.</a:t>
            </a:r>
            <a:endParaRPr sz="1000" b="0" i="0">
              <a:solidFill>
                <a:srgbClr val="66758A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347472" cy="155448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650" b="1" i="0">
                <a:solidFill>
                  <a:srgbClr val="13834B"/>
                </a:solidFill>
                <a:latin typeface="Aptos"/>
              </a:rPr>
              <a:t>07</a:t>
            </a:r>
            <a:endParaRPr sz="650" b="1" i="0">
              <a:solidFill>
                <a:srgbClr val="13834B"/>
              </a:solidFill>
              <a:latin typeface="Aptos"/>
            </a:endParaRPr>
          </a:p>
        </p:txBody>
      </p:sp>
      <p:sp>
        <p:nvSpPr>
          <p:cNvPr id="7" name="Oval 6"/>
          <p:cNvSpPr/>
          <p:nvPr/>
        </p:nvSpPr>
        <p:spPr>
          <a:xfrm>
            <a:off x="457200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66928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76656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86384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96112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5840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15568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225295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335024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444752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554480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664207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773936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883664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993391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103120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212848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322576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432304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542032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651760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761488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871215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980944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3090672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200400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3310128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419856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3529584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3639312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530352" y="1847088"/>
            <a:ext cx="2057400" cy="2880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60704" y="2084831"/>
            <a:ext cx="1005840" cy="1005840"/>
          </a:xfrm>
          <a:prstGeom prst="ellipse">
            <a:avLst/>
          </a:prstGeom>
          <a:solidFill>
            <a:srgbClr val="E7F0FF"/>
          </a:solidFill>
          <a:ln w="17780">
            <a:solidFill>
              <a:srgbClr val="245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280160" y="2304288"/>
            <a:ext cx="566928" cy="566928"/>
          </a:xfrm>
          <a:prstGeom prst="ellipse">
            <a:avLst/>
          </a:prstGeom>
          <a:solidFill>
            <a:srgbClr val="2459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280160" y="2496312"/>
            <a:ext cx="566928" cy="137160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50" b="1" i="0">
                <a:solidFill>
                  <a:srgbClr val="FFFFFF"/>
                </a:solidFill>
                <a:latin typeface="Aptos"/>
              </a:rPr>
              <a:t>01</a:t>
            </a:r>
            <a:endParaRPr sz="650" b="1" i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667512" y="3337560"/>
            <a:ext cx="1783080" cy="384048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459D3"/>
                </a:solidFill>
                <a:latin typeface="Aptos"/>
              </a:rPr>
              <a:t>SERIAL REFUNDER</a:t>
            </a:r>
            <a:endParaRPr sz="900" b="1" i="0">
              <a:solidFill>
                <a:srgbClr val="2459D3"/>
              </a:solidFill>
              <a:latin typeface="Aptos"/>
            </a:endParaRPr>
          </a:p>
        </p:txBody>
      </p:sp>
      <p:cxnSp>
        <p:nvCxnSpPr>
          <p:cNvPr id="42" name="Connector 41"/>
          <p:cNvCxnSpPr/>
          <p:nvPr/>
        </p:nvCxnSpPr>
        <p:spPr>
          <a:xfrm>
            <a:off x="877824" y="3822191"/>
            <a:ext cx="1362456" cy="0"/>
          </a:xfrm>
          <a:prstGeom prst="line">
            <a:avLst/>
          </a:prstGeom>
          <a:ln w="12700">
            <a:solidFill>
              <a:srgbClr val="D9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694944" y="4041648"/>
            <a:ext cx="1737360" cy="566928"/>
          </a:xfrm>
          <a:prstGeom prst="rect">
            <a:avLst/>
          </a:prstGeom>
          <a:noFill/>
        </p:spPr>
        <p:txBody>
          <a:bodyPr wrap="square" lIns="45720" tIns="22860" rIns="45720" bIns="2286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6758A"/>
                </a:solidFill>
                <a:latin typeface="Aptos"/>
              </a:rPr>
              <a:t>≥3 refunds / 30d
or ≥4 / 90d
or ≥7 / 180d</a:t>
            </a:r>
            <a:endParaRPr sz="800" b="0" i="0">
              <a:solidFill>
                <a:srgbClr val="66758A"/>
              </a:solidFill>
              <a:latin typeface="Aptos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2862072" y="1847088"/>
            <a:ext cx="2057400" cy="2880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3392424" y="2084831"/>
            <a:ext cx="1005840" cy="1005840"/>
          </a:xfrm>
          <a:prstGeom prst="ellipse">
            <a:avLst/>
          </a:prstGeom>
          <a:solidFill>
            <a:srgbClr val="E1F6F4"/>
          </a:solidFill>
          <a:ln w="17780">
            <a:solidFill>
              <a:srgbClr val="159E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3611879" y="2304288"/>
            <a:ext cx="566928" cy="566928"/>
          </a:xfrm>
          <a:prstGeom prst="ellipse">
            <a:avLst/>
          </a:prstGeom>
          <a:solidFill>
            <a:srgbClr val="159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611879" y="2496312"/>
            <a:ext cx="566928" cy="137160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50" b="1" i="0">
                <a:solidFill>
                  <a:srgbClr val="FFFFFF"/>
                </a:solidFill>
                <a:latin typeface="Aptos"/>
              </a:rPr>
              <a:t>02</a:t>
            </a:r>
            <a:endParaRPr sz="650" b="1" i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2999232" y="3337560"/>
            <a:ext cx="1783080" cy="384048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59E9A"/>
                </a:solidFill>
                <a:latin typeface="Aptos"/>
              </a:rPr>
              <a:t>RETURN ABUSE</a:t>
            </a:r>
            <a:endParaRPr sz="900" b="1" i="0">
              <a:solidFill>
                <a:srgbClr val="159E9A"/>
              </a:solidFill>
              <a:latin typeface="Aptos"/>
            </a:endParaRPr>
          </a:p>
        </p:txBody>
      </p:sp>
      <p:cxnSp>
        <p:nvCxnSpPr>
          <p:cNvPr id="49" name="Connector 48"/>
          <p:cNvCxnSpPr/>
          <p:nvPr/>
        </p:nvCxnSpPr>
        <p:spPr>
          <a:xfrm>
            <a:off x="3209544" y="3822191"/>
            <a:ext cx="1362456" cy="0"/>
          </a:xfrm>
          <a:prstGeom prst="line">
            <a:avLst/>
          </a:prstGeom>
          <a:ln w="12700">
            <a:solidFill>
              <a:srgbClr val="D9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3026664" y="4041648"/>
            <a:ext cx="1737360" cy="566928"/>
          </a:xfrm>
          <a:prstGeom prst="rect">
            <a:avLst/>
          </a:prstGeom>
          <a:noFill/>
        </p:spPr>
        <p:txBody>
          <a:bodyPr wrap="square" lIns="45720" tIns="22860" rIns="45720" bIns="2286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6758A"/>
                </a:solidFill>
                <a:latin typeface="Aptos"/>
              </a:rPr>
              <a:t>≥2 late-or-missing
return events / 180d</a:t>
            </a:r>
            <a:endParaRPr sz="800" b="0" i="0">
              <a:solidFill>
                <a:srgbClr val="66758A"/>
              </a:solidFill>
              <a:latin typeface="Aptos"/>
            </a:endParaRPr>
          </a:p>
        </p:txBody>
      </p:sp>
      <p:sp>
        <p:nvSpPr>
          <p:cNvPr id="51" name="Rounded Rectangle 50"/>
          <p:cNvSpPr/>
          <p:nvPr/>
        </p:nvSpPr>
        <p:spPr>
          <a:xfrm>
            <a:off x="5193792" y="1847088"/>
            <a:ext cx="2057400" cy="2880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5724144" y="2084831"/>
            <a:ext cx="1005840" cy="1005840"/>
          </a:xfrm>
          <a:prstGeom prst="ellipse">
            <a:avLst/>
          </a:prstGeom>
          <a:solidFill>
            <a:srgbClr val="ECE8FF"/>
          </a:solidFill>
          <a:ln w="17780">
            <a:solidFill>
              <a:srgbClr val="765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5943600" y="2304288"/>
            <a:ext cx="566928" cy="566928"/>
          </a:xfrm>
          <a:prstGeom prst="ellipse">
            <a:avLst/>
          </a:prstGeom>
          <a:solidFill>
            <a:srgbClr val="765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943600" y="2496312"/>
            <a:ext cx="566928" cy="137160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50" b="1" i="0">
                <a:solidFill>
                  <a:srgbClr val="FFFFFF"/>
                </a:solidFill>
                <a:latin typeface="Aptos"/>
              </a:rPr>
              <a:t>03</a:t>
            </a:r>
            <a:endParaRPr sz="650" b="1" i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5330952" y="3337560"/>
            <a:ext cx="1783080" cy="384048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7656D6"/>
                </a:solidFill>
                <a:latin typeface="Aptos"/>
              </a:rPr>
              <a:t>FAKE DEFECT</a:t>
            </a:r>
            <a:endParaRPr sz="900" b="1" i="0">
              <a:solidFill>
                <a:srgbClr val="7656D6"/>
              </a:solidFill>
              <a:latin typeface="Aptos"/>
            </a:endParaRPr>
          </a:p>
        </p:txBody>
      </p:sp>
      <p:cxnSp>
        <p:nvCxnSpPr>
          <p:cNvPr id="56" name="Connector 55"/>
          <p:cNvCxnSpPr/>
          <p:nvPr/>
        </p:nvCxnSpPr>
        <p:spPr>
          <a:xfrm>
            <a:off x="5541264" y="3822191"/>
            <a:ext cx="1362456" cy="0"/>
          </a:xfrm>
          <a:prstGeom prst="line">
            <a:avLst/>
          </a:prstGeom>
          <a:ln w="12700">
            <a:solidFill>
              <a:srgbClr val="D9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5358383" y="4041648"/>
            <a:ext cx="1737360" cy="566928"/>
          </a:xfrm>
          <a:prstGeom prst="rect">
            <a:avLst/>
          </a:prstGeom>
          <a:noFill/>
        </p:spPr>
        <p:txBody>
          <a:bodyPr wrap="square" lIns="45720" tIns="22860" rIns="45720" bIns="2286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6758A"/>
                </a:solidFill>
                <a:latin typeface="Aptos"/>
              </a:rPr>
              <a:t>Reused proof on a defect
claim, or repeated weak
/missing evidence</a:t>
            </a:r>
            <a:endParaRPr sz="800" b="0" i="0">
              <a:solidFill>
                <a:srgbClr val="66758A"/>
              </a:solidFill>
              <a:latin typeface="Aptos"/>
            </a:endParaRPr>
          </a:p>
        </p:txBody>
      </p:sp>
      <p:sp>
        <p:nvSpPr>
          <p:cNvPr id="58" name="Rounded Rectangle 57"/>
          <p:cNvSpPr/>
          <p:nvPr/>
        </p:nvSpPr>
        <p:spPr>
          <a:xfrm>
            <a:off x="7525511" y="1847088"/>
            <a:ext cx="2057400" cy="2880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8055863" y="2084831"/>
            <a:ext cx="1005840" cy="1005840"/>
          </a:xfrm>
          <a:prstGeom prst="ellipse">
            <a:avLst/>
          </a:prstGeom>
          <a:solidFill>
            <a:srgbClr val="FCE9E6"/>
          </a:solidFill>
          <a:ln w="17780">
            <a:solidFill>
              <a:srgbClr val="E966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8275319" y="2304288"/>
            <a:ext cx="566928" cy="566928"/>
          </a:xfrm>
          <a:prstGeom prst="ellipse">
            <a:avLst/>
          </a:prstGeom>
          <a:solidFill>
            <a:srgbClr val="E96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275319" y="2496312"/>
            <a:ext cx="566928" cy="137160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50" b="1" i="0">
                <a:solidFill>
                  <a:srgbClr val="FFFFFF"/>
                </a:solidFill>
                <a:latin typeface="Aptos"/>
              </a:rPr>
              <a:t>04</a:t>
            </a:r>
            <a:endParaRPr sz="650" b="1" i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7662671" y="3337560"/>
            <a:ext cx="1783080" cy="384048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9665B"/>
                </a:solidFill>
                <a:latin typeface="Aptos"/>
              </a:rPr>
              <a:t>REFUND FARMING</a:t>
            </a:r>
            <a:endParaRPr sz="900" b="1" i="0">
              <a:solidFill>
                <a:srgbClr val="E9665B"/>
              </a:solidFill>
              <a:latin typeface="Aptos"/>
            </a:endParaRPr>
          </a:p>
        </p:txBody>
      </p:sp>
      <p:cxnSp>
        <p:nvCxnSpPr>
          <p:cNvPr id="63" name="Connector 62"/>
          <p:cNvCxnSpPr/>
          <p:nvPr/>
        </p:nvCxnSpPr>
        <p:spPr>
          <a:xfrm>
            <a:off x="7872983" y="3822191"/>
            <a:ext cx="1362456" cy="0"/>
          </a:xfrm>
          <a:prstGeom prst="line">
            <a:avLst/>
          </a:prstGeom>
          <a:ln w="12700">
            <a:solidFill>
              <a:srgbClr val="D9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7690103" y="4041648"/>
            <a:ext cx="1737360" cy="566928"/>
          </a:xfrm>
          <a:prstGeom prst="rect">
            <a:avLst/>
          </a:prstGeom>
          <a:noFill/>
        </p:spPr>
        <p:txBody>
          <a:bodyPr wrap="square" lIns="45720" tIns="22860" rIns="45720" bIns="2286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6758A"/>
                </a:solidFill>
                <a:latin typeface="Aptos"/>
              </a:rPr>
              <a:t>Repeated refunds just
under limit, or refund
value ≥50% of purchases</a:t>
            </a:r>
            <a:endParaRPr sz="800" b="0" i="0">
              <a:solidFill>
                <a:srgbClr val="66758A"/>
              </a:solidFill>
              <a:latin typeface="Aptos"/>
            </a:endParaRPr>
          </a:p>
        </p:txBody>
      </p:sp>
      <p:sp>
        <p:nvSpPr>
          <p:cNvPr id="65" name="Rounded Rectangle 64"/>
          <p:cNvSpPr/>
          <p:nvPr/>
        </p:nvSpPr>
        <p:spPr>
          <a:xfrm>
            <a:off x="9857232" y="1847088"/>
            <a:ext cx="2057400" cy="2880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10387584" y="2084831"/>
            <a:ext cx="1005840" cy="1005840"/>
          </a:xfrm>
          <a:prstGeom prst="ellipse">
            <a:avLst/>
          </a:prstGeom>
          <a:solidFill>
            <a:srgbClr val="DFF4E8"/>
          </a:solidFill>
          <a:ln w="17780">
            <a:solidFill>
              <a:srgbClr val="138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10607040" y="2304288"/>
            <a:ext cx="566928" cy="566928"/>
          </a:xfrm>
          <a:prstGeom prst="ellipse">
            <a:avLst/>
          </a:prstGeom>
          <a:solidFill>
            <a:srgbClr val="138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0607040" y="2496312"/>
            <a:ext cx="566928" cy="137160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50" b="1" i="0">
                <a:solidFill>
                  <a:srgbClr val="FFFFFF"/>
                </a:solidFill>
                <a:latin typeface="Aptos"/>
              </a:rPr>
              <a:t>05</a:t>
            </a:r>
            <a:endParaRPr sz="650" b="1" i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9994392" y="3337560"/>
            <a:ext cx="1783080" cy="384048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3834B"/>
                </a:solidFill>
                <a:latin typeface="Aptos"/>
              </a:rPr>
              <a:t>POLICY EXPLOITATION</a:t>
            </a:r>
            <a:endParaRPr sz="900" b="1" i="0">
              <a:solidFill>
                <a:srgbClr val="13834B"/>
              </a:solidFill>
              <a:latin typeface="Aptos"/>
            </a:endParaRPr>
          </a:p>
        </p:txBody>
      </p:sp>
      <p:cxnSp>
        <p:nvCxnSpPr>
          <p:cNvPr id="70" name="Connector 69"/>
          <p:cNvCxnSpPr/>
          <p:nvPr/>
        </p:nvCxnSpPr>
        <p:spPr>
          <a:xfrm>
            <a:off x="10204704" y="3822191"/>
            <a:ext cx="1362455" cy="0"/>
          </a:xfrm>
          <a:prstGeom prst="line">
            <a:avLst/>
          </a:prstGeom>
          <a:ln w="12700">
            <a:solidFill>
              <a:srgbClr val="D9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10021824" y="4041648"/>
            <a:ext cx="1737360" cy="566928"/>
          </a:xfrm>
          <a:prstGeom prst="rect">
            <a:avLst/>
          </a:prstGeom>
          <a:noFill/>
        </p:spPr>
        <p:txBody>
          <a:bodyPr wrap="square" lIns="45720" tIns="22860" rIns="45720" bIns="2286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6758A"/>
                </a:solidFill>
                <a:latin typeface="Aptos"/>
              </a:rPr>
              <a:t>≥3 claims in the last
20% of the return window</a:t>
            </a:r>
            <a:endParaRPr sz="800" b="0" i="0">
              <a:solidFill>
                <a:srgbClr val="66758A"/>
              </a:solidFill>
              <a:latin typeface="Aptos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749808" y="5998464"/>
            <a:ext cx="10698480" cy="201168"/>
          </a:xfrm>
          <a:prstGeom prst="rect">
            <a:avLst/>
          </a:prstGeom>
          <a:noFill/>
        </p:spPr>
        <p:txBody>
          <a:bodyPr wrap="square" lIns="45720" tIns="22860" rIns="45720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 sz="800" b="0" i="1">
              <a:solidFill>
                <a:srgbClr val="66758A"/>
              </a:solidFill>
              <a:latin typeface="Aptos"/>
            </a:endParaRPr>
          </a:p>
        </p:txBody>
      </p:sp>
      <p:sp>
        <p:nvSpPr>
          <p:cNvPr id="76" name="Rounded Rectangle 75"/>
          <p:cNvSpPr/>
          <p:nvPr/>
        </p:nvSpPr>
        <p:spPr>
          <a:xfrm>
            <a:off x="594360" y="5449824"/>
            <a:ext cx="10991088" cy="4114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0160">
            <a:solidFill>
              <a:srgbClr val="D9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58952" y="5596128"/>
            <a:ext cx="1234440" cy="109728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13834B"/>
                </a:solidFill>
                <a:latin typeface="Aptos"/>
              </a:rPr>
              <a:t>RESPONSE LOOP</a:t>
            </a:r>
            <a:endParaRPr sz="700" b="1">
              <a:solidFill>
                <a:srgbClr val="13834B"/>
              </a:solidFill>
              <a:latin typeface="Aptos"/>
            </a:endParaRPr>
          </a:p>
        </p:txBody>
      </p:sp>
      <p:sp>
        <p:nvSpPr>
          <p:cNvPr id="78" name="Rounded Rectangle 77"/>
          <p:cNvSpPr/>
          <p:nvPr/>
        </p:nvSpPr>
        <p:spPr>
          <a:xfrm>
            <a:off x="2057400" y="5541264"/>
            <a:ext cx="1627632" cy="228600"/>
          </a:xfrm>
          <a:prstGeom prst="roundRect">
            <a:avLst>
              <a:gd name="adj" fmla="val 7000"/>
            </a:avLst>
          </a:prstGeom>
          <a:solidFill>
            <a:srgbClr val="E7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093976" y="5600700"/>
            <a:ext cx="1554480" cy="109728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1">
                <a:solidFill>
                  <a:srgbClr val="2459D3"/>
                </a:solidFill>
                <a:latin typeface="Aptos"/>
              </a:rPr>
              <a:t>FLAG</a:t>
            </a:r>
            <a:endParaRPr sz="600" b="1">
              <a:solidFill>
                <a:srgbClr val="2459D3"/>
              </a:solidFill>
              <a:latin typeface="Aptos"/>
            </a:endParaRPr>
          </a:p>
        </p:txBody>
      </p:sp>
      <p:cxnSp>
        <p:nvCxnSpPr>
          <p:cNvPr id="80" name="Connector 79"/>
          <p:cNvCxnSpPr/>
          <p:nvPr/>
        </p:nvCxnSpPr>
        <p:spPr>
          <a:xfrm>
            <a:off x="3703320" y="5660136"/>
            <a:ext cx="155448" cy="0"/>
          </a:xfrm>
          <a:prstGeom prst="line">
            <a:avLst/>
          </a:prstGeom>
          <a:ln w="19050">
            <a:solidFill>
              <a:srgbClr val="67B7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Rounded Rectangle 80"/>
          <p:cNvSpPr/>
          <p:nvPr/>
        </p:nvSpPr>
        <p:spPr>
          <a:xfrm>
            <a:off x="3904487" y="5541264"/>
            <a:ext cx="1627632" cy="228600"/>
          </a:xfrm>
          <a:prstGeom prst="roundRect">
            <a:avLst>
              <a:gd name="adj" fmla="val 7000"/>
            </a:avLst>
          </a:prstGeom>
          <a:solidFill>
            <a:srgbClr val="E1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3941063" y="5600700"/>
            <a:ext cx="1554480" cy="109728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1">
                <a:solidFill>
                  <a:srgbClr val="159E9A"/>
                </a:solidFill>
                <a:latin typeface="Aptos"/>
              </a:rPr>
              <a:t>ATTACH SOURCE</a:t>
            </a:r>
            <a:endParaRPr sz="600" b="1">
              <a:solidFill>
                <a:srgbClr val="159E9A"/>
              </a:solidFill>
              <a:latin typeface="Aptos"/>
            </a:endParaRPr>
          </a:p>
        </p:txBody>
      </p:sp>
      <p:cxnSp>
        <p:nvCxnSpPr>
          <p:cNvPr id="83" name="Connector 82"/>
          <p:cNvCxnSpPr/>
          <p:nvPr/>
        </p:nvCxnSpPr>
        <p:spPr>
          <a:xfrm>
            <a:off x="5550408" y="5660136"/>
            <a:ext cx="155448" cy="0"/>
          </a:xfrm>
          <a:prstGeom prst="line">
            <a:avLst/>
          </a:prstGeom>
          <a:ln w="19050">
            <a:solidFill>
              <a:srgbClr val="67B7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Rounded Rectangle 83"/>
          <p:cNvSpPr/>
          <p:nvPr/>
        </p:nvSpPr>
        <p:spPr>
          <a:xfrm>
            <a:off x="5751576" y="5541264"/>
            <a:ext cx="1627632" cy="228600"/>
          </a:xfrm>
          <a:prstGeom prst="roundRect">
            <a:avLst>
              <a:gd name="adj" fmla="val 7000"/>
            </a:avLst>
          </a:prstGeom>
          <a:solidFill>
            <a:srgbClr val="EC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5788152" y="5600700"/>
            <a:ext cx="1554480" cy="109728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1">
                <a:solidFill>
                  <a:srgbClr val="7656D6"/>
                </a:solidFill>
                <a:latin typeface="Aptos"/>
              </a:rPr>
              <a:t>CHECK EXPOSURE</a:t>
            </a:r>
            <a:endParaRPr sz="600" b="1">
              <a:solidFill>
                <a:srgbClr val="7656D6"/>
              </a:solidFill>
              <a:latin typeface="Aptos"/>
            </a:endParaRPr>
          </a:p>
        </p:txBody>
      </p:sp>
      <p:cxnSp>
        <p:nvCxnSpPr>
          <p:cNvPr id="86" name="Connector 85"/>
          <p:cNvCxnSpPr/>
          <p:nvPr/>
        </p:nvCxnSpPr>
        <p:spPr>
          <a:xfrm>
            <a:off x="7397496" y="5660136"/>
            <a:ext cx="155448" cy="0"/>
          </a:xfrm>
          <a:prstGeom prst="line">
            <a:avLst/>
          </a:prstGeom>
          <a:ln w="19050">
            <a:solidFill>
              <a:srgbClr val="67B7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Rounded Rectangle 86"/>
          <p:cNvSpPr/>
          <p:nvPr/>
        </p:nvSpPr>
        <p:spPr>
          <a:xfrm>
            <a:off x="7598664" y="5541264"/>
            <a:ext cx="1627632" cy="228600"/>
          </a:xfrm>
          <a:prstGeom prst="roundRect">
            <a:avLst>
              <a:gd name="adj" fmla="val 7000"/>
            </a:avLst>
          </a:prstGeom>
          <a:solidFill>
            <a:srgbClr val="FCE9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7635240" y="5600700"/>
            <a:ext cx="1554480" cy="109728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1">
                <a:solidFill>
                  <a:srgbClr val="E9665B"/>
                </a:solidFill>
                <a:latin typeface="Aptos"/>
              </a:rPr>
              <a:t>ROUTE</a:t>
            </a:r>
            <a:endParaRPr sz="600" b="1">
              <a:solidFill>
                <a:srgbClr val="E9665B"/>
              </a:solidFill>
              <a:latin typeface="Aptos"/>
            </a:endParaRPr>
          </a:p>
        </p:txBody>
      </p:sp>
      <p:cxnSp>
        <p:nvCxnSpPr>
          <p:cNvPr id="89" name="Connector 88"/>
          <p:cNvCxnSpPr/>
          <p:nvPr/>
        </p:nvCxnSpPr>
        <p:spPr>
          <a:xfrm>
            <a:off x="9244584" y="5660136"/>
            <a:ext cx="155448" cy="0"/>
          </a:xfrm>
          <a:prstGeom prst="line">
            <a:avLst/>
          </a:prstGeom>
          <a:ln w="19050">
            <a:solidFill>
              <a:srgbClr val="67B7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Rounded Rectangle 89"/>
          <p:cNvSpPr/>
          <p:nvPr/>
        </p:nvSpPr>
        <p:spPr>
          <a:xfrm>
            <a:off x="9445752" y="5541264"/>
            <a:ext cx="1627632" cy="228600"/>
          </a:xfrm>
          <a:prstGeom prst="roundRect">
            <a:avLst>
              <a:gd name="adj" fmla="val 7000"/>
            </a:avLst>
          </a:prstGeom>
          <a:solidFill>
            <a:srgbClr val="DFF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9482328" y="5600700"/>
            <a:ext cx="1554480" cy="109728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1">
                <a:solidFill>
                  <a:srgbClr val="13834B"/>
                </a:solidFill>
                <a:latin typeface="Aptos"/>
              </a:rPr>
              <a:t>RECORD OUTCOME</a:t>
            </a:r>
            <a:endParaRPr sz="600" b="1">
              <a:solidFill>
                <a:srgbClr val="13834B"/>
              </a:solidFill>
              <a:latin typeface="Aptos"/>
            </a:endParaRPr>
          </a:p>
        </p:txBody>
      </p:sp>
      <p:pic>
        <p:nvPicPr>
          <p:cNvPr id="92" name="Picture 91" descr="image(20261024-111450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0747" y="195932"/>
            <a:ext cx="1645834" cy="46759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38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01168"/>
            <a:ext cx="7315200" cy="182880"/>
          </a:xfrm>
          <a:prstGeom prst="rect">
            <a:avLst/>
          </a:prstGeom>
          <a:noFill/>
        </p:spPr>
        <p:txBody>
          <a:bodyPr wrap="square" lIns="45720" tIns="22860" rIns="45720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3834B"/>
                </a:solidFill>
                <a:latin typeface="Aptos"/>
              </a:rPr>
              <a:t>REFUND INTELLIGENCE     /     RESOLUTION STRATEGY</a:t>
            </a:r>
            <a:endParaRPr sz="800" b="1" i="0">
              <a:solidFill>
                <a:srgbClr val="13834B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38912" y="502920"/>
            <a:ext cx="11247120" cy="576072"/>
          </a:xfrm>
          <a:prstGeom prst="rect">
            <a:avLst/>
          </a:prstGeom>
          <a:noFill/>
        </p:spPr>
        <p:txBody>
          <a:bodyPr wrap="square" lIns="45720" tIns="22860" rIns="45720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02344"/>
                </a:solidFill>
                <a:latin typeface="Aptos Display"/>
              </a:rPr>
              <a:t>The cheapest action is not always the fastest refund.</a:t>
            </a:r>
            <a:endParaRPr sz="2600" b="1" i="0">
              <a:solidFill>
                <a:srgbClr val="102344"/>
              </a:solidFill>
              <a:latin typeface="Aptos Display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1115568"/>
            <a:ext cx="10972800" cy="256032"/>
          </a:xfrm>
          <a:prstGeom prst="rect">
            <a:avLst/>
          </a:prstGeom>
          <a:noFill/>
        </p:spPr>
        <p:txBody>
          <a:bodyPr wrap="square" lIns="45720" tIns="22860" rIns="45720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758A"/>
                </a:solidFill>
                <a:latin typeface="Aptos"/>
              </a:rPr>
              <a:t>Choose the lowest expected-cost action among those that are eligible—then apply hard guardrails.</a:t>
            </a:r>
            <a:endParaRPr sz="1000" b="0" i="0">
              <a:solidFill>
                <a:srgbClr val="66758A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347472" cy="155448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650" b="1" i="0">
                <a:solidFill>
                  <a:srgbClr val="13834B"/>
                </a:solidFill>
                <a:latin typeface="Aptos"/>
              </a:rPr>
              <a:t>08</a:t>
            </a:r>
            <a:endParaRPr sz="650" b="1" i="0">
              <a:solidFill>
                <a:srgbClr val="13834B"/>
              </a:solidFill>
              <a:latin typeface="Aptos"/>
            </a:endParaRPr>
          </a:p>
        </p:txBody>
      </p:sp>
      <p:sp>
        <p:nvSpPr>
          <p:cNvPr id="7" name="Oval 6"/>
          <p:cNvSpPr/>
          <p:nvPr/>
        </p:nvSpPr>
        <p:spPr>
          <a:xfrm>
            <a:off x="457200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66928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76656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86384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96112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5840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15568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225295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335024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444752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554480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664207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773936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883664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993391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103120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212848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322576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432304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542032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651760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761488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871215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980944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3090672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200400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3310128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419856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3529584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3639312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40080" y="1691640"/>
            <a:ext cx="6675120" cy="4206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32688" y="1901952"/>
            <a:ext cx="2011680" cy="182880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459D3"/>
                </a:solidFill>
                <a:latin typeface="Aptos"/>
              </a:rPr>
              <a:t>RISK EXPOSURE  →</a:t>
            </a:r>
            <a:endParaRPr sz="800" b="1" i="0">
              <a:solidFill>
                <a:srgbClr val="2459D3"/>
              </a:solidFill>
              <a:latin typeface="Aptos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1325880" y="2267712"/>
            <a:ext cx="1828800" cy="182880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66758A"/>
                </a:solidFill>
                <a:latin typeface="Aptos"/>
              </a:rPr>
              <a:t>LOW CONFIDENCE</a:t>
            </a:r>
            <a:endParaRPr sz="800" b="1" i="0">
              <a:solidFill>
                <a:srgbClr val="66758A"/>
              </a:solidFill>
              <a:latin typeface="Aptos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4572000" y="2267712"/>
            <a:ext cx="1828800" cy="182880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66758A"/>
                </a:solidFill>
                <a:latin typeface="Aptos"/>
              </a:rPr>
              <a:t>HIGH CONFIDENCE</a:t>
            </a:r>
            <a:endParaRPr sz="800" b="1" i="0">
              <a:solidFill>
                <a:srgbClr val="66758A"/>
              </a:solidFill>
              <a:latin typeface="Aptos"/>
            </a:endParaRPr>
          </a:p>
        </p:txBody>
      </p:sp>
      <p:sp>
        <p:nvSpPr>
          <p:cNvPr id="41" name="Rounded Rectangle 40"/>
          <p:cNvSpPr/>
          <p:nvPr/>
        </p:nvSpPr>
        <p:spPr>
          <a:xfrm>
            <a:off x="932688" y="2587752"/>
            <a:ext cx="2834640" cy="1234440"/>
          </a:xfrm>
          <a:prstGeom prst="roundRect">
            <a:avLst>
              <a:gd name="adj" fmla="val 10000"/>
            </a:avLst>
          </a:prstGeom>
          <a:solidFill>
            <a:srgbClr val="E7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69848" y="2816352"/>
            <a:ext cx="2560320" cy="219456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459D3"/>
                </a:solidFill>
                <a:latin typeface="Aptos"/>
              </a:rPr>
              <a:t>REQUEST EVIDENCE</a:t>
            </a:r>
            <a:endParaRPr sz="800" b="1" i="0">
              <a:solidFill>
                <a:srgbClr val="2459D3"/>
              </a:solidFill>
              <a:latin typeface="Aptos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1069848" y="3218688"/>
            <a:ext cx="2560320" cy="201168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6758A"/>
                </a:solidFill>
                <a:latin typeface="Aptos"/>
              </a:rPr>
              <a:t>Unclear claim / weak proof</a:t>
            </a:r>
            <a:endParaRPr sz="800" b="0" i="0">
              <a:solidFill>
                <a:srgbClr val="66758A"/>
              </a:solidFill>
              <a:latin typeface="Aptos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4041648" y="2587752"/>
            <a:ext cx="2834640" cy="1234440"/>
          </a:xfrm>
          <a:prstGeom prst="roundRect">
            <a:avLst>
              <a:gd name="adj" fmla="val 10000"/>
            </a:avLst>
          </a:prstGeom>
          <a:solidFill>
            <a:srgbClr val="DFF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178808" y="2816352"/>
            <a:ext cx="2560320" cy="219456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3834B"/>
                </a:solidFill>
                <a:latin typeface="Aptos"/>
              </a:rPr>
              <a:t>FAST-TRACK</a:t>
            </a:r>
            <a:endParaRPr sz="800" b="1" i="0">
              <a:solidFill>
                <a:srgbClr val="13834B"/>
              </a:solidFill>
              <a:latin typeface="Aptos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4178808" y="3218688"/>
            <a:ext cx="2560320" cy="201168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6758A"/>
                </a:solidFill>
                <a:latin typeface="Aptos"/>
              </a:rPr>
              <a:t>Eligible + low expected cost</a:t>
            </a:r>
            <a:endParaRPr sz="800" b="0" i="0">
              <a:solidFill>
                <a:srgbClr val="66758A"/>
              </a:solidFill>
              <a:latin typeface="Aptos"/>
            </a:endParaRPr>
          </a:p>
        </p:txBody>
      </p:sp>
      <p:sp>
        <p:nvSpPr>
          <p:cNvPr id="47" name="Rounded Rectangle 46"/>
          <p:cNvSpPr/>
          <p:nvPr/>
        </p:nvSpPr>
        <p:spPr>
          <a:xfrm>
            <a:off x="932688" y="4005072"/>
            <a:ext cx="2834640" cy="1234440"/>
          </a:xfrm>
          <a:prstGeom prst="roundRect">
            <a:avLst>
              <a:gd name="adj" fmla="val 10000"/>
            </a:avLst>
          </a:prstGeom>
          <a:solidFill>
            <a:srgbClr val="FFF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69848" y="4233672"/>
            <a:ext cx="2560320" cy="219456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334A67"/>
                </a:solidFill>
                <a:latin typeface="Aptos"/>
              </a:rPr>
              <a:t>HUMAN REVIEW</a:t>
            </a:r>
            <a:endParaRPr sz="800" b="1" i="0">
              <a:solidFill>
                <a:srgbClr val="334A67"/>
              </a:solidFill>
              <a:latin typeface="Aptos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1069848" y="4636008"/>
            <a:ext cx="2560320" cy="201168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6758A"/>
                </a:solidFill>
                <a:latin typeface="Aptos"/>
              </a:rPr>
              <a:t>High risk, weak certainty</a:t>
            </a:r>
            <a:endParaRPr sz="800" b="0" i="0">
              <a:solidFill>
                <a:srgbClr val="66758A"/>
              </a:solidFill>
              <a:latin typeface="Aptos"/>
            </a:endParaRPr>
          </a:p>
        </p:txBody>
      </p:sp>
      <p:sp>
        <p:nvSpPr>
          <p:cNvPr id="50" name="Rounded Rectangle 49"/>
          <p:cNvSpPr/>
          <p:nvPr/>
        </p:nvSpPr>
        <p:spPr>
          <a:xfrm>
            <a:off x="4041648" y="4005072"/>
            <a:ext cx="2834640" cy="1234440"/>
          </a:xfrm>
          <a:prstGeom prst="roundRect">
            <a:avLst>
              <a:gd name="adj" fmla="val 10000"/>
            </a:avLst>
          </a:prstGeom>
          <a:solidFill>
            <a:srgbClr val="FCE9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178808" y="4233672"/>
            <a:ext cx="2560320" cy="219456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E9665B"/>
                </a:solidFill>
                <a:latin typeface="Aptos"/>
              </a:rPr>
              <a:t>GUARDED ACTION</a:t>
            </a:r>
            <a:endParaRPr sz="800" b="1" i="0">
              <a:solidFill>
                <a:srgbClr val="E9665B"/>
              </a:solidFill>
              <a:latin typeface="Aptos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4178808" y="4636008"/>
            <a:ext cx="2560320" cy="201168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6758A"/>
                </a:solidFill>
                <a:latin typeface="Aptos"/>
              </a:rPr>
              <a:t>Evidence supports risk route</a:t>
            </a:r>
            <a:endParaRPr sz="800" b="0" i="0">
              <a:solidFill>
                <a:srgbClr val="66758A"/>
              </a:solidFill>
              <a:latin typeface="Aptos"/>
            </a:endParaRPr>
          </a:p>
        </p:txBody>
      </p:sp>
      <p:sp>
        <p:nvSpPr>
          <p:cNvPr id="53" name="Rounded Rectangle 52"/>
          <p:cNvSpPr/>
          <p:nvPr/>
        </p:nvSpPr>
        <p:spPr>
          <a:xfrm>
            <a:off x="7635240" y="1691640"/>
            <a:ext cx="3886200" cy="4206240"/>
          </a:xfrm>
          <a:prstGeom prst="roundRect">
            <a:avLst>
              <a:gd name="adj" fmla="val 10000"/>
            </a:avLst>
          </a:prstGeom>
          <a:solidFill>
            <a:srgbClr val="102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955279" y="1965960"/>
            <a:ext cx="3200400" cy="219456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67B7E8"/>
                </a:solidFill>
                <a:latin typeface="Aptos"/>
              </a:rPr>
              <a:t>ACTION COST MODEL</a:t>
            </a:r>
            <a:endParaRPr sz="800" b="1" i="0">
              <a:solidFill>
                <a:srgbClr val="67B7E8"/>
              </a:solidFill>
              <a:latin typeface="Aptos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7955279" y="2331720"/>
            <a:ext cx="3200400" cy="365760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ptos Display"/>
              </a:rPr>
              <a:t>Cost = Loss + Friction + Handling</a:t>
            </a:r>
            <a:endParaRPr sz="1400" b="1" i="0">
              <a:solidFill>
                <a:srgbClr val="FFFFFF"/>
              </a:solidFill>
              <a:latin typeface="Aptos Display"/>
            </a:endParaRPr>
          </a:p>
        </p:txBody>
      </p:sp>
      <p:cxnSp>
        <p:nvCxnSpPr>
          <p:cNvPr id="56" name="Connector 55"/>
          <p:cNvCxnSpPr/>
          <p:nvPr/>
        </p:nvCxnSpPr>
        <p:spPr>
          <a:xfrm>
            <a:off x="7955279" y="2852928"/>
            <a:ext cx="3154681" cy="0"/>
          </a:xfrm>
          <a:prstGeom prst="line">
            <a:avLst/>
          </a:prstGeom>
          <a:ln w="25400">
            <a:solidFill>
              <a:srgbClr val="159E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Oval 56"/>
          <p:cNvSpPr/>
          <p:nvPr/>
        </p:nvSpPr>
        <p:spPr>
          <a:xfrm>
            <a:off x="7973568" y="3063240"/>
            <a:ext cx="146304" cy="146304"/>
          </a:xfrm>
          <a:prstGeom prst="ellipse">
            <a:avLst/>
          </a:prstGeom>
          <a:solidFill>
            <a:srgbClr val="E96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247888" y="3044952"/>
            <a:ext cx="1508760" cy="164592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Aptos"/>
              </a:rPr>
              <a:t>IMMEDIATE REFUND</a:t>
            </a:r>
            <a:endParaRPr sz="800" b="1" i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9646920" y="3044952"/>
            <a:ext cx="1508760" cy="228600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C8D6E5"/>
                </a:solidFill>
                <a:latin typeface="Aptos"/>
              </a:rPr>
              <a:t>Highest exposure factor</a:t>
            </a:r>
            <a:endParaRPr sz="700" b="0" i="0">
              <a:solidFill>
                <a:srgbClr val="C8D6E5"/>
              </a:solidFill>
              <a:latin typeface="Aptos"/>
            </a:endParaRPr>
          </a:p>
        </p:txBody>
      </p:sp>
      <p:sp>
        <p:nvSpPr>
          <p:cNvPr id="60" name="Oval 59"/>
          <p:cNvSpPr/>
          <p:nvPr/>
        </p:nvSpPr>
        <p:spPr>
          <a:xfrm>
            <a:off x="7973568" y="3584448"/>
            <a:ext cx="146304" cy="146304"/>
          </a:xfrm>
          <a:prstGeom prst="ellipse">
            <a:avLst/>
          </a:prstGeom>
          <a:solidFill>
            <a:srgbClr val="2459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247888" y="3566160"/>
            <a:ext cx="1508760" cy="164592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Aptos"/>
              </a:rPr>
              <a:t>AFTER RETURN</a:t>
            </a:r>
            <a:endParaRPr sz="800" b="1" i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9646920" y="3566160"/>
            <a:ext cx="1508760" cy="228600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C8D6E5"/>
                </a:solidFill>
                <a:latin typeface="Aptos"/>
              </a:rPr>
              <a:t>Lower exposure; return friction</a:t>
            </a:r>
            <a:endParaRPr sz="700" b="0" i="0">
              <a:solidFill>
                <a:srgbClr val="C8D6E5"/>
              </a:solidFill>
              <a:latin typeface="Aptos"/>
            </a:endParaRPr>
          </a:p>
        </p:txBody>
      </p:sp>
      <p:sp>
        <p:nvSpPr>
          <p:cNvPr id="63" name="Oval 62"/>
          <p:cNvSpPr/>
          <p:nvPr/>
        </p:nvSpPr>
        <p:spPr>
          <a:xfrm>
            <a:off x="7973568" y="4105656"/>
            <a:ext cx="146304" cy="146304"/>
          </a:xfrm>
          <a:prstGeom prst="ellipse">
            <a:avLst/>
          </a:prstGeom>
          <a:solidFill>
            <a:srgbClr val="159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247888" y="4087368"/>
            <a:ext cx="1508760" cy="164592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Aptos"/>
              </a:rPr>
              <a:t>REQUEST PROOF</a:t>
            </a:r>
            <a:endParaRPr sz="800" b="1" i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9646920" y="4087368"/>
            <a:ext cx="1508760" cy="228600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C8D6E5"/>
                </a:solidFill>
                <a:latin typeface="Aptos"/>
              </a:rPr>
              <a:t>Evidence gap; limited repeat ask</a:t>
            </a:r>
            <a:endParaRPr sz="700" b="0" i="0">
              <a:solidFill>
                <a:srgbClr val="C8D6E5"/>
              </a:solidFill>
              <a:latin typeface="Aptos"/>
            </a:endParaRPr>
          </a:p>
        </p:txBody>
      </p:sp>
      <p:sp>
        <p:nvSpPr>
          <p:cNvPr id="66" name="Oval 65"/>
          <p:cNvSpPr/>
          <p:nvPr/>
        </p:nvSpPr>
        <p:spPr>
          <a:xfrm>
            <a:off x="7973568" y="4626864"/>
            <a:ext cx="146304" cy="146304"/>
          </a:xfrm>
          <a:prstGeom prst="ellipse">
            <a:avLst/>
          </a:prstGeom>
          <a:solidFill>
            <a:srgbClr val="765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247888" y="4608576"/>
            <a:ext cx="1508760" cy="164592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Aptos"/>
              </a:rPr>
              <a:t>MANUAL REVIEW</a:t>
            </a:r>
            <a:endParaRPr sz="800" b="1" i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9646920" y="4608576"/>
            <a:ext cx="1508760" cy="228600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C8D6E5"/>
                </a:solidFill>
                <a:latin typeface="Aptos"/>
              </a:rPr>
              <a:t>Low exposure factor; high handling</a:t>
            </a:r>
            <a:endParaRPr sz="700" b="0" i="0">
              <a:solidFill>
                <a:srgbClr val="C8D6E5"/>
              </a:solidFill>
              <a:latin typeface="Aptos"/>
            </a:endParaRPr>
          </a:p>
        </p:txBody>
      </p:sp>
      <p:sp>
        <p:nvSpPr>
          <p:cNvPr id="69" name="Rounded Rectangle 68"/>
          <p:cNvSpPr/>
          <p:nvPr/>
        </p:nvSpPr>
        <p:spPr>
          <a:xfrm>
            <a:off x="566928" y="6016752"/>
            <a:ext cx="11045952" cy="384048"/>
          </a:xfrm>
          <a:prstGeom prst="roundRect">
            <a:avLst>
              <a:gd name="adj" fmla="val 10000"/>
            </a:avLst>
          </a:prstGeom>
          <a:solidFill>
            <a:srgbClr val="FCE9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58952" y="6126480"/>
            <a:ext cx="1645920" cy="146304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50" b="1" i="0">
                <a:solidFill>
                  <a:srgbClr val="E9665B"/>
                </a:solidFill>
                <a:latin typeface="Aptos"/>
              </a:rPr>
              <a:t>NON-NEGOTIABLE</a:t>
            </a:r>
            <a:endParaRPr sz="650" b="1" i="0">
              <a:solidFill>
                <a:srgbClr val="E9665B"/>
              </a:solidFill>
              <a:latin typeface="Aptos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2304288" y="6108192"/>
            <a:ext cx="9052560" cy="182880"/>
          </a:xfrm>
          <a:prstGeom prst="rect">
            <a:avLst/>
          </a:prstGeom>
          <a:noFill/>
        </p:spPr>
        <p:txBody>
          <a:bodyPr wrap="square" lIns="45720" tIns="22860" rIns="45720" bIns="2286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02344"/>
                </a:solidFill>
                <a:latin typeface="Aptos"/>
              </a:rPr>
              <a:t>A failed deterministic policy gate cannot be overridden by an AI agent.</a:t>
            </a:r>
            <a:endParaRPr sz="900" b="1" i="0">
              <a:solidFill>
                <a:srgbClr val="102344"/>
              </a:solidFill>
              <a:latin typeface="Aptos"/>
            </a:endParaRPr>
          </a:p>
        </p:txBody>
      </p:sp>
      <p:sp>
        <p:nvSpPr>
          <p:cNvPr id="72" name="Rounded Rectangle 71"/>
          <p:cNvSpPr/>
          <p:nvPr/>
        </p:nvSpPr>
        <p:spPr>
          <a:xfrm>
            <a:off x="594360" y="5440680"/>
            <a:ext cx="10991088" cy="4297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0160">
            <a:solidFill>
              <a:srgbClr val="D9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58952" y="5596128"/>
            <a:ext cx="1005840" cy="109728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13834B"/>
                </a:solidFill>
                <a:latin typeface="Aptos"/>
              </a:rPr>
              <a:t>COST LENS</a:t>
            </a:r>
            <a:endParaRPr sz="700" b="1">
              <a:solidFill>
                <a:srgbClr val="13834B"/>
              </a:solidFill>
              <a:latin typeface="Aptos"/>
            </a:endParaRPr>
          </a:p>
        </p:txBody>
      </p:sp>
      <p:sp>
        <p:nvSpPr>
          <p:cNvPr id="74" name="Rounded Rectangle 73"/>
          <p:cNvSpPr/>
          <p:nvPr/>
        </p:nvSpPr>
        <p:spPr>
          <a:xfrm>
            <a:off x="1828800" y="5532120"/>
            <a:ext cx="731520" cy="228600"/>
          </a:xfrm>
          <a:prstGeom prst="roundRect">
            <a:avLst>
              <a:gd name="adj" fmla="val 7000"/>
            </a:avLst>
          </a:prstGeom>
          <a:solidFill>
            <a:srgbClr val="FCE9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865376" y="5591556"/>
            <a:ext cx="658368" cy="109728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1">
                <a:solidFill>
                  <a:srgbClr val="E9665B"/>
                </a:solidFill>
                <a:latin typeface="Aptos"/>
              </a:rPr>
              <a:t>LOSS</a:t>
            </a:r>
            <a:endParaRPr sz="600" b="1">
              <a:solidFill>
                <a:srgbClr val="E9665B"/>
              </a:solidFill>
              <a:latin typeface="Aptos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2651760" y="5586984"/>
            <a:ext cx="1417320" cy="118872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172B4D"/>
                </a:solidFill>
                <a:latin typeface="Aptos"/>
              </a:rPr>
              <a:t>Expected exposure</a:t>
            </a:r>
            <a:endParaRPr sz="700" b="1">
              <a:solidFill>
                <a:srgbClr val="172B4D"/>
              </a:solidFill>
              <a:latin typeface="Aptos"/>
            </a:endParaRPr>
          </a:p>
        </p:txBody>
      </p:sp>
      <p:sp>
        <p:nvSpPr>
          <p:cNvPr id="77" name="Rounded Rectangle 76"/>
          <p:cNvSpPr/>
          <p:nvPr/>
        </p:nvSpPr>
        <p:spPr>
          <a:xfrm>
            <a:off x="4224528" y="5532120"/>
            <a:ext cx="731520" cy="228600"/>
          </a:xfrm>
          <a:prstGeom prst="roundRect">
            <a:avLst>
              <a:gd name="adj" fmla="val 7000"/>
            </a:avLst>
          </a:prstGeom>
          <a:solidFill>
            <a:srgbClr val="E7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261104" y="5591556"/>
            <a:ext cx="658368" cy="109728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1">
                <a:solidFill>
                  <a:srgbClr val="2459D3"/>
                </a:solidFill>
                <a:latin typeface="Aptos"/>
              </a:rPr>
              <a:t>CX</a:t>
            </a:r>
            <a:endParaRPr sz="600" b="1">
              <a:solidFill>
                <a:srgbClr val="2459D3"/>
              </a:solidFill>
              <a:latin typeface="Aptos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5047488" y="5586984"/>
            <a:ext cx="1417320" cy="118872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172B4D"/>
                </a:solidFill>
                <a:latin typeface="Aptos"/>
              </a:rPr>
              <a:t>Customer friction</a:t>
            </a:r>
            <a:endParaRPr sz="700" b="1">
              <a:solidFill>
                <a:srgbClr val="172B4D"/>
              </a:solidFill>
              <a:latin typeface="Aptos"/>
            </a:endParaRPr>
          </a:p>
        </p:txBody>
      </p:sp>
      <p:sp>
        <p:nvSpPr>
          <p:cNvPr id="80" name="Rounded Rectangle 79"/>
          <p:cNvSpPr/>
          <p:nvPr/>
        </p:nvSpPr>
        <p:spPr>
          <a:xfrm>
            <a:off x="6620256" y="5532120"/>
            <a:ext cx="731520" cy="228600"/>
          </a:xfrm>
          <a:prstGeom prst="roundRect">
            <a:avLst>
              <a:gd name="adj" fmla="val 7000"/>
            </a:avLst>
          </a:prstGeom>
          <a:solidFill>
            <a:srgbClr val="EC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656832" y="5591556"/>
            <a:ext cx="658368" cy="109728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1">
                <a:solidFill>
                  <a:srgbClr val="7656D6"/>
                </a:solidFill>
                <a:latin typeface="Aptos"/>
              </a:rPr>
              <a:t>OPS</a:t>
            </a:r>
            <a:endParaRPr sz="600" b="1">
              <a:solidFill>
                <a:srgbClr val="7656D6"/>
              </a:solidFill>
              <a:latin typeface="Aptos"/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7443216" y="5586984"/>
            <a:ext cx="1417320" cy="118872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172B4D"/>
                </a:solidFill>
                <a:latin typeface="Aptos"/>
              </a:rPr>
              <a:t>Handling effort</a:t>
            </a:r>
            <a:endParaRPr sz="700" b="1">
              <a:solidFill>
                <a:srgbClr val="172B4D"/>
              </a:solidFill>
              <a:latin typeface="Aptos"/>
            </a:endParaRPr>
          </a:p>
        </p:txBody>
      </p:sp>
      <p:sp>
        <p:nvSpPr>
          <p:cNvPr id="83" name="Rounded Rectangle 82"/>
          <p:cNvSpPr/>
          <p:nvPr/>
        </p:nvSpPr>
        <p:spPr>
          <a:xfrm>
            <a:off x="9015984" y="5532120"/>
            <a:ext cx="731520" cy="228600"/>
          </a:xfrm>
          <a:prstGeom prst="roundRect">
            <a:avLst>
              <a:gd name="adj" fmla="val 7000"/>
            </a:avLst>
          </a:prstGeom>
          <a:solidFill>
            <a:srgbClr val="DFF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9052559" y="5591556"/>
            <a:ext cx="658368" cy="109728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1">
                <a:solidFill>
                  <a:srgbClr val="13834B"/>
                </a:solidFill>
                <a:latin typeface="Aptos"/>
              </a:rPr>
              <a:t>GATE</a:t>
            </a:r>
            <a:endParaRPr sz="600" b="1">
              <a:solidFill>
                <a:srgbClr val="13834B"/>
              </a:solidFill>
              <a:latin typeface="Aptos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9838944" y="5586984"/>
            <a:ext cx="1417320" cy="118872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172B4D"/>
                </a:solidFill>
                <a:latin typeface="Aptos"/>
              </a:rPr>
              <a:t>Eligibility first</a:t>
            </a:r>
            <a:endParaRPr sz="700" b="1">
              <a:solidFill>
                <a:srgbClr val="172B4D"/>
              </a:solidFill>
              <a:latin typeface="Aptos"/>
            </a:endParaRPr>
          </a:p>
        </p:txBody>
      </p:sp>
      <p:pic>
        <p:nvPicPr>
          <p:cNvPr id="86" name="Picture 85" descr="image(20261024-111450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0747" y="195932"/>
            <a:ext cx="1645834" cy="46759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38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01168"/>
            <a:ext cx="7315200" cy="182880"/>
          </a:xfrm>
          <a:prstGeom prst="rect">
            <a:avLst/>
          </a:prstGeom>
          <a:noFill/>
        </p:spPr>
        <p:txBody>
          <a:bodyPr wrap="square" lIns="45720" tIns="22860" rIns="45720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3834B"/>
                </a:solidFill>
                <a:latin typeface="Aptos"/>
              </a:rPr>
              <a:t>REFUND INTELLIGENCE     /     PRODUCT EXPERIENCE</a:t>
            </a:r>
            <a:endParaRPr sz="800" b="1" i="0">
              <a:solidFill>
                <a:srgbClr val="13834B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38912" y="502920"/>
            <a:ext cx="11247120" cy="576072"/>
          </a:xfrm>
          <a:prstGeom prst="rect">
            <a:avLst/>
          </a:prstGeom>
          <a:noFill/>
        </p:spPr>
        <p:txBody>
          <a:bodyPr wrap="square" lIns="45720" tIns="22860" rIns="45720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02344"/>
                </a:solidFill>
                <a:latin typeface="Aptos Display"/>
              </a:rPr>
              <a:t>One workspace. Three views. A traceable resolution.</a:t>
            </a:r>
            <a:endParaRPr sz="2600" b="1" i="0">
              <a:solidFill>
                <a:srgbClr val="102344"/>
              </a:solidFill>
              <a:latin typeface="Aptos Display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1115568"/>
            <a:ext cx="10972800" cy="256032"/>
          </a:xfrm>
          <a:prstGeom prst="rect">
            <a:avLst/>
          </a:prstGeom>
          <a:noFill/>
        </p:spPr>
        <p:txBody>
          <a:bodyPr wrap="square" lIns="45720" tIns="22860" rIns="45720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758A"/>
                </a:solidFill>
                <a:latin typeface="Aptos"/>
              </a:rPr>
              <a:t>Streamlit UI calls the FastAPI backend; the existing order/refund systems are represented by stubs in this prototype.</a:t>
            </a:r>
            <a:endParaRPr sz="1000" b="0" i="0">
              <a:solidFill>
                <a:srgbClr val="66758A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347472" cy="155448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650" b="1" i="0">
                <a:solidFill>
                  <a:srgbClr val="13834B"/>
                </a:solidFill>
                <a:latin typeface="Aptos"/>
              </a:rPr>
              <a:t>09</a:t>
            </a:r>
            <a:endParaRPr sz="650" b="1" i="0">
              <a:solidFill>
                <a:srgbClr val="13834B"/>
              </a:solidFill>
              <a:latin typeface="Aptos"/>
            </a:endParaRPr>
          </a:p>
        </p:txBody>
      </p:sp>
      <p:sp>
        <p:nvSpPr>
          <p:cNvPr id="7" name="Oval 6"/>
          <p:cNvSpPr/>
          <p:nvPr/>
        </p:nvSpPr>
        <p:spPr>
          <a:xfrm>
            <a:off x="457200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66928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76656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86384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96112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5840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15568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225295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335024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444752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554480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664207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773936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883664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993391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103120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212848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322576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432304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542032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651760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761488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871215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980944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3090672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200400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3310128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419856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3529584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3639312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438912" y="1572768"/>
            <a:ext cx="11292840" cy="4526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438912" y="1572768"/>
            <a:ext cx="11292840" cy="384048"/>
          </a:xfrm>
          <a:prstGeom prst="roundRect">
            <a:avLst>
              <a:gd name="adj" fmla="val 10000"/>
            </a:avLst>
          </a:prstGeom>
          <a:solidFill>
            <a:srgbClr val="102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40080" y="1700784"/>
            <a:ext cx="73152" cy="73152"/>
          </a:xfrm>
          <a:prstGeom prst="ellipse">
            <a:avLst/>
          </a:prstGeom>
          <a:solidFill>
            <a:srgbClr val="E96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804671" y="1700784"/>
            <a:ext cx="73152" cy="73152"/>
          </a:xfrm>
          <a:prstGeom prst="ellipse">
            <a:avLst/>
          </a:prstGeom>
          <a:solidFill>
            <a:srgbClr val="F3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969264" y="1700784"/>
            <a:ext cx="73152" cy="73152"/>
          </a:xfrm>
          <a:prstGeom prst="ellipse">
            <a:avLst/>
          </a:prstGeom>
          <a:solidFill>
            <a:srgbClr val="138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298448" y="1682496"/>
            <a:ext cx="4572000" cy="146304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50" b="1" i="0">
                <a:solidFill>
                  <a:srgbClr val="FFFFFF"/>
                </a:solidFill>
                <a:latin typeface="Aptos"/>
              </a:rPr>
              <a:t>REFUND INTELLIGENCE  /  OPERATIONS CONSOLE</a:t>
            </a:r>
            <a:endParaRPr sz="650" b="1" i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9921240" y="1636776"/>
            <a:ext cx="1097280" cy="265176"/>
          </a:xfrm>
          <a:prstGeom prst="roundRect">
            <a:avLst>
              <a:gd name="adj" fmla="val 10000"/>
            </a:avLst>
          </a:prstGeom>
          <a:solidFill>
            <a:srgbClr val="FFF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957815" y="1700784"/>
            <a:ext cx="1024127" cy="128016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50" b="1" i="0">
                <a:solidFill>
                  <a:srgbClr val="334A67"/>
                </a:solidFill>
                <a:latin typeface="Aptos"/>
              </a:rPr>
              <a:t>DEMO DATA</a:t>
            </a:r>
            <a:endParaRPr sz="650" b="1" i="0">
              <a:solidFill>
                <a:srgbClr val="334A67"/>
              </a:solidFill>
              <a:latin typeface="Aptos"/>
            </a:endParaRPr>
          </a:p>
        </p:txBody>
      </p:sp>
      <p:sp>
        <p:nvSpPr>
          <p:cNvPr id="45" name="Rounded Rectangle 44"/>
          <p:cNvSpPr/>
          <p:nvPr/>
        </p:nvSpPr>
        <p:spPr>
          <a:xfrm>
            <a:off x="621792" y="2148840"/>
            <a:ext cx="1554480" cy="3639312"/>
          </a:xfrm>
          <a:prstGeom prst="roundRect">
            <a:avLst>
              <a:gd name="adj" fmla="val 10000"/>
            </a:avLst>
          </a:prstGeom>
          <a:solidFill>
            <a:srgbClr val="F1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95528" y="2359152"/>
            <a:ext cx="1143000" cy="155448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50" b="1" i="0">
                <a:solidFill>
                  <a:srgbClr val="66758A"/>
                </a:solidFill>
                <a:latin typeface="Aptos"/>
              </a:rPr>
              <a:t>WORKSPACE</a:t>
            </a:r>
            <a:endParaRPr sz="650" b="1" i="0">
              <a:solidFill>
                <a:srgbClr val="66758A"/>
              </a:solidFill>
              <a:latin typeface="Aptos"/>
            </a:endParaRPr>
          </a:p>
        </p:txBody>
      </p:sp>
      <p:sp>
        <p:nvSpPr>
          <p:cNvPr id="47" name="Rounded Rectangle 46"/>
          <p:cNvSpPr/>
          <p:nvPr/>
        </p:nvSpPr>
        <p:spPr>
          <a:xfrm>
            <a:off x="749808" y="2724912"/>
            <a:ext cx="1298448" cy="347472"/>
          </a:xfrm>
          <a:prstGeom prst="roundRect">
            <a:avLst>
              <a:gd name="adj" fmla="val 10000"/>
            </a:avLst>
          </a:prstGeom>
          <a:solidFill>
            <a:srgbClr val="E7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49808" y="2724912"/>
            <a:ext cx="45720" cy="347472"/>
          </a:xfrm>
          <a:prstGeom prst="rect">
            <a:avLst/>
          </a:prstGeom>
          <a:solidFill>
            <a:srgbClr val="2459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68680" y="2834640"/>
            <a:ext cx="1078992" cy="128016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102344"/>
                </a:solidFill>
                <a:latin typeface="Aptos"/>
              </a:rPr>
              <a:t>Customer Portal</a:t>
            </a:r>
            <a:endParaRPr sz="700" b="0" i="0">
              <a:solidFill>
                <a:srgbClr val="102344"/>
              </a:solidFill>
              <a:latin typeface="Aptos"/>
            </a:endParaRPr>
          </a:p>
        </p:txBody>
      </p:sp>
      <p:sp>
        <p:nvSpPr>
          <p:cNvPr id="50" name="Rounded Rectangle 49"/>
          <p:cNvSpPr/>
          <p:nvPr/>
        </p:nvSpPr>
        <p:spPr>
          <a:xfrm>
            <a:off x="749808" y="3218688"/>
            <a:ext cx="1298448" cy="3474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49808" y="3218688"/>
            <a:ext cx="45720" cy="347472"/>
          </a:xfrm>
          <a:prstGeom prst="rect">
            <a:avLst/>
          </a:prstGeom>
          <a:solidFill>
            <a:srgbClr val="138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68680" y="3328416"/>
            <a:ext cx="1078992" cy="128016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102344"/>
                </a:solidFill>
                <a:latin typeface="Aptos"/>
              </a:rPr>
              <a:t>Operations</a:t>
            </a:r>
            <a:endParaRPr sz="700" b="1" i="0">
              <a:solidFill>
                <a:srgbClr val="102344"/>
              </a:solidFill>
              <a:latin typeface="Aptos"/>
            </a:endParaRPr>
          </a:p>
        </p:txBody>
      </p:sp>
      <p:sp>
        <p:nvSpPr>
          <p:cNvPr id="53" name="Rounded Rectangle 52"/>
          <p:cNvSpPr/>
          <p:nvPr/>
        </p:nvSpPr>
        <p:spPr>
          <a:xfrm>
            <a:off x="749808" y="3712464"/>
            <a:ext cx="1298448" cy="347472"/>
          </a:xfrm>
          <a:prstGeom prst="roundRect">
            <a:avLst>
              <a:gd name="adj" fmla="val 10000"/>
            </a:avLst>
          </a:prstGeom>
          <a:solidFill>
            <a:srgbClr val="E7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49808" y="3712464"/>
            <a:ext cx="45720" cy="347472"/>
          </a:xfrm>
          <a:prstGeom prst="rect">
            <a:avLst/>
          </a:prstGeom>
          <a:solidFill>
            <a:srgbClr val="765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68680" y="3822192"/>
            <a:ext cx="1078992" cy="128016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102344"/>
                </a:solidFill>
                <a:latin typeface="Aptos"/>
              </a:rPr>
              <a:t>Management</a:t>
            </a:r>
            <a:endParaRPr sz="700" b="0" i="0">
              <a:solidFill>
                <a:srgbClr val="102344"/>
              </a:solidFill>
              <a:latin typeface="Aptos"/>
            </a:endParaRPr>
          </a:p>
        </p:txBody>
      </p:sp>
      <p:sp>
        <p:nvSpPr>
          <p:cNvPr id="56" name="Rounded Rectangle 55"/>
          <p:cNvSpPr/>
          <p:nvPr/>
        </p:nvSpPr>
        <p:spPr>
          <a:xfrm>
            <a:off x="2423160" y="2176272"/>
            <a:ext cx="1965960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551176" y="2313432"/>
            <a:ext cx="1691640" cy="137160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459D3"/>
                </a:solidFill>
                <a:latin typeface="Aptos"/>
              </a:rPr>
              <a:t>CLAIMS IN QUEUE</a:t>
            </a:r>
            <a:endParaRPr sz="700" b="1" i="0">
              <a:solidFill>
                <a:srgbClr val="2459D3"/>
              </a:solidFill>
              <a:latin typeface="Aptos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2551176" y="2514600"/>
            <a:ext cx="594360" cy="347472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02344"/>
                </a:solidFill>
                <a:latin typeface="Aptos Display"/>
              </a:rPr>
              <a:t>24</a:t>
            </a:r>
            <a:endParaRPr sz="2300" b="1" i="0">
              <a:solidFill>
                <a:srgbClr val="102344"/>
              </a:solidFill>
              <a:latin typeface="Aptos Display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3136391" y="2587752"/>
            <a:ext cx="1115568" cy="228600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66758A"/>
                </a:solidFill>
                <a:latin typeface="Aptos"/>
              </a:rPr>
              <a:t>↑ 6 since last check</a:t>
            </a:r>
            <a:endParaRPr sz="600" b="0" i="0">
              <a:solidFill>
                <a:srgbClr val="66758A"/>
              </a:solidFill>
              <a:latin typeface="Aptos"/>
            </a:endParaRPr>
          </a:p>
        </p:txBody>
      </p:sp>
      <p:sp>
        <p:nvSpPr>
          <p:cNvPr id="60" name="Rounded Rectangle 59"/>
          <p:cNvSpPr/>
          <p:nvPr/>
        </p:nvSpPr>
        <p:spPr>
          <a:xfrm>
            <a:off x="4599431" y="2176272"/>
            <a:ext cx="1965960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727447" y="2313432"/>
            <a:ext cx="1691640" cy="137160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E9665B"/>
                </a:solidFill>
                <a:latin typeface="Aptos"/>
              </a:rPr>
              <a:t>HIGH PRIORITY</a:t>
            </a:r>
            <a:endParaRPr sz="700" b="1" i="0">
              <a:solidFill>
                <a:srgbClr val="E9665B"/>
              </a:solidFill>
              <a:latin typeface="Aptos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4727447" y="2514600"/>
            <a:ext cx="594360" cy="347472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02344"/>
                </a:solidFill>
                <a:latin typeface="Aptos Display"/>
              </a:rPr>
              <a:t>5</a:t>
            </a:r>
            <a:endParaRPr sz="2300" b="1" i="0">
              <a:solidFill>
                <a:srgbClr val="102344"/>
              </a:solidFill>
              <a:latin typeface="Aptos Display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5312664" y="2587752"/>
            <a:ext cx="1115568" cy="228600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66758A"/>
                </a:solidFill>
                <a:latin typeface="Aptos"/>
              </a:rPr>
              <a:t>Evidence / risk flags</a:t>
            </a:r>
            <a:endParaRPr sz="600" b="0" i="0">
              <a:solidFill>
                <a:srgbClr val="66758A"/>
              </a:solidFill>
              <a:latin typeface="Aptos"/>
            </a:endParaRPr>
          </a:p>
        </p:txBody>
      </p:sp>
      <p:sp>
        <p:nvSpPr>
          <p:cNvPr id="64" name="Rounded Rectangle 63"/>
          <p:cNvSpPr/>
          <p:nvPr/>
        </p:nvSpPr>
        <p:spPr>
          <a:xfrm>
            <a:off x="6775704" y="2176272"/>
            <a:ext cx="1965960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903720" y="2313432"/>
            <a:ext cx="1691640" cy="137160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159E9A"/>
                </a:solidFill>
                <a:latin typeface="Aptos"/>
              </a:rPr>
              <a:t>REQUEST PROOF</a:t>
            </a:r>
            <a:endParaRPr sz="700" b="1" i="0">
              <a:solidFill>
                <a:srgbClr val="159E9A"/>
              </a:solidFill>
              <a:latin typeface="Aptos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6903720" y="2514600"/>
            <a:ext cx="594360" cy="347472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02344"/>
                </a:solidFill>
                <a:latin typeface="Aptos Display"/>
              </a:rPr>
              <a:t>8</a:t>
            </a:r>
            <a:endParaRPr sz="2300" b="1" i="0">
              <a:solidFill>
                <a:srgbClr val="102344"/>
              </a:solidFill>
              <a:latin typeface="Aptos Display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7488936" y="2587752"/>
            <a:ext cx="1115568" cy="228600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66758A"/>
                </a:solidFill>
                <a:latin typeface="Aptos"/>
              </a:rPr>
              <a:t>Pending customer input</a:t>
            </a:r>
            <a:endParaRPr sz="600" b="0" i="0">
              <a:solidFill>
                <a:srgbClr val="66758A"/>
              </a:solidFill>
              <a:latin typeface="Aptos"/>
            </a:endParaRPr>
          </a:p>
        </p:txBody>
      </p:sp>
      <p:sp>
        <p:nvSpPr>
          <p:cNvPr id="68" name="Rounded Rectangle 67"/>
          <p:cNvSpPr/>
          <p:nvPr/>
        </p:nvSpPr>
        <p:spPr>
          <a:xfrm>
            <a:off x="8951976" y="2176272"/>
            <a:ext cx="1965960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079992" y="2313432"/>
            <a:ext cx="1691640" cy="137160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7656D6"/>
                </a:solidFill>
                <a:latin typeface="Aptos"/>
              </a:rPr>
              <a:t>MANUAL REVIEW</a:t>
            </a:r>
            <a:endParaRPr sz="700" b="1" i="0">
              <a:solidFill>
                <a:srgbClr val="7656D6"/>
              </a:solidFill>
              <a:latin typeface="Aptos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9079992" y="2514600"/>
            <a:ext cx="594360" cy="347472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02344"/>
                </a:solidFill>
                <a:latin typeface="Aptos Display"/>
              </a:rPr>
              <a:t>3</a:t>
            </a:r>
            <a:endParaRPr sz="2300" b="1" i="0">
              <a:solidFill>
                <a:srgbClr val="102344"/>
              </a:solidFill>
              <a:latin typeface="Aptos Display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9665207" y="2587752"/>
            <a:ext cx="1115568" cy="228600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66758A"/>
                </a:solidFill>
                <a:latin typeface="Aptos"/>
              </a:rPr>
              <a:t>Escalation required</a:t>
            </a:r>
            <a:endParaRPr sz="600" b="0" i="0">
              <a:solidFill>
                <a:srgbClr val="66758A"/>
              </a:solidFill>
              <a:latin typeface="Aptos"/>
            </a:endParaRPr>
          </a:p>
        </p:txBody>
      </p:sp>
      <p:sp>
        <p:nvSpPr>
          <p:cNvPr id="72" name="Rounded Rectangle 71"/>
          <p:cNvSpPr/>
          <p:nvPr/>
        </p:nvSpPr>
        <p:spPr>
          <a:xfrm>
            <a:off x="2423160" y="3218688"/>
            <a:ext cx="4892040" cy="24048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624328" y="3401568"/>
            <a:ext cx="2377440" cy="164592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3834B"/>
                </a:solidFill>
                <a:latin typeface="Aptos"/>
              </a:rPr>
              <a:t>PRIORITISED CASE QUEUE</a:t>
            </a:r>
            <a:endParaRPr sz="800" b="1" i="0">
              <a:solidFill>
                <a:srgbClr val="13834B"/>
              </a:solidFill>
              <a:latin typeface="Aptos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2633472" y="3703320"/>
            <a:ext cx="731520" cy="128016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66758A"/>
                </a:solidFill>
                <a:latin typeface="Aptos"/>
              </a:rPr>
              <a:t>CASE</a:t>
            </a:r>
            <a:endParaRPr sz="600" b="1" i="0">
              <a:solidFill>
                <a:srgbClr val="66758A"/>
              </a:solidFill>
              <a:latin typeface="Aptos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3429000" y="3703320"/>
            <a:ext cx="822960" cy="128016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66758A"/>
                </a:solidFill>
                <a:latin typeface="Aptos"/>
              </a:rPr>
              <a:t>CLAIM</a:t>
            </a:r>
            <a:endParaRPr sz="600" b="1" i="0">
              <a:solidFill>
                <a:srgbClr val="66758A"/>
              </a:solidFill>
              <a:latin typeface="Aptos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4343400" y="3703320"/>
            <a:ext cx="1097280" cy="128016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66758A"/>
                </a:solidFill>
                <a:latin typeface="Aptos"/>
              </a:rPr>
              <a:t>SIGNAL</a:t>
            </a:r>
            <a:endParaRPr sz="600" b="1" i="0">
              <a:solidFill>
                <a:srgbClr val="66758A"/>
              </a:solidFill>
              <a:latin typeface="Aptos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5577840" y="3703320"/>
            <a:ext cx="1417320" cy="128016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66758A"/>
                </a:solidFill>
                <a:latin typeface="Aptos"/>
              </a:rPr>
              <a:t>NEXT STEP</a:t>
            </a:r>
            <a:endParaRPr sz="600" b="1" i="0">
              <a:solidFill>
                <a:srgbClr val="66758A"/>
              </a:solidFill>
              <a:latin typeface="Aptos"/>
            </a:endParaRPr>
          </a:p>
        </p:txBody>
      </p:sp>
      <p:cxnSp>
        <p:nvCxnSpPr>
          <p:cNvPr id="78" name="Connector 77"/>
          <p:cNvCxnSpPr/>
          <p:nvPr/>
        </p:nvCxnSpPr>
        <p:spPr>
          <a:xfrm>
            <a:off x="2606040" y="3895344"/>
            <a:ext cx="4507992" cy="0"/>
          </a:xfrm>
          <a:prstGeom prst="line">
            <a:avLst/>
          </a:prstGeom>
          <a:ln w="10160">
            <a:solidFill>
              <a:srgbClr val="D9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TextBox 78"/>
          <p:cNvSpPr txBox="1"/>
          <p:nvPr/>
        </p:nvSpPr>
        <p:spPr>
          <a:xfrm>
            <a:off x="2633472" y="4005072"/>
            <a:ext cx="731520" cy="137160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102344"/>
                </a:solidFill>
                <a:latin typeface="Aptos"/>
              </a:rPr>
              <a:t>RI-2048</a:t>
            </a:r>
            <a:endParaRPr sz="700" b="1" i="0">
              <a:solidFill>
                <a:srgbClr val="102344"/>
              </a:solidFill>
              <a:latin typeface="Aptos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3429000" y="4005072"/>
            <a:ext cx="777240" cy="137160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102344"/>
                </a:solidFill>
                <a:latin typeface="Aptos"/>
              </a:rPr>
              <a:t>₹8,450</a:t>
            </a:r>
            <a:endParaRPr sz="700" b="1" i="0">
              <a:solidFill>
                <a:srgbClr val="102344"/>
              </a:solidFill>
              <a:latin typeface="Aptos"/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4343400" y="4005072"/>
            <a:ext cx="1143000" cy="137160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66758A"/>
                </a:solidFill>
                <a:latin typeface="Aptos"/>
              </a:rPr>
              <a:t>Evidence reuse</a:t>
            </a:r>
            <a:endParaRPr sz="700" b="0" i="0">
              <a:solidFill>
                <a:srgbClr val="66758A"/>
              </a:solidFill>
              <a:latin typeface="Aptos"/>
            </a:endParaRPr>
          </a:p>
        </p:txBody>
      </p:sp>
      <p:sp>
        <p:nvSpPr>
          <p:cNvPr id="82" name="Rounded Rectangle 81"/>
          <p:cNvSpPr/>
          <p:nvPr/>
        </p:nvSpPr>
        <p:spPr>
          <a:xfrm>
            <a:off x="5650992" y="3968496"/>
            <a:ext cx="1024128" cy="265176"/>
          </a:xfrm>
          <a:prstGeom prst="roundRect">
            <a:avLst>
              <a:gd name="adj" fmla="val 10000"/>
            </a:avLst>
          </a:prstGeom>
          <a:solidFill>
            <a:srgbClr val="FCE9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5687568" y="4032504"/>
            <a:ext cx="950976" cy="128016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E9665B"/>
                </a:solidFill>
                <a:latin typeface="Aptos"/>
              </a:rPr>
              <a:t>Review</a:t>
            </a:r>
            <a:endParaRPr sz="600" b="1" i="0">
              <a:solidFill>
                <a:srgbClr val="E9665B"/>
              </a:solidFill>
              <a:latin typeface="Aptos"/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2633472" y="4370832"/>
            <a:ext cx="731520" cy="137160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102344"/>
                </a:solidFill>
                <a:latin typeface="Aptos"/>
              </a:rPr>
              <a:t>RI-2044</a:t>
            </a:r>
            <a:endParaRPr sz="700" b="1" i="0">
              <a:solidFill>
                <a:srgbClr val="102344"/>
              </a:solidFill>
              <a:latin typeface="Aptos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3429000" y="4370832"/>
            <a:ext cx="777240" cy="137160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102344"/>
                </a:solidFill>
                <a:latin typeface="Aptos"/>
              </a:rPr>
              <a:t>₹2,190</a:t>
            </a:r>
            <a:endParaRPr sz="700" b="1" i="0">
              <a:solidFill>
                <a:srgbClr val="102344"/>
              </a:solidFill>
              <a:latin typeface="Aptos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4343400" y="4370832"/>
            <a:ext cx="1143000" cy="137160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66758A"/>
                </a:solidFill>
                <a:latin typeface="Aptos"/>
              </a:rPr>
              <a:t>Repeat reason</a:t>
            </a:r>
            <a:endParaRPr sz="700" b="0" i="0">
              <a:solidFill>
                <a:srgbClr val="66758A"/>
              </a:solidFill>
              <a:latin typeface="Aptos"/>
            </a:endParaRPr>
          </a:p>
        </p:txBody>
      </p:sp>
      <p:sp>
        <p:nvSpPr>
          <p:cNvPr id="87" name="Rounded Rectangle 86"/>
          <p:cNvSpPr/>
          <p:nvPr/>
        </p:nvSpPr>
        <p:spPr>
          <a:xfrm>
            <a:off x="5650992" y="4334256"/>
            <a:ext cx="1024128" cy="265176"/>
          </a:xfrm>
          <a:prstGeom prst="roundRect">
            <a:avLst>
              <a:gd name="adj" fmla="val 10000"/>
            </a:avLst>
          </a:prstGeom>
          <a:solidFill>
            <a:srgbClr val="E7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687568" y="4398264"/>
            <a:ext cx="950976" cy="128016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459D3"/>
                </a:solidFill>
                <a:latin typeface="Aptos"/>
              </a:rPr>
              <a:t>Proof</a:t>
            </a:r>
            <a:endParaRPr sz="600" b="1" i="0">
              <a:solidFill>
                <a:srgbClr val="2459D3"/>
              </a:solidFill>
              <a:latin typeface="Aptos"/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2633472" y="4736592"/>
            <a:ext cx="731520" cy="137160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102344"/>
                </a:solidFill>
                <a:latin typeface="Aptos"/>
              </a:rPr>
              <a:t>RI-2038</a:t>
            </a:r>
            <a:endParaRPr sz="700" b="1" i="0">
              <a:solidFill>
                <a:srgbClr val="102344"/>
              </a:solidFill>
              <a:latin typeface="Aptos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3429000" y="4736592"/>
            <a:ext cx="777240" cy="137160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102344"/>
                </a:solidFill>
                <a:latin typeface="Aptos"/>
              </a:rPr>
              <a:t>₹890</a:t>
            </a:r>
            <a:endParaRPr sz="700" b="1" i="0">
              <a:solidFill>
                <a:srgbClr val="102344"/>
              </a:solidFill>
              <a:latin typeface="Aptos"/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4343400" y="4736592"/>
            <a:ext cx="1143000" cy="137160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66758A"/>
                </a:solidFill>
                <a:latin typeface="Aptos"/>
              </a:rPr>
              <a:t>Low exposure</a:t>
            </a:r>
            <a:endParaRPr sz="700" b="0" i="0">
              <a:solidFill>
                <a:srgbClr val="66758A"/>
              </a:solidFill>
              <a:latin typeface="Aptos"/>
            </a:endParaRPr>
          </a:p>
        </p:txBody>
      </p:sp>
      <p:sp>
        <p:nvSpPr>
          <p:cNvPr id="92" name="Rounded Rectangle 91"/>
          <p:cNvSpPr/>
          <p:nvPr/>
        </p:nvSpPr>
        <p:spPr>
          <a:xfrm>
            <a:off x="5650992" y="4700016"/>
            <a:ext cx="1024128" cy="265176"/>
          </a:xfrm>
          <a:prstGeom prst="roundRect">
            <a:avLst>
              <a:gd name="adj" fmla="val 10000"/>
            </a:avLst>
          </a:prstGeom>
          <a:solidFill>
            <a:srgbClr val="DFF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5687568" y="4764024"/>
            <a:ext cx="950976" cy="128016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13834B"/>
                </a:solidFill>
                <a:latin typeface="Aptos"/>
              </a:rPr>
              <a:t>Fast-track</a:t>
            </a:r>
            <a:endParaRPr sz="600" b="1" i="0">
              <a:solidFill>
                <a:srgbClr val="13834B"/>
              </a:solidFill>
              <a:latin typeface="Aptos"/>
            </a:endParaRPr>
          </a:p>
        </p:txBody>
      </p:sp>
      <p:sp>
        <p:nvSpPr>
          <p:cNvPr id="94" name="TextBox 93"/>
          <p:cNvSpPr txBox="1"/>
          <p:nvPr/>
        </p:nvSpPr>
        <p:spPr>
          <a:xfrm>
            <a:off x="2633472" y="5102352"/>
            <a:ext cx="731520" cy="137160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102344"/>
                </a:solidFill>
                <a:latin typeface="Aptos"/>
              </a:rPr>
              <a:t>RI-2029</a:t>
            </a:r>
            <a:endParaRPr sz="700" b="1" i="0">
              <a:solidFill>
                <a:srgbClr val="102344"/>
              </a:solidFill>
              <a:latin typeface="Aptos"/>
            </a:endParaRPr>
          </a:p>
        </p:txBody>
      </p:sp>
      <p:sp>
        <p:nvSpPr>
          <p:cNvPr id="95" name="TextBox 94"/>
          <p:cNvSpPr txBox="1"/>
          <p:nvPr/>
        </p:nvSpPr>
        <p:spPr>
          <a:xfrm>
            <a:off x="3429000" y="5102352"/>
            <a:ext cx="777240" cy="137160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102344"/>
                </a:solidFill>
                <a:latin typeface="Aptos"/>
              </a:rPr>
              <a:t>₹4,620</a:t>
            </a:r>
            <a:endParaRPr sz="700" b="1" i="0">
              <a:solidFill>
                <a:srgbClr val="102344"/>
              </a:solidFill>
              <a:latin typeface="Aptos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4343400" y="5102352"/>
            <a:ext cx="1143000" cy="137160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66758A"/>
                </a:solidFill>
                <a:latin typeface="Aptos"/>
              </a:rPr>
              <a:t>Policy edge</a:t>
            </a:r>
            <a:endParaRPr sz="700" b="0" i="0">
              <a:solidFill>
                <a:srgbClr val="66758A"/>
              </a:solidFill>
              <a:latin typeface="Aptos"/>
            </a:endParaRPr>
          </a:p>
        </p:txBody>
      </p:sp>
      <p:sp>
        <p:nvSpPr>
          <p:cNvPr id="97" name="Rounded Rectangle 96"/>
          <p:cNvSpPr/>
          <p:nvPr/>
        </p:nvSpPr>
        <p:spPr>
          <a:xfrm>
            <a:off x="5650992" y="5065776"/>
            <a:ext cx="1024128" cy="265176"/>
          </a:xfrm>
          <a:prstGeom prst="roundRect">
            <a:avLst>
              <a:gd name="adj" fmla="val 10000"/>
            </a:avLst>
          </a:prstGeom>
          <a:solidFill>
            <a:srgbClr val="FCE9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5687568" y="5129784"/>
            <a:ext cx="950976" cy="128016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7656D6"/>
                </a:solidFill>
                <a:latin typeface="Aptos"/>
              </a:rPr>
              <a:t>Review</a:t>
            </a:r>
            <a:endParaRPr sz="600" b="1" i="0">
              <a:solidFill>
                <a:srgbClr val="7656D6"/>
              </a:solidFill>
              <a:latin typeface="Aptos"/>
            </a:endParaRPr>
          </a:p>
        </p:txBody>
      </p:sp>
      <p:sp>
        <p:nvSpPr>
          <p:cNvPr id="99" name="Rounded Rectangle 98"/>
          <p:cNvSpPr/>
          <p:nvPr/>
        </p:nvSpPr>
        <p:spPr>
          <a:xfrm>
            <a:off x="7516368" y="2176272"/>
            <a:ext cx="3886200" cy="3447288"/>
          </a:xfrm>
          <a:prstGeom prst="roundRect">
            <a:avLst>
              <a:gd name="adj" fmla="val 10000"/>
            </a:avLst>
          </a:prstGeom>
          <a:solidFill>
            <a:srgbClr val="E7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7772400" y="2395728"/>
            <a:ext cx="3108960" cy="155448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50" b="1" i="0">
                <a:solidFill>
                  <a:srgbClr val="2459D3"/>
                </a:solidFill>
                <a:latin typeface="Aptos"/>
              </a:rPr>
              <a:t>CASE DETAIL  /  RI-2048</a:t>
            </a:r>
            <a:endParaRPr sz="650" b="1" i="0">
              <a:solidFill>
                <a:srgbClr val="2459D3"/>
              </a:solidFill>
              <a:latin typeface="Aptos"/>
            </a:endParaRPr>
          </a:p>
        </p:txBody>
      </p:sp>
      <p:sp>
        <p:nvSpPr>
          <p:cNvPr id="101" name="TextBox 100"/>
          <p:cNvSpPr txBox="1"/>
          <p:nvPr/>
        </p:nvSpPr>
        <p:spPr>
          <a:xfrm>
            <a:off x="7772400" y="2688336"/>
            <a:ext cx="3200400" cy="274320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02344"/>
                </a:solidFill>
                <a:latin typeface="Aptos Display"/>
              </a:rPr>
              <a:t>Potential repeated evidence</a:t>
            </a:r>
            <a:endParaRPr sz="1400" b="1" i="0">
              <a:solidFill>
                <a:srgbClr val="102344"/>
              </a:solidFill>
              <a:latin typeface="Aptos Display"/>
            </a:endParaRPr>
          </a:p>
        </p:txBody>
      </p:sp>
      <p:sp>
        <p:nvSpPr>
          <p:cNvPr id="102" name="Oval 101"/>
          <p:cNvSpPr/>
          <p:nvPr/>
        </p:nvSpPr>
        <p:spPr>
          <a:xfrm>
            <a:off x="7818120" y="3200400"/>
            <a:ext cx="987552" cy="98755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45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7955279" y="3337560"/>
            <a:ext cx="713232" cy="713232"/>
          </a:xfrm>
          <a:prstGeom prst="ellipse">
            <a:avLst/>
          </a:prstGeom>
          <a:solidFill>
            <a:srgbClr val="E7F0FF"/>
          </a:solidFill>
          <a:ln w="12700">
            <a:solidFill>
              <a:srgbClr val="245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7955279" y="3566160"/>
            <a:ext cx="713232" cy="182880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459D3"/>
                </a:solidFill>
                <a:latin typeface="Aptos"/>
              </a:rPr>
              <a:t>72</a:t>
            </a:r>
            <a:endParaRPr sz="800" b="1" i="0">
              <a:solidFill>
                <a:srgbClr val="2459D3"/>
              </a:solidFill>
              <a:latin typeface="Aptos"/>
            </a:endParaRPr>
          </a:p>
        </p:txBody>
      </p:sp>
      <p:sp>
        <p:nvSpPr>
          <p:cNvPr id="105" name="TextBox 104"/>
          <p:cNvSpPr txBox="1"/>
          <p:nvPr/>
        </p:nvSpPr>
        <p:spPr>
          <a:xfrm>
            <a:off x="8942832" y="3401568"/>
            <a:ext cx="1143000" cy="402336"/>
          </a:xfrm>
          <a:prstGeom prst="rect">
            <a:avLst/>
          </a:prstGeom>
          <a:noFill/>
        </p:spPr>
        <p:txBody>
          <a:bodyPr wrap="square" lIns="45720" tIns="22860" rIns="45720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66758A"/>
                </a:solidFill>
                <a:latin typeface="Aptos"/>
              </a:rPr>
              <a:t>Illustrative
risk score</a:t>
            </a:r>
            <a:endParaRPr sz="800" b="1" i="0">
              <a:solidFill>
                <a:srgbClr val="66758A"/>
              </a:solidFill>
              <a:latin typeface="Aptos"/>
            </a:endParaRPr>
          </a:p>
        </p:txBody>
      </p:sp>
      <p:sp>
        <p:nvSpPr>
          <p:cNvPr id="106" name="TextBox 105"/>
          <p:cNvSpPr txBox="1"/>
          <p:nvPr/>
        </p:nvSpPr>
        <p:spPr>
          <a:xfrm>
            <a:off x="7772400" y="4407408"/>
            <a:ext cx="1463040" cy="155448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13834B"/>
                </a:solidFill>
                <a:latin typeface="Aptos"/>
              </a:rPr>
              <a:t>TOP REASONS</a:t>
            </a:r>
            <a:endParaRPr sz="700" b="1" i="0">
              <a:solidFill>
                <a:srgbClr val="13834B"/>
              </a:solidFill>
              <a:latin typeface="Aptos"/>
            </a:endParaRPr>
          </a:p>
        </p:txBody>
      </p:sp>
      <p:sp>
        <p:nvSpPr>
          <p:cNvPr id="107" name="Oval 106"/>
          <p:cNvSpPr/>
          <p:nvPr/>
        </p:nvSpPr>
        <p:spPr>
          <a:xfrm>
            <a:off x="7799831" y="4681728"/>
            <a:ext cx="146304" cy="146304"/>
          </a:xfrm>
          <a:prstGeom prst="ellipse">
            <a:avLst/>
          </a:prstGeom>
          <a:solidFill>
            <a:srgbClr val="138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7799831" y="4722693"/>
            <a:ext cx="146304" cy="51206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FFFFFF"/>
                </a:solidFill>
                <a:latin typeface="Aptos"/>
              </a:rPr>
              <a:t>✓</a:t>
            </a:r>
            <a:endParaRPr sz="600" b="1" i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09" name="TextBox 108"/>
          <p:cNvSpPr txBox="1"/>
          <p:nvPr/>
        </p:nvSpPr>
        <p:spPr>
          <a:xfrm>
            <a:off x="8028431" y="4690872"/>
            <a:ext cx="2651760" cy="128016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102344"/>
                </a:solidFill>
                <a:latin typeface="Aptos"/>
              </a:rPr>
              <a:t>Image reuse signal</a:t>
            </a:r>
            <a:endParaRPr sz="700" b="0" i="0">
              <a:solidFill>
                <a:srgbClr val="102344"/>
              </a:solidFill>
              <a:latin typeface="Aptos"/>
            </a:endParaRPr>
          </a:p>
        </p:txBody>
      </p:sp>
      <p:sp>
        <p:nvSpPr>
          <p:cNvPr id="110" name="Oval 109"/>
          <p:cNvSpPr/>
          <p:nvPr/>
        </p:nvSpPr>
        <p:spPr>
          <a:xfrm>
            <a:off x="7799831" y="4928616"/>
            <a:ext cx="146304" cy="146304"/>
          </a:xfrm>
          <a:prstGeom prst="ellipse">
            <a:avLst/>
          </a:prstGeom>
          <a:solidFill>
            <a:srgbClr val="138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799831" y="4969581"/>
            <a:ext cx="146304" cy="51206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FFFFFF"/>
                </a:solidFill>
                <a:latin typeface="Aptos"/>
              </a:rPr>
              <a:t>✓</a:t>
            </a:r>
            <a:endParaRPr sz="600" b="1" i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12" name="TextBox 111"/>
          <p:cNvSpPr txBox="1"/>
          <p:nvPr/>
        </p:nvSpPr>
        <p:spPr>
          <a:xfrm>
            <a:off x="8028431" y="4937760"/>
            <a:ext cx="2651760" cy="128016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102344"/>
                </a:solidFill>
                <a:latin typeface="Aptos"/>
              </a:rPr>
              <a:t>Elevated claim frequency</a:t>
            </a:r>
            <a:endParaRPr sz="700" b="0" i="0">
              <a:solidFill>
                <a:srgbClr val="102344"/>
              </a:solidFill>
              <a:latin typeface="Aptos"/>
            </a:endParaRPr>
          </a:p>
        </p:txBody>
      </p:sp>
      <p:sp>
        <p:nvSpPr>
          <p:cNvPr id="113" name="Oval 112"/>
          <p:cNvSpPr/>
          <p:nvPr/>
        </p:nvSpPr>
        <p:spPr>
          <a:xfrm>
            <a:off x="7799831" y="5175504"/>
            <a:ext cx="146304" cy="146304"/>
          </a:xfrm>
          <a:prstGeom prst="ellipse">
            <a:avLst/>
          </a:prstGeom>
          <a:solidFill>
            <a:srgbClr val="138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7799831" y="5216469"/>
            <a:ext cx="146304" cy="51206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FFFFFF"/>
                </a:solidFill>
                <a:latin typeface="Aptos"/>
              </a:rPr>
              <a:t>✓</a:t>
            </a:r>
            <a:endParaRPr sz="600" b="1" i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15" name="TextBox 114"/>
          <p:cNvSpPr txBox="1"/>
          <p:nvPr/>
        </p:nvSpPr>
        <p:spPr>
          <a:xfrm>
            <a:off x="8028431" y="5184648"/>
            <a:ext cx="2651760" cy="128016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102344"/>
                </a:solidFill>
                <a:latin typeface="Aptos"/>
              </a:rPr>
              <a:t>Evidence source retained</a:t>
            </a:r>
            <a:endParaRPr sz="700" b="0" i="0">
              <a:solidFill>
                <a:srgbClr val="102344"/>
              </a:solidFill>
              <a:latin typeface="Aptos"/>
            </a:endParaRPr>
          </a:p>
        </p:txBody>
      </p:sp>
      <p:sp>
        <p:nvSpPr>
          <p:cNvPr id="116" name="Rounded Rectangle 115"/>
          <p:cNvSpPr/>
          <p:nvPr/>
        </p:nvSpPr>
        <p:spPr>
          <a:xfrm>
            <a:off x="566928" y="6144768"/>
            <a:ext cx="11045952" cy="384048"/>
          </a:xfrm>
          <a:prstGeom prst="roundRect">
            <a:avLst>
              <a:gd name="adj" fmla="val 10000"/>
            </a:avLst>
          </a:prstGeom>
          <a:solidFill>
            <a:srgbClr val="DFF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758952" y="6254496"/>
            <a:ext cx="1645920" cy="146304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50" b="1" i="0">
                <a:solidFill>
                  <a:srgbClr val="13834B"/>
                </a:solidFill>
                <a:latin typeface="Aptos"/>
              </a:rPr>
              <a:t>AUDIT TRAIL</a:t>
            </a:r>
            <a:endParaRPr sz="650" b="1" i="0">
              <a:solidFill>
                <a:srgbClr val="13834B"/>
              </a:solidFill>
              <a:latin typeface="Aptos"/>
            </a:endParaRPr>
          </a:p>
        </p:txBody>
      </p:sp>
      <p:sp>
        <p:nvSpPr>
          <p:cNvPr id="118" name="TextBox 117"/>
          <p:cNvSpPr txBox="1"/>
          <p:nvPr/>
        </p:nvSpPr>
        <p:spPr>
          <a:xfrm>
            <a:off x="2304288" y="6236207"/>
            <a:ext cx="9052560" cy="182880"/>
          </a:xfrm>
          <a:prstGeom prst="rect">
            <a:avLst/>
          </a:prstGeom>
          <a:noFill/>
        </p:spPr>
        <p:txBody>
          <a:bodyPr wrap="square" lIns="45720" tIns="22860" rIns="45720" bIns="2286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02344"/>
                </a:solidFill>
                <a:latin typeface="Aptos"/>
              </a:rPr>
              <a:t>Every recommendation should retain the source records, features, rule version, and final reviewer outcome.</a:t>
            </a:r>
            <a:endParaRPr sz="900" b="1" i="0">
              <a:solidFill>
                <a:srgbClr val="102344"/>
              </a:solidFill>
              <a:latin typeface="Aptos"/>
            </a:endParaRPr>
          </a:p>
        </p:txBody>
      </p:sp>
      <p:sp>
        <p:nvSpPr>
          <p:cNvPr id="119" name="Rounded Rectangle 118"/>
          <p:cNvSpPr/>
          <p:nvPr/>
        </p:nvSpPr>
        <p:spPr>
          <a:xfrm>
            <a:off x="566928" y="5843016"/>
            <a:ext cx="11045952" cy="2743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0160">
            <a:solidFill>
              <a:srgbClr val="D9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731520" y="5925312"/>
            <a:ext cx="914400" cy="100584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00" b="1">
                <a:solidFill>
                  <a:srgbClr val="13834B"/>
                </a:solidFill>
                <a:latin typeface="Aptos"/>
              </a:rPr>
              <a:t>AUDIT TRACE</a:t>
            </a:r>
            <a:endParaRPr sz="600" b="1">
              <a:solidFill>
                <a:srgbClr val="13834B"/>
              </a:solidFill>
              <a:latin typeface="Aptos"/>
            </a:endParaRPr>
          </a:p>
        </p:txBody>
      </p:sp>
      <p:sp>
        <p:nvSpPr>
          <p:cNvPr id="121" name="TextBox 120"/>
          <p:cNvSpPr txBox="1"/>
          <p:nvPr/>
        </p:nvSpPr>
        <p:spPr>
          <a:xfrm>
            <a:off x="1783080" y="5916168"/>
            <a:ext cx="9509760" cy="109728"/>
          </a:xfrm>
          <a:prstGeom prst="rect">
            <a:avLst/>
          </a:prstGeom>
          <a:noFill/>
        </p:spPr>
        <p:txBody>
          <a:bodyPr wrap="square" lIns="45720" tIns="22860" rIns="45720" bIns="2286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172B4D"/>
                </a:solidFill>
                <a:latin typeface="Aptos"/>
              </a:rPr>
              <a:t>Case ID  →  source evidence  →  features  →  policy gate  →  recommendation  →  reviewer outcome</a:t>
            </a:r>
            <a:endParaRPr sz="700" b="1">
              <a:solidFill>
                <a:srgbClr val="172B4D"/>
              </a:solidFill>
              <a:latin typeface="Aptos"/>
            </a:endParaRPr>
          </a:p>
        </p:txBody>
      </p:sp>
      <p:pic>
        <p:nvPicPr>
          <p:cNvPr id="122" name="Picture 121" descr="image(20261024-111450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0747" y="195932"/>
            <a:ext cx="1645834" cy="46759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38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01168"/>
            <a:ext cx="7315200" cy="182880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3834B"/>
                </a:solidFill>
                <a:latin typeface="Aptos"/>
              </a:rPr>
              <a:t>REFUND INTELLIGENCE     /     PREVENTION LOOP</a:t>
            </a:r>
            <a:endParaRPr sz="800" b="1" i="0">
              <a:solidFill>
                <a:srgbClr val="13834B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38912" y="502920"/>
            <a:ext cx="11247120" cy="576072"/>
          </a:xfrm>
          <a:prstGeom prst="rect">
            <a:avLst/>
          </a:prstGeom>
          <a:noFill/>
        </p:spPr>
        <p:txBody>
          <a:bodyPr wrap="square" lIns="45720" tIns="22860" rIns="45720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02344"/>
                </a:solidFill>
                <a:latin typeface="Aptos Display"/>
              </a:rPr>
              <a:t>Resolve today’s claim. Learn what to prevent tomorrow.</a:t>
            </a:r>
            <a:endParaRPr sz="2600" b="1" i="0">
              <a:solidFill>
                <a:srgbClr val="102344"/>
              </a:solidFill>
              <a:latin typeface="Aptos Display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1115568"/>
            <a:ext cx="10972800" cy="256032"/>
          </a:xfrm>
          <a:prstGeom prst="rect">
            <a:avLst/>
          </a:prstGeom>
          <a:noFill/>
        </p:spPr>
        <p:txBody>
          <a:bodyPr wrap="square" lIns="45720" tIns="22860" rIns="45720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758A"/>
                </a:solidFill>
                <a:latin typeface="Aptos"/>
              </a:rPr>
              <a:t>The historical loop is deliberately offline, outside the real-time decision graph.</a:t>
            </a:r>
            <a:endParaRPr sz="1000" b="0" i="0">
              <a:solidFill>
                <a:srgbClr val="66758A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347472" cy="155448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650" b="1" i="0">
                <a:solidFill>
                  <a:srgbClr val="13834B"/>
                </a:solidFill>
                <a:latin typeface="Aptos"/>
              </a:rPr>
              <a:t>10</a:t>
            </a:r>
            <a:endParaRPr sz="650" b="1" i="0">
              <a:solidFill>
                <a:srgbClr val="13834B"/>
              </a:solidFill>
              <a:latin typeface="Aptos"/>
            </a:endParaRPr>
          </a:p>
        </p:txBody>
      </p:sp>
      <p:sp>
        <p:nvSpPr>
          <p:cNvPr id="7" name="Oval 6"/>
          <p:cNvSpPr/>
          <p:nvPr/>
        </p:nvSpPr>
        <p:spPr>
          <a:xfrm>
            <a:off x="457200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66928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76656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86384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96112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5840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15568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225295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335024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444752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554480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664207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773936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883664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993391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103120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212848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322576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432304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542032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651760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761488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871215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980944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3090672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200400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3310128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419856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3529584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3639312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143000" y="1627632"/>
            <a:ext cx="6217920" cy="4251960"/>
          </a:xfrm>
          <a:prstGeom prst="ellipse">
            <a:avLst/>
          </a:prstGeom>
          <a:solidFill>
            <a:srgbClr val="F7F9F8"/>
          </a:solidFill>
          <a:ln w="25400">
            <a:solidFill>
              <a:srgbClr val="159E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508760" y="1920240"/>
            <a:ext cx="5486400" cy="3657600"/>
          </a:xfrm>
          <a:prstGeom prst="ellipse">
            <a:avLst/>
          </a:prstGeom>
          <a:solidFill>
            <a:srgbClr val="F7F9F8"/>
          </a:solidFill>
          <a:ln w="12700">
            <a:solidFill>
              <a:srgbClr val="C6E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3456432" y="1572768"/>
            <a:ext cx="658368" cy="65836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45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3566160" y="1682495"/>
            <a:ext cx="438912" cy="438912"/>
          </a:xfrm>
          <a:prstGeom prst="ellipse">
            <a:avLst/>
          </a:prstGeom>
          <a:solidFill>
            <a:srgbClr val="2459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566160" y="1819656"/>
            <a:ext cx="438912" cy="109728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sz="650" b="1" i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3090545" y="2313304"/>
            <a:ext cx="1554480" cy="201168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1">
                <a:solidFill>
                  <a:srgbClr val="296FDC"/>
                </a:solidFill>
                <a:latin typeface="Aptos"/>
              </a:defRPr>
            </a:pPr>
            <a:r>
              <a:t>CLAIM + OUTCOMES</a:t>
            </a:r>
          </a:p>
        </p:txBody>
      </p:sp>
      <p:sp>
        <p:nvSpPr>
          <p:cNvPr id="43" name="Oval 42"/>
          <p:cNvSpPr/>
          <p:nvPr/>
        </p:nvSpPr>
        <p:spPr>
          <a:xfrm>
            <a:off x="6080760" y="2514600"/>
            <a:ext cx="658368" cy="65836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59E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190488" y="2624328"/>
            <a:ext cx="438912" cy="438912"/>
          </a:xfrm>
          <a:prstGeom prst="ellipse">
            <a:avLst/>
          </a:prstGeom>
          <a:solidFill>
            <a:srgbClr val="159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669280" y="3218815"/>
            <a:ext cx="1691640" cy="292608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1">
                <a:solidFill>
                  <a:srgbClr val="00A8A0"/>
                </a:solidFill>
                <a:latin typeface="Aptos"/>
              </a:defRPr>
            </a:pPr>
            <a:r>
              <a:t>PRODUCT / VENDOR\nSNAPSHOT</a:t>
            </a:r>
          </a:p>
        </p:txBody>
      </p:sp>
      <p:sp>
        <p:nvSpPr>
          <p:cNvPr id="47" name="Oval 46"/>
          <p:cNvSpPr/>
          <p:nvPr/>
        </p:nvSpPr>
        <p:spPr>
          <a:xfrm>
            <a:off x="3867785" y="4745990"/>
            <a:ext cx="658368" cy="65836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765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3995928" y="4846193"/>
            <a:ext cx="438912" cy="438912"/>
          </a:xfrm>
          <a:prstGeom prst="ellipse">
            <a:avLst/>
          </a:prstGeom>
          <a:solidFill>
            <a:srgbClr val="765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733288" y="4636008"/>
            <a:ext cx="438912" cy="109728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50" b="1" i="0">
                <a:solidFill>
                  <a:srgbClr val="FFFFFF"/>
                </a:solidFill>
                <a:latin typeface="Aptos"/>
              </a:rPr>
              <a:t>3</a:t>
            </a:r>
            <a:endParaRPr sz="650" b="1" i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4572000" y="4937887"/>
            <a:ext cx="1508760" cy="201168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1">
                <a:solidFill>
                  <a:srgbClr val="7E57C2"/>
                </a:solidFill>
                <a:latin typeface="Aptos"/>
              </a:defRPr>
            </a:pPr>
            <a:r>
              <a:t>INSIGHT RAISED</a:t>
            </a:r>
          </a:p>
        </p:txBody>
      </p:sp>
      <p:sp>
        <p:nvSpPr>
          <p:cNvPr id="55" name="Oval 54"/>
          <p:cNvSpPr/>
          <p:nvPr/>
        </p:nvSpPr>
        <p:spPr>
          <a:xfrm>
            <a:off x="1417320" y="2880360"/>
            <a:ext cx="658368" cy="65836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966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527048" y="2990088"/>
            <a:ext cx="438912" cy="438912"/>
          </a:xfrm>
          <a:prstGeom prst="ellipse">
            <a:avLst/>
          </a:prstGeom>
          <a:solidFill>
            <a:srgbClr val="E96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527048" y="3127248"/>
            <a:ext cx="438912" cy="109728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sz="650" b="1" i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1508760" y="3657600"/>
            <a:ext cx="1645920" cy="201168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1">
                <a:solidFill>
                  <a:srgbClr val="EF695E"/>
                </a:solidFill>
                <a:latin typeface="Aptos"/>
              </a:defRPr>
            </a:pPr>
            <a:r>
              <a:t>OUTCOME EVALUATED</a:t>
            </a:r>
          </a:p>
        </p:txBody>
      </p:sp>
      <p:sp>
        <p:nvSpPr>
          <p:cNvPr id="59" name="Oval 58"/>
          <p:cNvSpPr/>
          <p:nvPr/>
        </p:nvSpPr>
        <p:spPr>
          <a:xfrm>
            <a:off x="3429000" y="2880360"/>
            <a:ext cx="1097280" cy="1097280"/>
          </a:xfrm>
          <a:prstGeom prst="ellipse">
            <a:avLst/>
          </a:prstGeom>
          <a:solidFill>
            <a:srgbClr val="102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429000" y="3187598"/>
            <a:ext cx="1097280" cy="384048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Aptos"/>
              </a:rPr>
              <a:t>↻</a:t>
            </a:r>
            <a:endParaRPr sz="2800" b="1" i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3063240" y="4096512"/>
            <a:ext cx="1828800" cy="457200"/>
          </a:xfrm>
          <a:prstGeom prst="rect">
            <a:avLst/>
          </a:prstGeom>
          <a:noFill/>
        </p:spPr>
        <p:txBody>
          <a:bodyPr wrap="square" lIns="45720" tIns="22860" rIns="45720" bIns="2286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02344"/>
                </a:solidFill>
                <a:latin typeface="Aptos"/>
              </a:rPr>
              <a:t>LEARN → ACT
→ MEASURE</a:t>
            </a:r>
            <a:endParaRPr sz="1200" b="1" i="0">
              <a:solidFill>
                <a:srgbClr val="102344"/>
              </a:solidFill>
              <a:latin typeface="Aptos"/>
            </a:endParaRPr>
          </a:p>
        </p:txBody>
      </p:sp>
      <p:sp>
        <p:nvSpPr>
          <p:cNvPr id="62" name="Rounded Rectangle 61"/>
          <p:cNvSpPr/>
          <p:nvPr/>
        </p:nvSpPr>
        <p:spPr>
          <a:xfrm>
            <a:off x="7818120" y="1691640"/>
            <a:ext cx="3703320" cy="4251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138160" y="1993392"/>
            <a:ext cx="2926080" cy="201168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3834B"/>
                </a:solidFill>
                <a:latin typeface="Aptos"/>
              </a:rPr>
              <a:t>WHAT THE LOOP STORES</a:t>
            </a:r>
            <a:endParaRPr sz="1000" b="1" i="0">
              <a:solidFill>
                <a:srgbClr val="13834B"/>
              </a:solidFill>
              <a:latin typeface="Aptos"/>
            </a:endParaRPr>
          </a:p>
        </p:txBody>
      </p:sp>
      <p:sp>
        <p:nvSpPr>
          <p:cNvPr id="64" name="Oval 63"/>
          <p:cNvSpPr/>
          <p:nvPr/>
        </p:nvSpPr>
        <p:spPr>
          <a:xfrm>
            <a:off x="8138160" y="2450592"/>
            <a:ext cx="347472" cy="347472"/>
          </a:xfrm>
          <a:prstGeom prst="ellipse">
            <a:avLst/>
          </a:prstGeom>
          <a:solidFill>
            <a:srgbClr val="2459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138160" y="2547884"/>
            <a:ext cx="347472" cy="121615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50" b="1" i="0">
                <a:solidFill>
                  <a:srgbClr val="FFFFFF"/>
                </a:solidFill>
                <a:latin typeface="Aptos"/>
              </a:rPr>
              <a:t>1</a:t>
            </a:r>
            <a:endParaRPr sz="650" b="1" i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8613648" y="2459736"/>
            <a:ext cx="2423160" cy="164592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02344"/>
                </a:solidFill>
                <a:latin typeface="Aptos"/>
              </a:rPr>
              <a:t>Product risk snapshot</a:t>
            </a:r>
            <a:endParaRPr sz="800" b="1" i="0">
              <a:solidFill>
                <a:srgbClr val="102344"/>
              </a:solidFill>
              <a:latin typeface="Aptos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8613648" y="2697480"/>
            <a:ext cx="2468880" cy="201168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66758A"/>
                </a:solidFill>
                <a:latin typeface="Aptos"/>
              </a:rPr>
              <a:t>Recurring patterns by product</a:t>
            </a:r>
            <a:endParaRPr sz="700" b="0" i="0">
              <a:solidFill>
                <a:srgbClr val="66758A"/>
              </a:solidFill>
              <a:latin typeface="Aptos"/>
            </a:endParaRPr>
          </a:p>
        </p:txBody>
      </p:sp>
      <p:sp>
        <p:nvSpPr>
          <p:cNvPr id="68" name="Oval 67"/>
          <p:cNvSpPr/>
          <p:nvPr/>
        </p:nvSpPr>
        <p:spPr>
          <a:xfrm>
            <a:off x="8138160" y="3163824"/>
            <a:ext cx="347472" cy="347472"/>
          </a:xfrm>
          <a:prstGeom prst="ellipse">
            <a:avLst/>
          </a:prstGeom>
          <a:solidFill>
            <a:srgbClr val="159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138160" y="3261116"/>
            <a:ext cx="347472" cy="121615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50" b="1" i="0">
                <a:solidFill>
                  <a:srgbClr val="FFFFFF"/>
                </a:solidFill>
                <a:latin typeface="Aptos"/>
              </a:rPr>
              <a:t>2</a:t>
            </a:r>
            <a:endParaRPr sz="650" b="1" i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8613648" y="3172968"/>
            <a:ext cx="2423160" cy="164592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02344"/>
                </a:solidFill>
                <a:latin typeface="Aptos"/>
              </a:rPr>
              <a:t>Vendor risk snapshot</a:t>
            </a:r>
            <a:endParaRPr sz="800" b="1" i="0">
              <a:solidFill>
                <a:srgbClr val="102344"/>
              </a:solidFill>
              <a:latin typeface="Aptos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8613648" y="3410712"/>
            <a:ext cx="2468880" cy="201168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66758A"/>
                </a:solidFill>
                <a:latin typeface="Aptos"/>
              </a:rPr>
              <a:t>Supplier-linked trends</a:t>
            </a:r>
            <a:endParaRPr sz="700" b="0" i="0">
              <a:solidFill>
                <a:srgbClr val="66758A"/>
              </a:solidFill>
              <a:latin typeface="Aptos"/>
            </a:endParaRPr>
          </a:p>
        </p:txBody>
      </p:sp>
      <p:sp>
        <p:nvSpPr>
          <p:cNvPr id="72" name="Oval 71"/>
          <p:cNvSpPr/>
          <p:nvPr/>
        </p:nvSpPr>
        <p:spPr>
          <a:xfrm>
            <a:off x="8138160" y="3877056"/>
            <a:ext cx="347472" cy="347472"/>
          </a:xfrm>
          <a:prstGeom prst="ellipse">
            <a:avLst/>
          </a:prstGeom>
          <a:solidFill>
            <a:srgbClr val="765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138160" y="3974348"/>
            <a:ext cx="347472" cy="121615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50" b="1" i="0">
                <a:solidFill>
                  <a:srgbClr val="FFFFFF"/>
                </a:solidFill>
                <a:latin typeface="Aptos"/>
              </a:rPr>
              <a:t>3</a:t>
            </a:r>
            <a:endParaRPr sz="650" b="1" i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8613648" y="3886200"/>
            <a:ext cx="2423160" cy="164592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02344"/>
                </a:solidFill>
                <a:latin typeface="Aptos"/>
              </a:rPr>
              <a:t>Insight / intervention log</a:t>
            </a:r>
            <a:endParaRPr sz="800" b="1" i="0">
              <a:solidFill>
                <a:srgbClr val="102344"/>
              </a:solidFill>
              <a:latin typeface="Aptos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8613648" y="4123944"/>
            <a:ext cx="2468880" cy="201168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66758A"/>
                </a:solidFill>
                <a:latin typeface="Aptos"/>
              </a:rPr>
              <a:t>Pattern → action → outcome</a:t>
            </a:r>
            <a:endParaRPr sz="700" b="0" i="0">
              <a:solidFill>
                <a:srgbClr val="66758A"/>
              </a:solidFill>
              <a:latin typeface="Aptos"/>
            </a:endParaRPr>
          </a:p>
        </p:txBody>
      </p:sp>
      <p:sp>
        <p:nvSpPr>
          <p:cNvPr id="76" name="Oval 75"/>
          <p:cNvSpPr/>
          <p:nvPr/>
        </p:nvSpPr>
        <p:spPr>
          <a:xfrm>
            <a:off x="8138160" y="4590288"/>
            <a:ext cx="347472" cy="347472"/>
          </a:xfrm>
          <a:prstGeom prst="ellipse">
            <a:avLst/>
          </a:prstGeom>
          <a:solidFill>
            <a:srgbClr val="138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138160" y="4687580"/>
            <a:ext cx="347472" cy="121615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50" b="1" i="0">
                <a:solidFill>
                  <a:srgbClr val="FFFFFF"/>
                </a:solidFill>
                <a:latin typeface="Aptos"/>
              </a:rPr>
              <a:t>4</a:t>
            </a:r>
            <a:endParaRPr sz="650" b="1" i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8613648" y="4599431"/>
            <a:ext cx="2423160" cy="164592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02344"/>
                </a:solidFill>
                <a:latin typeface="Aptos"/>
              </a:rPr>
              <a:t>Outcome comparison</a:t>
            </a:r>
            <a:endParaRPr sz="800" b="1" i="0">
              <a:solidFill>
                <a:srgbClr val="102344"/>
              </a:solidFill>
              <a:latin typeface="Aptos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8613648" y="4837175"/>
            <a:ext cx="2468880" cy="201168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66758A"/>
                </a:solidFill>
                <a:latin typeface="Aptos"/>
              </a:rPr>
              <a:t>Current metric vs baseline</a:t>
            </a:r>
            <a:endParaRPr sz="700" b="0" i="0">
              <a:solidFill>
                <a:srgbClr val="66758A"/>
              </a:solidFill>
              <a:latin typeface="Aptos"/>
            </a:endParaRPr>
          </a:p>
        </p:txBody>
      </p:sp>
      <p:sp>
        <p:nvSpPr>
          <p:cNvPr id="82" name="Rounded Rectangle 81"/>
          <p:cNvSpPr/>
          <p:nvPr/>
        </p:nvSpPr>
        <p:spPr>
          <a:xfrm>
            <a:off x="566928" y="6080760"/>
            <a:ext cx="11045952" cy="384048"/>
          </a:xfrm>
          <a:prstGeom prst="roundRect">
            <a:avLst>
              <a:gd name="adj" fmla="val 10000"/>
            </a:avLst>
          </a:prstGeom>
          <a:solidFill>
            <a:srgbClr val="E7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58952" y="6190488"/>
            <a:ext cx="1645920" cy="146304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50" b="1" i="0">
                <a:solidFill>
                  <a:srgbClr val="2459D3"/>
                </a:solidFill>
                <a:latin typeface="Aptos"/>
              </a:rPr>
              <a:t>BOUNDARY</a:t>
            </a:r>
            <a:endParaRPr sz="650" b="1" i="0">
              <a:solidFill>
                <a:srgbClr val="2459D3"/>
              </a:solidFill>
              <a:latin typeface="Aptos"/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2304288" y="6172200"/>
            <a:ext cx="9052560" cy="182880"/>
          </a:xfrm>
          <a:prstGeom prst="rect">
            <a:avLst/>
          </a:prstGeom>
          <a:noFill/>
        </p:spPr>
        <p:txBody>
          <a:bodyPr wrap="square" lIns="45720" tIns="22860" rIns="45720" bIns="2286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02344"/>
                </a:solidFill>
                <a:latin typeface="Aptos"/>
              </a:rPr>
              <a:t>Historical insights enrich later claims as context; the loop is not called inside the live graph.</a:t>
            </a:r>
            <a:endParaRPr sz="900" b="1" i="0">
              <a:solidFill>
                <a:srgbClr val="102344"/>
              </a:solidFill>
              <a:latin typeface="Aptos"/>
            </a:endParaRPr>
          </a:p>
        </p:txBody>
      </p:sp>
      <p:sp>
        <p:nvSpPr>
          <p:cNvPr id="85" name="Rounded Rectangle 84"/>
          <p:cNvSpPr/>
          <p:nvPr/>
        </p:nvSpPr>
        <p:spPr>
          <a:xfrm>
            <a:off x="567055" y="5742432"/>
            <a:ext cx="6903720" cy="33832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0160">
            <a:solidFill>
              <a:srgbClr val="D9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731520" y="5879465"/>
            <a:ext cx="1325880" cy="109728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00" b="1">
                <a:solidFill>
                  <a:srgbClr val="2459D3"/>
                </a:solidFill>
                <a:latin typeface="Aptos"/>
              </a:rPr>
              <a:t>LEARNING ARTIFACTS</a:t>
            </a:r>
            <a:endParaRPr sz="600" b="1">
              <a:solidFill>
                <a:srgbClr val="2459D3"/>
              </a:solidFill>
              <a:latin typeface="Aptos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1993265" y="5824601"/>
            <a:ext cx="5074920" cy="118872"/>
          </a:xfrm>
          <a:prstGeom prst="rect">
            <a:avLst/>
          </a:prstGeom>
          <a:noFill/>
        </p:spPr>
        <p:txBody>
          <a:bodyPr wrap="square" lIns="45720" tIns="22860" rIns="45720" bIns="2286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172B4D"/>
                </a:solidFill>
                <a:latin typeface="Aptos"/>
              </a:rPr>
              <a:t>Baseline → intervention → outcome → next insight</a:t>
            </a:r>
            <a:endParaRPr sz="700" b="1">
              <a:solidFill>
                <a:srgbClr val="172B4D"/>
              </a:solidFill>
              <a:latin typeface="Aptos"/>
            </a:endParaRPr>
          </a:p>
        </p:txBody>
      </p:sp>
      <p:pic>
        <p:nvPicPr>
          <p:cNvPr id="88" name="Picture 87" descr="image(20261024-111450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0747" y="195932"/>
            <a:ext cx="1645834" cy="46759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38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01168"/>
            <a:ext cx="7315200" cy="182880"/>
          </a:xfrm>
          <a:prstGeom prst="rect">
            <a:avLst/>
          </a:prstGeom>
          <a:noFill/>
        </p:spPr>
        <p:txBody>
          <a:bodyPr wrap="square" lIns="45720" tIns="22860" rIns="45720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3834B"/>
                </a:solidFill>
                <a:latin typeface="Aptos"/>
              </a:rPr>
              <a:t>REFUND INTELLIGENCE     /     VALIDATION ROADMAP</a:t>
            </a:r>
            <a:endParaRPr sz="800" b="1" i="0">
              <a:solidFill>
                <a:srgbClr val="13834B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38912" y="502920"/>
            <a:ext cx="11247120" cy="576072"/>
          </a:xfrm>
          <a:prstGeom prst="rect">
            <a:avLst/>
          </a:prstGeom>
          <a:noFill/>
        </p:spPr>
        <p:txBody>
          <a:bodyPr wrap="square" lIns="45720" tIns="22860" rIns="45720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02344"/>
                </a:solidFill>
                <a:latin typeface="Aptos Display"/>
              </a:rPr>
              <a:t>Build confidence with evidence—not inflated accuracy claims.</a:t>
            </a:r>
            <a:endParaRPr sz="2600" b="1" i="0">
              <a:solidFill>
                <a:srgbClr val="102344"/>
              </a:solidFill>
              <a:latin typeface="Aptos Display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1115568"/>
            <a:ext cx="10972800" cy="256032"/>
          </a:xfrm>
          <a:prstGeom prst="rect">
            <a:avLst/>
          </a:prstGeom>
          <a:noFill/>
        </p:spPr>
        <p:txBody>
          <a:bodyPr wrap="square" lIns="45720" tIns="22860" rIns="45720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758A"/>
                </a:solidFill>
                <a:latin typeface="Aptos"/>
              </a:rPr>
              <a:t>The repository separates seeded demos, offline evaluation, optional NLP backends, and real-data validation.</a:t>
            </a:r>
            <a:endParaRPr sz="1000" b="0" i="0">
              <a:solidFill>
                <a:srgbClr val="66758A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347472" cy="155448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650" b="1" i="0">
                <a:solidFill>
                  <a:srgbClr val="13834B"/>
                </a:solidFill>
                <a:latin typeface="Aptos"/>
              </a:rPr>
              <a:t>11</a:t>
            </a:r>
            <a:endParaRPr sz="650" b="1" i="0">
              <a:solidFill>
                <a:srgbClr val="13834B"/>
              </a:solidFill>
              <a:latin typeface="Aptos"/>
            </a:endParaRPr>
          </a:p>
        </p:txBody>
      </p:sp>
      <p:sp>
        <p:nvSpPr>
          <p:cNvPr id="7" name="Oval 6"/>
          <p:cNvSpPr/>
          <p:nvPr/>
        </p:nvSpPr>
        <p:spPr>
          <a:xfrm>
            <a:off x="457200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66928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76656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86384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96112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5840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15568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225295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335024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444752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554480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664207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773936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883664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993391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103120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212848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322576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432304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542032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651760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761488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871215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980944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3090672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200400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3310128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419856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3529584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3639312" y="6473952"/>
            <a:ext cx="22860" cy="22860"/>
          </a:xfrm>
          <a:prstGeom prst="ellipse">
            <a:avLst/>
          </a:prstGeom>
          <a:solidFill>
            <a:srgbClr val="DD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566928" y="1828800"/>
            <a:ext cx="2514600" cy="166420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731520" y="2029968"/>
            <a:ext cx="420624" cy="420624"/>
          </a:xfrm>
          <a:prstGeom prst="ellipse">
            <a:avLst/>
          </a:prstGeom>
          <a:solidFill>
            <a:srgbClr val="2459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1520" y="2147742"/>
            <a:ext cx="420624" cy="147218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50" b="1" i="0">
                <a:solidFill>
                  <a:srgbClr val="FFFFFF"/>
                </a:solidFill>
                <a:latin typeface="Aptos"/>
              </a:rPr>
              <a:t>01</a:t>
            </a:r>
            <a:endParaRPr sz="650" b="1" i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731520" y="2596896"/>
            <a:ext cx="2194560" cy="274320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459D3"/>
                </a:solidFill>
                <a:latin typeface="Aptos"/>
              </a:rPr>
              <a:t>REPRODUCIBLE CORE</a:t>
            </a:r>
            <a:endParaRPr sz="900" b="1" i="0">
              <a:solidFill>
                <a:srgbClr val="2459D3"/>
              </a:solidFill>
              <a:latin typeface="Aptos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731520" y="2944368"/>
            <a:ext cx="2176272" cy="365760"/>
          </a:xfrm>
          <a:prstGeom prst="rect">
            <a:avLst/>
          </a:prstGeom>
          <a:noFill/>
        </p:spPr>
        <p:txBody>
          <a:bodyPr wrap="square" lIns="45720" tIns="22860" rIns="45720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6758A"/>
                </a:solidFill>
                <a:latin typeface="Aptos"/>
              </a:rPr>
              <a:t>53 tests listed in README
Seeded demo • deterministic rules</a:t>
            </a:r>
            <a:endParaRPr sz="800" b="0" i="0">
              <a:solidFill>
                <a:srgbClr val="66758A"/>
              </a:solidFill>
              <a:latin typeface="Aptos"/>
            </a:endParaRPr>
          </a:p>
        </p:txBody>
      </p:sp>
      <p:cxnSp>
        <p:nvCxnSpPr>
          <p:cNvPr id="42" name="Connector 41"/>
          <p:cNvCxnSpPr/>
          <p:nvPr/>
        </p:nvCxnSpPr>
        <p:spPr>
          <a:xfrm>
            <a:off x="3108960" y="2670048"/>
            <a:ext cx="256032" cy="0"/>
          </a:xfrm>
          <a:prstGeom prst="line">
            <a:avLst/>
          </a:prstGeom>
          <a:ln w="22860">
            <a:solidFill>
              <a:srgbClr val="159E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3273552" y="2606040"/>
            <a:ext cx="91440" cy="64008"/>
          </a:xfrm>
          <a:prstGeom prst="line">
            <a:avLst/>
          </a:prstGeom>
          <a:ln w="22860">
            <a:solidFill>
              <a:srgbClr val="159E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3273552" y="2670048"/>
            <a:ext cx="91440" cy="64008"/>
          </a:xfrm>
          <a:prstGeom prst="line">
            <a:avLst/>
          </a:prstGeom>
          <a:ln w="22860">
            <a:solidFill>
              <a:srgbClr val="159E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3438144" y="1828800"/>
            <a:ext cx="2514600" cy="166420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3602736" y="2029968"/>
            <a:ext cx="420624" cy="420624"/>
          </a:xfrm>
          <a:prstGeom prst="ellipse">
            <a:avLst/>
          </a:prstGeom>
          <a:solidFill>
            <a:srgbClr val="159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602736" y="2147742"/>
            <a:ext cx="420624" cy="147218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50" b="1" i="0">
                <a:solidFill>
                  <a:srgbClr val="FFFFFF"/>
                </a:solidFill>
                <a:latin typeface="Aptos"/>
              </a:rPr>
              <a:t>02</a:t>
            </a:r>
            <a:endParaRPr sz="650" b="1" i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3602736" y="2596896"/>
            <a:ext cx="2194560" cy="274320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59E9A"/>
                </a:solidFill>
                <a:latin typeface="Aptos"/>
              </a:rPr>
              <a:t>OFFLINE DATA PIPELINE</a:t>
            </a:r>
            <a:endParaRPr sz="900" b="1" i="0">
              <a:solidFill>
                <a:srgbClr val="159E9A"/>
              </a:solidFill>
              <a:latin typeface="Aptos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3602736" y="2944368"/>
            <a:ext cx="2176272" cy="365760"/>
          </a:xfrm>
          <a:prstGeom prst="rect">
            <a:avLst/>
          </a:prstGeom>
          <a:noFill/>
        </p:spPr>
        <p:txBody>
          <a:bodyPr wrap="square" lIns="45720" tIns="22860" rIns="45720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6758A"/>
                </a:solidFill>
                <a:latin typeface="Aptos"/>
              </a:rPr>
              <a:t>Olist • UCI Online Retail II
Amazon Reviews • Copydays</a:t>
            </a:r>
            <a:endParaRPr sz="800" b="0" i="0">
              <a:solidFill>
                <a:srgbClr val="66758A"/>
              </a:solidFill>
              <a:latin typeface="Aptos"/>
            </a:endParaRPr>
          </a:p>
        </p:txBody>
      </p:sp>
      <p:cxnSp>
        <p:nvCxnSpPr>
          <p:cNvPr id="50" name="Connector 49"/>
          <p:cNvCxnSpPr/>
          <p:nvPr/>
        </p:nvCxnSpPr>
        <p:spPr>
          <a:xfrm>
            <a:off x="5980176" y="2670048"/>
            <a:ext cx="256032" cy="0"/>
          </a:xfrm>
          <a:prstGeom prst="line">
            <a:avLst/>
          </a:prstGeom>
          <a:ln w="22860">
            <a:solidFill>
              <a:srgbClr val="159E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6144768" y="2606040"/>
            <a:ext cx="91440" cy="64008"/>
          </a:xfrm>
          <a:prstGeom prst="line">
            <a:avLst/>
          </a:prstGeom>
          <a:ln w="22860">
            <a:solidFill>
              <a:srgbClr val="159E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6144768" y="2670048"/>
            <a:ext cx="91440" cy="64008"/>
          </a:xfrm>
          <a:prstGeom prst="line">
            <a:avLst/>
          </a:prstGeom>
          <a:ln w="22860">
            <a:solidFill>
              <a:srgbClr val="159E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ounded Rectangle 52"/>
          <p:cNvSpPr/>
          <p:nvPr/>
        </p:nvSpPr>
        <p:spPr>
          <a:xfrm>
            <a:off x="6309360" y="1828800"/>
            <a:ext cx="2514600" cy="166420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6473952" y="2029968"/>
            <a:ext cx="420624" cy="420624"/>
          </a:xfrm>
          <a:prstGeom prst="ellipse">
            <a:avLst/>
          </a:prstGeom>
          <a:solidFill>
            <a:srgbClr val="765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73952" y="2147742"/>
            <a:ext cx="420624" cy="147218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50" b="1" i="0">
                <a:solidFill>
                  <a:srgbClr val="FFFFFF"/>
                </a:solidFill>
                <a:latin typeface="Aptos"/>
              </a:rPr>
              <a:t>03</a:t>
            </a:r>
            <a:endParaRPr sz="650" b="1" i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6473952" y="2596896"/>
            <a:ext cx="2194560" cy="274320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7656D6"/>
                </a:solidFill>
                <a:latin typeface="Aptos"/>
              </a:rPr>
              <a:t>HUMAN LABELS</a:t>
            </a:r>
            <a:endParaRPr sz="900" b="1" i="0">
              <a:solidFill>
                <a:srgbClr val="7656D6"/>
              </a:solidFill>
              <a:latin typeface="Aptos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6473952" y="2944368"/>
            <a:ext cx="2176272" cy="365760"/>
          </a:xfrm>
          <a:prstGeom prst="rect">
            <a:avLst/>
          </a:prstGeom>
          <a:noFill/>
        </p:spPr>
        <p:txBody>
          <a:bodyPr wrap="square" lIns="45720" tIns="22860" rIns="45720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6758A"/>
                </a:solidFill>
                <a:latin typeface="Aptos"/>
              </a:rPr>
              <a:t>Hand-label claim set
Reconcile with two reviewers</a:t>
            </a:r>
            <a:endParaRPr sz="800" b="0" i="0">
              <a:solidFill>
                <a:srgbClr val="66758A"/>
              </a:solidFill>
              <a:latin typeface="Aptos"/>
            </a:endParaRPr>
          </a:p>
        </p:txBody>
      </p:sp>
      <p:cxnSp>
        <p:nvCxnSpPr>
          <p:cNvPr id="58" name="Connector 57"/>
          <p:cNvCxnSpPr/>
          <p:nvPr/>
        </p:nvCxnSpPr>
        <p:spPr>
          <a:xfrm>
            <a:off x="8851392" y="2670048"/>
            <a:ext cx="256032" cy="0"/>
          </a:xfrm>
          <a:prstGeom prst="line">
            <a:avLst/>
          </a:prstGeom>
          <a:ln w="22860">
            <a:solidFill>
              <a:srgbClr val="159E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9015984" y="2606040"/>
            <a:ext cx="91440" cy="64008"/>
          </a:xfrm>
          <a:prstGeom prst="line">
            <a:avLst/>
          </a:prstGeom>
          <a:ln w="22860">
            <a:solidFill>
              <a:srgbClr val="159E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9015984" y="2670048"/>
            <a:ext cx="91440" cy="64008"/>
          </a:xfrm>
          <a:prstGeom prst="line">
            <a:avLst/>
          </a:prstGeom>
          <a:ln w="22860">
            <a:solidFill>
              <a:srgbClr val="159E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ounded Rectangle 60"/>
          <p:cNvSpPr/>
          <p:nvPr/>
        </p:nvSpPr>
        <p:spPr>
          <a:xfrm>
            <a:off x="9180576" y="1828800"/>
            <a:ext cx="2514600" cy="166420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9345167" y="2029968"/>
            <a:ext cx="420624" cy="420624"/>
          </a:xfrm>
          <a:prstGeom prst="ellipse">
            <a:avLst/>
          </a:prstGeom>
          <a:solidFill>
            <a:srgbClr val="138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345167" y="2147742"/>
            <a:ext cx="420624" cy="147218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50" b="1" i="0">
                <a:solidFill>
                  <a:srgbClr val="FFFFFF"/>
                </a:solidFill>
                <a:latin typeface="Aptos"/>
              </a:rPr>
              <a:t>04</a:t>
            </a:r>
            <a:endParaRPr sz="650" b="1" i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9345167" y="2596896"/>
            <a:ext cx="2194560" cy="274320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3834B"/>
                </a:solidFill>
                <a:latin typeface="Aptos"/>
              </a:rPr>
              <a:t>INDEPENDENT EVALUATION</a:t>
            </a:r>
            <a:endParaRPr sz="900" b="1" i="0">
              <a:solidFill>
                <a:srgbClr val="13834B"/>
              </a:solidFill>
              <a:latin typeface="Aptos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9345167" y="2944368"/>
            <a:ext cx="2176272" cy="365760"/>
          </a:xfrm>
          <a:prstGeom prst="rect">
            <a:avLst/>
          </a:prstGeom>
          <a:noFill/>
        </p:spPr>
        <p:txBody>
          <a:bodyPr wrap="square" lIns="45720" tIns="22860" rIns="45720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6758A"/>
                </a:solidFill>
                <a:latin typeface="Aptos"/>
              </a:rPr>
              <a:t>Held-out image thresholds
NLP error analysis • cost sweep</a:t>
            </a:r>
            <a:endParaRPr sz="800" b="0" i="0">
              <a:solidFill>
                <a:srgbClr val="66758A"/>
              </a:solidFill>
              <a:latin typeface="Aptos"/>
            </a:endParaRPr>
          </a:p>
        </p:txBody>
      </p:sp>
      <p:sp>
        <p:nvSpPr>
          <p:cNvPr id="66" name="Rounded Rectangle 65"/>
          <p:cNvSpPr/>
          <p:nvPr/>
        </p:nvSpPr>
        <p:spPr>
          <a:xfrm>
            <a:off x="566928" y="3858768"/>
            <a:ext cx="5321808" cy="1572768"/>
          </a:xfrm>
          <a:prstGeom prst="roundRect">
            <a:avLst>
              <a:gd name="adj" fmla="val 10000"/>
            </a:avLst>
          </a:prstGeom>
          <a:solidFill>
            <a:srgbClr val="E7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22960" y="4096512"/>
            <a:ext cx="4480560" cy="201168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459D3"/>
                </a:solidFill>
                <a:latin typeface="Aptos"/>
              </a:rPr>
              <a:t>KNOWN LIMITATIONS TO VALIDATE</a:t>
            </a:r>
            <a:endParaRPr sz="1000" b="1" i="0">
              <a:solidFill>
                <a:srgbClr val="2459D3"/>
              </a:solidFill>
              <a:latin typeface="Aptos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868680" y="4425696"/>
            <a:ext cx="4617720" cy="182880"/>
          </a:xfrm>
          <a:prstGeom prst="rect">
            <a:avLst/>
          </a:prstGeom>
          <a:noFill/>
        </p:spPr>
        <p:txBody>
          <a:bodyPr wrap="square" lIns="45720" tIns="22860" rIns="45720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02344"/>
                </a:solidFill>
                <a:latin typeface="Aptos"/>
              </a:rPr>
              <a:t>•  Image thresholds calibrated on synthetic images</a:t>
            </a:r>
            <a:endParaRPr sz="800" b="0" i="0">
              <a:solidFill>
                <a:srgbClr val="102344"/>
              </a:solidFill>
              <a:latin typeface="Aptos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868680" y="4672583"/>
            <a:ext cx="4617720" cy="182880"/>
          </a:xfrm>
          <a:prstGeom prst="rect">
            <a:avLst/>
          </a:prstGeom>
          <a:noFill/>
        </p:spPr>
        <p:txBody>
          <a:bodyPr wrap="square" lIns="45720" tIns="22860" rIns="45720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02344"/>
                </a:solidFill>
                <a:latin typeface="Aptos"/>
              </a:rPr>
              <a:t>•  Optional CLIP backend not yet run with real weights</a:t>
            </a:r>
            <a:endParaRPr sz="800" b="0" i="0">
              <a:solidFill>
                <a:srgbClr val="102344"/>
              </a:solidFill>
              <a:latin typeface="Aptos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868680" y="4919472"/>
            <a:ext cx="4617720" cy="182880"/>
          </a:xfrm>
          <a:prstGeom prst="rect">
            <a:avLst/>
          </a:prstGeom>
          <a:noFill/>
        </p:spPr>
        <p:txBody>
          <a:bodyPr wrap="square" lIns="45720" tIns="22860" rIns="45720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02344"/>
                </a:solidFill>
                <a:latin typeface="Aptos"/>
              </a:rPr>
              <a:t>•  Return-abuse signals need real return-event data</a:t>
            </a:r>
            <a:endParaRPr sz="800" b="0" i="0">
              <a:solidFill>
                <a:srgbClr val="102344"/>
              </a:solidFill>
              <a:latin typeface="Aptos"/>
            </a:endParaRPr>
          </a:p>
        </p:txBody>
      </p:sp>
      <p:sp>
        <p:nvSpPr>
          <p:cNvPr id="71" name="Rounded Rectangle 70"/>
          <p:cNvSpPr/>
          <p:nvPr/>
        </p:nvSpPr>
        <p:spPr>
          <a:xfrm>
            <a:off x="6172200" y="3858768"/>
            <a:ext cx="5321808" cy="1572768"/>
          </a:xfrm>
          <a:prstGeom prst="roundRect">
            <a:avLst>
              <a:gd name="adj" fmla="val 10000"/>
            </a:avLst>
          </a:prstGeom>
          <a:solidFill>
            <a:srgbClr val="DFF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428232" y="4096512"/>
            <a:ext cx="4480560" cy="201168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75A3C"/>
                </a:solidFill>
                <a:latin typeface="Aptos"/>
              </a:rPr>
              <a:t>SAFETY &amp; GOVERNANCE</a:t>
            </a:r>
            <a:endParaRPr sz="1000" b="1" i="0">
              <a:solidFill>
                <a:srgbClr val="075A3C"/>
              </a:solidFill>
              <a:latin typeface="Aptos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6473952" y="4425696"/>
            <a:ext cx="4617720" cy="182880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02344"/>
                </a:solidFill>
                <a:latin typeface="Aptos"/>
              </a:rPr>
              <a:t>•  Policy gate cannot be overridden by an agent</a:t>
            </a:r>
            <a:endParaRPr sz="800" b="0" i="0">
              <a:solidFill>
                <a:srgbClr val="102344"/>
              </a:solidFill>
              <a:latin typeface="Aptos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6473952" y="4672583"/>
            <a:ext cx="4617720" cy="182880"/>
          </a:xfrm>
          <a:prstGeom prst="rect">
            <a:avLst/>
          </a:prstGeom>
          <a:noFill/>
        </p:spPr>
        <p:txBody>
          <a:bodyPr wrap="square" lIns="45720" tIns="22860" rIns="45720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02344"/>
                </a:solidFill>
                <a:latin typeface="Aptos"/>
              </a:rPr>
              <a:t>•  Critical failure → manual review, never silent approval</a:t>
            </a:r>
            <a:endParaRPr sz="800" b="0" i="0">
              <a:solidFill>
                <a:srgbClr val="102344"/>
              </a:solidFill>
              <a:latin typeface="Aptos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6473952" y="4919472"/>
            <a:ext cx="4617720" cy="182880"/>
          </a:xfrm>
          <a:prstGeom prst="rect">
            <a:avLst/>
          </a:prstGeom>
          <a:noFill/>
        </p:spPr>
        <p:txBody>
          <a:bodyPr wrap="square" lIns="45720" tIns="22860" rIns="45720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02344"/>
                </a:solidFill>
                <a:latin typeface="Aptos"/>
              </a:rPr>
              <a:t>•  Sentiment affects CX routing, not risk score or decision</a:t>
            </a:r>
            <a:endParaRPr sz="800" b="0" i="0">
              <a:solidFill>
                <a:srgbClr val="102344"/>
              </a:solidFill>
              <a:latin typeface="Aptos"/>
            </a:endParaRPr>
          </a:p>
        </p:txBody>
      </p:sp>
      <p:sp>
        <p:nvSpPr>
          <p:cNvPr id="76" name="Rounded Rectangle 75"/>
          <p:cNvSpPr/>
          <p:nvPr/>
        </p:nvSpPr>
        <p:spPr>
          <a:xfrm>
            <a:off x="566928" y="5760720"/>
            <a:ext cx="11045952" cy="384048"/>
          </a:xfrm>
          <a:prstGeom prst="roundRect">
            <a:avLst>
              <a:gd name="adj" fmla="val 10000"/>
            </a:avLst>
          </a:prstGeom>
          <a:solidFill>
            <a:srgbClr val="FFF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58952" y="6144768"/>
            <a:ext cx="1645920" cy="128016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50" b="1" i="0">
                <a:solidFill>
                  <a:srgbClr val="334A67"/>
                </a:solidFill>
                <a:latin typeface="Aptos"/>
              </a:rPr>
              <a:t>EVIDENCE STATUS</a:t>
            </a:r>
            <a:endParaRPr sz="650" b="1" i="0">
              <a:solidFill>
                <a:srgbClr val="334A67"/>
              </a:solidFill>
              <a:latin typeface="Aptos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2304288" y="6108192"/>
            <a:ext cx="9052560" cy="201168"/>
          </a:xfrm>
          <a:prstGeom prst="rect">
            <a:avLst/>
          </a:prstGeom>
          <a:noFill/>
        </p:spPr>
        <p:txBody>
          <a:bodyPr wrap="square" lIns="45720" tIns="22860" rIns="45720" bIns="2286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sz="900" b="1" i="0">
              <a:solidFill>
                <a:srgbClr val="102344"/>
              </a:solidFill>
              <a:latin typeface="Aptos"/>
            </a:endParaRPr>
          </a:p>
        </p:txBody>
      </p:sp>
      <p:sp>
        <p:nvSpPr>
          <p:cNvPr id="79" name="Rounded Rectangle 78"/>
          <p:cNvSpPr/>
          <p:nvPr/>
        </p:nvSpPr>
        <p:spPr>
          <a:xfrm>
            <a:off x="566928" y="5440680"/>
            <a:ext cx="11045952" cy="4114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0160">
            <a:solidFill>
              <a:srgbClr val="D9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749808" y="5586984"/>
            <a:ext cx="1143000" cy="109728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13834B"/>
                </a:solidFill>
                <a:latin typeface="Aptos"/>
              </a:rPr>
              <a:t>RELEASE GATES</a:t>
            </a:r>
            <a:endParaRPr sz="700" b="1">
              <a:solidFill>
                <a:srgbClr val="13834B"/>
              </a:solidFill>
              <a:latin typeface="Aptos"/>
            </a:endParaRPr>
          </a:p>
        </p:txBody>
      </p:sp>
      <p:sp>
        <p:nvSpPr>
          <p:cNvPr id="81" name="Rounded Rectangle 80"/>
          <p:cNvSpPr/>
          <p:nvPr/>
        </p:nvSpPr>
        <p:spPr>
          <a:xfrm>
            <a:off x="1965960" y="5532120"/>
            <a:ext cx="1627632" cy="228600"/>
          </a:xfrm>
          <a:prstGeom prst="roundRect">
            <a:avLst>
              <a:gd name="adj" fmla="val 7000"/>
            </a:avLst>
          </a:prstGeom>
          <a:solidFill>
            <a:srgbClr val="E7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002536" y="5591556"/>
            <a:ext cx="1554480" cy="109728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00" b="1">
                <a:solidFill>
                  <a:srgbClr val="2459D3"/>
                </a:solidFill>
                <a:latin typeface="Aptos"/>
              </a:rPr>
              <a:t>HELD-OUT PRECISION</a:t>
            </a:r>
            <a:endParaRPr sz="500" b="1">
              <a:solidFill>
                <a:srgbClr val="2459D3"/>
              </a:solidFill>
              <a:latin typeface="Aptos"/>
            </a:endParaRPr>
          </a:p>
        </p:txBody>
      </p:sp>
      <p:sp>
        <p:nvSpPr>
          <p:cNvPr id="83" name="Rounded Rectangle 82"/>
          <p:cNvSpPr/>
          <p:nvPr/>
        </p:nvSpPr>
        <p:spPr>
          <a:xfrm>
            <a:off x="3840479" y="5532120"/>
            <a:ext cx="1627632" cy="228600"/>
          </a:xfrm>
          <a:prstGeom prst="roundRect">
            <a:avLst>
              <a:gd name="adj" fmla="val 7000"/>
            </a:avLst>
          </a:prstGeom>
          <a:solidFill>
            <a:srgbClr val="E1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3877055" y="5591556"/>
            <a:ext cx="1554480" cy="109728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00" b="1">
                <a:solidFill>
                  <a:srgbClr val="159E9A"/>
                </a:solidFill>
                <a:latin typeface="Aptos"/>
              </a:rPr>
              <a:t>RECALL @ CAPACITY</a:t>
            </a:r>
            <a:endParaRPr sz="500" b="1">
              <a:solidFill>
                <a:srgbClr val="159E9A"/>
              </a:solidFill>
              <a:latin typeface="Aptos"/>
            </a:endParaRPr>
          </a:p>
        </p:txBody>
      </p:sp>
      <p:sp>
        <p:nvSpPr>
          <p:cNvPr id="85" name="Rounded Rectangle 84"/>
          <p:cNvSpPr/>
          <p:nvPr/>
        </p:nvSpPr>
        <p:spPr>
          <a:xfrm>
            <a:off x="5715000" y="5532120"/>
            <a:ext cx="1627632" cy="228600"/>
          </a:xfrm>
          <a:prstGeom prst="roundRect">
            <a:avLst>
              <a:gd name="adj" fmla="val 7000"/>
            </a:avLst>
          </a:prstGeom>
          <a:solidFill>
            <a:srgbClr val="EC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5751576" y="5591556"/>
            <a:ext cx="1554480" cy="109728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00" b="1">
                <a:solidFill>
                  <a:srgbClr val="7656D6"/>
                </a:solidFill>
                <a:latin typeface="Aptos"/>
              </a:rPr>
              <a:t>APPEAL REVERSALS</a:t>
            </a:r>
            <a:endParaRPr sz="500" b="1">
              <a:solidFill>
                <a:srgbClr val="7656D6"/>
              </a:solidFill>
              <a:latin typeface="Aptos"/>
            </a:endParaRPr>
          </a:p>
        </p:txBody>
      </p:sp>
      <p:sp>
        <p:nvSpPr>
          <p:cNvPr id="87" name="Rounded Rectangle 86"/>
          <p:cNvSpPr/>
          <p:nvPr/>
        </p:nvSpPr>
        <p:spPr>
          <a:xfrm>
            <a:off x="7589519" y="5532120"/>
            <a:ext cx="1627632" cy="228600"/>
          </a:xfrm>
          <a:prstGeom prst="roundRect">
            <a:avLst>
              <a:gd name="adj" fmla="val 7000"/>
            </a:avLst>
          </a:prstGeom>
          <a:solidFill>
            <a:srgbClr val="FFF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7626095" y="5591556"/>
            <a:ext cx="1554480" cy="109728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00" b="1">
                <a:solidFill>
                  <a:srgbClr val="D69D22"/>
                </a:solidFill>
                <a:latin typeface="Aptos"/>
              </a:rPr>
              <a:t>COST SENSITIVITY</a:t>
            </a:r>
            <a:endParaRPr sz="500" b="1">
              <a:solidFill>
                <a:srgbClr val="D69D22"/>
              </a:solidFill>
              <a:latin typeface="Aptos"/>
            </a:endParaRPr>
          </a:p>
        </p:txBody>
      </p:sp>
      <p:sp>
        <p:nvSpPr>
          <p:cNvPr id="89" name="Rounded Rectangle 88"/>
          <p:cNvSpPr/>
          <p:nvPr/>
        </p:nvSpPr>
        <p:spPr>
          <a:xfrm>
            <a:off x="9464040" y="5532120"/>
            <a:ext cx="1627632" cy="228600"/>
          </a:xfrm>
          <a:prstGeom prst="roundRect">
            <a:avLst>
              <a:gd name="adj" fmla="val 7000"/>
            </a:avLst>
          </a:prstGeom>
          <a:solidFill>
            <a:srgbClr val="FCE9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9500615" y="5591556"/>
            <a:ext cx="1554480" cy="109728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00" b="1">
                <a:solidFill>
                  <a:srgbClr val="E9665B"/>
                </a:solidFill>
                <a:latin typeface="Aptos"/>
              </a:rPr>
              <a:t>DRIFT CHECKS</a:t>
            </a:r>
            <a:endParaRPr sz="500" b="1">
              <a:solidFill>
                <a:srgbClr val="E9665B"/>
              </a:solidFill>
              <a:latin typeface="Aptos"/>
            </a:endParaRPr>
          </a:p>
        </p:txBody>
      </p:sp>
      <p:pic>
        <p:nvPicPr>
          <p:cNvPr id="91" name="Picture 90" descr="image(20261024-111450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0747" y="195932"/>
            <a:ext cx="1645834" cy="46759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59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5486400" cy="182880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7B7E8"/>
                </a:solidFill>
                <a:latin typeface="Aptos"/>
              </a:rPr>
              <a:t>REFUND INTELLIGENCE  /  THE NORTH STAR</a:t>
            </a:r>
            <a:endParaRPr sz="900" b="1" i="0">
              <a:solidFill>
                <a:srgbClr val="67B7E8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804672"/>
            <a:ext cx="7772400" cy="594360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72B4D"/>
                </a:solidFill>
                <a:latin typeface="Aptos Display"/>
              </a:rPr>
              <a:t>LESS GUESSWORK.</a:t>
            </a:r>
            <a:endParaRPr sz="3000" b="1" i="0">
              <a:solidFill>
                <a:srgbClr val="172B4D"/>
              </a:solidFill>
              <a:latin typeface="Aptos Display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66928" y="1417320"/>
            <a:ext cx="8686800" cy="640080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72B4D"/>
                </a:solidFill>
                <a:latin typeface="Aptos Display"/>
              </a:rPr>
              <a:t>MORE INTELLIGENCE.</a:t>
            </a:r>
            <a:endParaRPr sz="3000" b="1" i="0">
              <a:solidFill>
                <a:srgbClr val="172B4D"/>
              </a:solidFill>
              <a:latin typeface="Aptos Display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03504" y="2148840"/>
            <a:ext cx="6400800" cy="548640"/>
          </a:xfrm>
          <a:prstGeom prst="rect">
            <a:avLst/>
          </a:prstGeom>
          <a:noFill/>
        </p:spPr>
        <p:txBody>
          <a:bodyPr wrap="square" lIns="45720" tIns="22860" rIns="45720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6758A"/>
                </a:solidFill>
                <a:latin typeface="Aptos"/>
              </a:rPr>
              <a:t>A smarter refund process should protect margin, respect customers, and make every decision explainable.</a:t>
            </a:r>
            <a:endParaRPr sz="1400" b="1" i="0">
              <a:solidFill>
                <a:srgbClr val="66758A"/>
              </a:solidFill>
              <a:latin typeface="Aptos"/>
            </a:endParaRPr>
          </a:p>
        </p:txBody>
      </p:sp>
      <p:sp>
        <p:nvSpPr>
          <p:cNvPr id="7" name="Oval 6"/>
          <p:cNvSpPr/>
          <p:nvPr/>
        </p:nvSpPr>
        <p:spPr>
          <a:xfrm>
            <a:off x="7269480" y="914400"/>
            <a:ext cx="4114800" cy="41148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9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08392" y="1353312"/>
            <a:ext cx="3236976" cy="323697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9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05088" y="2304288"/>
            <a:ext cx="1234440" cy="1234440"/>
          </a:xfrm>
          <a:prstGeom prst="ellipse">
            <a:avLst/>
          </a:prstGeom>
          <a:solidFill>
            <a:srgbClr val="159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05088" y="2649931"/>
            <a:ext cx="1234440" cy="432054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72B4D"/>
                </a:solidFill>
                <a:latin typeface="Aptos"/>
              </a:rPr>
              <a:t>RI</a:t>
            </a:r>
            <a:endParaRPr sz="2400" b="1" i="0">
              <a:solidFill>
                <a:srgbClr val="172B4D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229600" y="3703320"/>
            <a:ext cx="2194560" cy="438912"/>
          </a:xfrm>
          <a:prstGeom prst="rect">
            <a:avLst/>
          </a:prstGeom>
          <a:noFill/>
        </p:spPr>
        <p:txBody>
          <a:bodyPr wrap="square" lIns="45720" tIns="22860" rIns="45720" bIns="2286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72B4D"/>
                </a:solidFill>
                <a:latin typeface="Aptos"/>
              </a:rPr>
              <a:t>SAFE REFUND
INTELLIGENCE</a:t>
            </a:r>
            <a:endParaRPr sz="1100" b="1" i="0">
              <a:solidFill>
                <a:srgbClr val="172B4D"/>
              </a:solidFill>
              <a:latin typeface="Aptos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8458200" y="658368"/>
            <a:ext cx="1207008" cy="3474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458200" y="658368"/>
            <a:ext cx="64008" cy="347472"/>
          </a:xfrm>
          <a:prstGeom prst="rect">
            <a:avLst/>
          </a:prstGeom>
          <a:solidFill>
            <a:srgbClr val="67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49640" y="768096"/>
            <a:ext cx="1024128" cy="118872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102344"/>
                </a:solidFill>
                <a:latin typeface="Aptos"/>
              </a:rPr>
              <a:t>EVIDENCE</a:t>
            </a:r>
            <a:endParaRPr sz="700" b="1" i="0">
              <a:solidFill>
                <a:srgbClr val="102344"/>
              </a:solidFill>
              <a:latin typeface="Aptos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10561320" y="1938528"/>
            <a:ext cx="1207008" cy="3474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561320" y="1938528"/>
            <a:ext cx="64008" cy="347472"/>
          </a:xfrm>
          <a:prstGeom prst="rect">
            <a:avLst/>
          </a:prstGeom>
          <a:solidFill>
            <a:srgbClr val="159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52760" y="2048256"/>
            <a:ext cx="1024128" cy="118872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102344"/>
                </a:solidFill>
                <a:latin typeface="Aptos"/>
              </a:rPr>
              <a:t>RISK</a:t>
            </a:r>
            <a:endParaRPr sz="700" b="1" i="0">
              <a:solidFill>
                <a:srgbClr val="102344"/>
              </a:solidFill>
              <a:latin typeface="Aptos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10012680" y="4434840"/>
            <a:ext cx="1207008" cy="3474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012680" y="4434840"/>
            <a:ext cx="64008" cy="347472"/>
          </a:xfrm>
          <a:prstGeom prst="rect">
            <a:avLst/>
          </a:prstGeom>
          <a:solidFill>
            <a:srgbClr val="138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04119" y="4544568"/>
            <a:ext cx="1024128" cy="118872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102344"/>
                </a:solidFill>
                <a:latin typeface="Aptos"/>
              </a:rPr>
              <a:t>DECIDE</a:t>
            </a:r>
            <a:endParaRPr sz="700" b="1" i="0">
              <a:solidFill>
                <a:srgbClr val="102344"/>
              </a:solidFill>
              <a:latin typeface="Aptos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6656832" y="3913632"/>
            <a:ext cx="1207008" cy="3474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656832" y="3913632"/>
            <a:ext cx="64008" cy="347472"/>
          </a:xfrm>
          <a:prstGeom prst="rect">
            <a:avLst/>
          </a:prstGeom>
          <a:solidFill>
            <a:srgbClr val="F3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48272" y="4023360"/>
            <a:ext cx="1024128" cy="118872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102344"/>
                </a:solidFill>
                <a:latin typeface="Aptos"/>
              </a:rPr>
              <a:t>GUARDRAILS</a:t>
            </a:r>
            <a:endParaRPr sz="700" b="1" i="0">
              <a:solidFill>
                <a:srgbClr val="102344"/>
              </a:solidFill>
              <a:latin typeface="Aptos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720840" y="1572768"/>
            <a:ext cx="1207008" cy="3474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720840" y="1572768"/>
            <a:ext cx="64008" cy="347472"/>
          </a:xfrm>
          <a:prstGeom prst="rect">
            <a:avLst/>
          </a:prstGeom>
          <a:solidFill>
            <a:srgbClr val="765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12279" y="1682495"/>
            <a:ext cx="1024128" cy="118872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102344"/>
                </a:solidFill>
                <a:latin typeface="Aptos"/>
              </a:rPr>
              <a:t>LEARN</a:t>
            </a:r>
            <a:endParaRPr sz="700" b="1" i="0">
              <a:solidFill>
                <a:srgbClr val="102344"/>
              </a:solidFill>
              <a:latin typeface="Aptos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594360" y="3657600"/>
            <a:ext cx="1417320" cy="11155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6928" y="3822191"/>
            <a:ext cx="1115568" cy="146304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50" b="1" i="0">
                <a:solidFill>
                  <a:srgbClr val="2459D3"/>
                </a:solidFill>
                <a:latin typeface="Aptos"/>
              </a:rPr>
              <a:t>01</a:t>
            </a:r>
            <a:endParaRPr sz="650" b="1" i="0">
              <a:solidFill>
                <a:srgbClr val="2459D3"/>
              </a:solidFill>
              <a:latin typeface="Apto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44728" y="4096512"/>
            <a:ext cx="1115568" cy="164592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72B4D"/>
                </a:solidFill>
                <a:latin typeface="Aptos"/>
              </a:rPr>
              <a:t>TRACEABLE</a:t>
            </a:r>
            <a:endParaRPr sz="800" b="1" i="0">
              <a:solidFill>
                <a:srgbClr val="172B4D"/>
              </a:solidFill>
              <a:latin typeface="Aptos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74243" y="4361942"/>
            <a:ext cx="1115568" cy="228600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66758A"/>
                </a:solidFill>
                <a:latin typeface="Aptos"/>
              </a:rPr>
              <a:t>Sources + provenance</a:t>
            </a:r>
            <a:endParaRPr sz="700" b="0" i="0">
              <a:solidFill>
                <a:srgbClr val="66758A"/>
              </a:solidFill>
              <a:latin typeface="Aptos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2194560" y="3657600"/>
            <a:ext cx="1417320" cy="11155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993392" y="3822191"/>
            <a:ext cx="1115568" cy="146304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50" b="1" i="0">
                <a:solidFill>
                  <a:srgbClr val="159E9A"/>
                </a:solidFill>
                <a:latin typeface="Aptos"/>
              </a:rPr>
              <a:t>02</a:t>
            </a:r>
            <a:endParaRPr sz="650" b="1" i="0">
              <a:solidFill>
                <a:srgbClr val="159E9A"/>
              </a:solidFill>
              <a:latin typeface="Aptos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2304542" y="4096512"/>
            <a:ext cx="1115568" cy="164592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72B4D"/>
                </a:solidFill>
                <a:latin typeface="Aptos"/>
              </a:rPr>
              <a:t>RISK-AWARE</a:t>
            </a:r>
            <a:endParaRPr sz="800" b="1" i="0">
              <a:solidFill>
                <a:srgbClr val="172B4D"/>
              </a:solidFill>
              <a:latin typeface="Aptos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2304542" y="4370832"/>
            <a:ext cx="1115568" cy="228600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66758A"/>
                </a:solidFill>
                <a:latin typeface="Aptos"/>
              </a:rPr>
              <a:t>Evidence + behaviour</a:t>
            </a:r>
            <a:endParaRPr sz="700" b="0" i="0">
              <a:solidFill>
                <a:srgbClr val="66758A"/>
              </a:solidFill>
              <a:latin typeface="Aptos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3794760" y="3657600"/>
            <a:ext cx="1417320" cy="11155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419856" y="3822191"/>
            <a:ext cx="1115568" cy="146304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50" b="1" i="0">
                <a:solidFill>
                  <a:srgbClr val="13834B"/>
                </a:solidFill>
                <a:latin typeface="Aptos"/>
              </a:rPr>
              <a:t>03</a:t>
            </a:r>
            <a:endParaRPr sz="650" b="1" i="0">
              <a:solidFill>
                <a:srgbClr val="13834B"/>
              </a:solidFill>
              <a:latin typeface="Aptos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3895471" y="4096512"/>
            <a:ext cx="1115568" cy="164592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72B4D"/>
                </a:solidFill>
                <a:latin typeface="Aptos"/>
              </a:rPr>
              <a:t>COST-SMART</a:t>
            </a:r>
            <a:endParaRPr sz="800" b="1" i="0">
              <a:solidFill>
                <a:srgbClr val="172B4D"/>
              </a:solidFill>
              <a:latin typeface="Aptos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3895471" y="4316222"/>
            <a:ext cx="1115568" cy="228600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66758A"/>
                </a:solidFill>
                <a:latin typeface="Aptos"/>
              </a:rPr>
              <a:t>Loss + CX + handling</a:t>
            </a:r>
            <a:endParaRPr sz="700" b="0" i="0">
              <a:solidFill>
                <a:srgbClr val="66758A"/>
              </a:solidFill>
              <a:latin typeface="Aptos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5394960" y="3657600"/>
            <a:ext cx="1417320" cy="11155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846320" y="3822191"/>
            <a:ext cx="1115568" cy="146304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50" b="1" i="0">
                <a:solidFill>
                  <a:srgbClr val="7656D6"/>
                </a:solidFill>
                <a:latin typeface="Aptos"/>
              </a:rPr>
              <a:t>04</a:t>
            </a:r>
            <a:endParaRPr sz="650" b="1" i="0">
              <a:solidFill>
                <a:srgbClr val="7656D6"/>
              </a:solidFill>
              <a:latin typeface="Aptos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5541010" y="4096512"/>
            <a:ext cx="1115568" cy="164592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72B4D"/>
                </a:solidFill>
                <a:latin typeface="Aptos"/>
              </a:rPr>
              <a:t>HUMAN-SAFE</a:t>
            </a:r>
            <a:endParaRPr sz="800" b="1" i="0">
              <a:solidFill>
                <a:srgbClr val="172B4D"/>
              </a:solidFill>
              <a:latin typeface="Aptos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5541010" y="4316222"/>
            <a:ext cx="1115568" cy="228600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66758A"/>
                </a:solidFill>
                <a:latin typeface="Aptos"/>
              </a:rPr>
              <a:t>Policy + escalation</a:t>
            </a:r>
            <a:endParaRPr sz="700" b="0" i="0">
              <a:solidFill>
                <a:srgbClr val="66758A"/>
              </a:solidFill>
              <a:latin typeface="Aptos"/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594360" y="5257800"/>
            <a:ext cx="10972800" cy="5669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2960" y="5449824"/>
            <a:ext cx="10515600" cy="164592"/>
          </a:xfrm>
          <a:prstGeom prst="rect">
            <a:avLst/>
          </a:prstGeom>
          <a:noFill/>
        </p:spPr>
        <p:txBody>
          <a:bodyPr wrap="square" lIns="45720" tIns="22860" rIns="45720" bIns="2286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67B7E8"/>
                </a:solidFill>
                <a:latin typeface="Aptos"/>
              </a:rPr>
              <a:t>THE MODEL CAN RECOMMEND.  POLICY SETS THE LIMITS.  PEOPLE OWN THE OUTCOME.</a:t>
            </a:r>
            <a:endParaRPr sz="800" b="1" i="0">
              <a:solidFill>
                <a:srgbClr val="67B7E8"/>
              </a:solidFill>
              <a:latin typeface="Aptos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612648" y="6226175"/>
            <a:ext cx="8046720" cy="164592"/>
          </a:xfrm>
          <a:prstGeom prst="rect">
            <a:avLst/>
          </a:prstGeom>
          <a:noFill/>
        </p:spPr>
        <p:txBody>
          <a:bodyPr wrap="square" lIns="45720" tIns="22860" rIns="45720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66758A"/>
                </a:solidFill>
                <a:latin typeface="Aptos"/>
              </a:rPr>
              <a:t>REFUND INTELLIGENCE  •  PROTOTYPE PRESENTATION  •  ILLUSTRATIVE UI VALUES ONLY</a:t>
            </a:r>
            <a:endParaRPr sz="800" b="1" i="0">
              <a:solidFill>
                <a:srgbClr val="66758A"/>
              </a:solidFill>
              <a:latin typeface="Aptos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11365992" y="6473952"/>
            <a:ext cx="347472" cy="155448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650" b="1" i="0">
                <a:solidFill>
                  <a:srgbClr val="67B7E8"/>
                </a:solidFill>
                <a:latin typeface="Aptos"/>
              </a:rPr>
              <a:t>12</a:t>
            </a:r>
            <a:endParaRPr sz="650" b="1" i="0">
              <a:solidFill>
                <a:srgbClr val="67B7E8"/>
              </a:solidFill>
              <a:latin typeface="Aptos"/>
            </a:endParaRPr>
          </a:p>
        </p:txBody>
      </p:sp>
      <p:sp>
        <p:nvSpPr>
          <p:cNvPr id="47" name="Rounded Rectangle 46"/>
          <p:cNvSpPr/>
          <p:nvPr/>
        </p:nvSpPr>
        <p:spPr>
          <a:xfrm>
            <a:off x="594360" y="567817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E1F6F4"/>
          </a:solidFill>
          <a:ln w="10160">
            <a:solidFill>
              <a:srgbClr val="D9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>
            <a:normAutofit/>
          </a:bodyPr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22960" y="5842889"/>
            <a:ext cx="1691640" cy="128016"/>
          </a:xfrm>
          <a:prstGeom prst="rect">
            <a:avLst/>
          </a:prstGeom>
          <a:noFill/>
        </p:spPr>
        <p:txBody>
          <a:bodyPr wrap="square" lIns="45720" tIns="22860" rIns="45720" bIns="2286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50" b="1">
                <a:solidFill>
                  <a:srgbClr val="075A3C"/>
                </a:solidFill>
                <a:latin typeface="Aptos"/>
              </a:rPr>
              <a:t>THE OPERATING PROMISE</a:t>
            </a:r>
            <a:endParaRPr sz="650" b="1">
              <a:solidFill>
                <a:srgbClr val="075A3C"/>
              </a:solidFill>
              <a:latin typeface="Aptos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2651760" y="5806186"/>
            <a:ext cx="8503920" cy="164592"/>
          </a:xfrm>
          <a:prstGeom prst="rect">
            <a:avLst/>
          </a:prstGeom>
          <a:noFill/>
        </p:spPr>
        <p:txBody>
          <a:bodyPr wrap="square" lIns="45720" tIns="22860" rIns="45720" bIns="22860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72B4D"/>
                </a:solidFill>
                <a:latin typeface="Aptos"/>
              </a:rPr>
              <a:t>Traceable evidence. Risk-aware routing. Cost-conscious decisions. Human accountability.</a:t>
            </a:r>
            <a:endParaRPr sz="900" b="1">
              <a:solidFill>
                <a:srgbClr val="172B4D"/>
              </a:solidFill>
              <a:latin typeface="Aptos"/>
            </a:endParaRPr>
          </a:p>
        </p:txBody>
      </p:sp>
      <p:pic>
        <p:nvPicPr>
          <p:cNvPr id="50" name="Picture 49" descr="image(20261024-111450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0747" y="195932"/>
            <a:ext cx="1645834" cy="46759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9946</Words>
  <Application>WPS Presentation</Application>
  <PresentationFormat>On-screen Show (4:3)</PresentationFormat>
  <Paragraphs>920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4" baseType="lpstr">
      <vt:lpstr>Arial</vt:lpstr>
      <vt:lpstr>SimSun</vt:lpstr>
      <vt:lpstr>Wingdings</vt:lpstr>
      <vt:lpstr>Arial</vt:lpstr>
      <vt:lpstr>Aptos</vt:lpstr>
      <vt:lpstr>Segoe UI</vt:lpstr>
      <vt:lpstr>Aptos Display</vt:lpstr>
      <vt:lpstr>Calibri</vt:lpstr>
      <vt:lpstr>Segoe UI Variable Display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Manbhavna</cp:lastModifiedBy>
  <cp:revision>3</cp:revision>
  <dcterms:created xsi:type="dcterms:W3CDTF">2013-01-27T09:14:00Z</dcterms:created>
  <dcterms:modified xsi:type="dcterms:W3CDTF">2026-10-23T20:41:27Z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1033-12.1.0.29162</vt:lpwstr>
  </property>
  <property fmtid="{D5CDD505-2E9C-101B-9397-08002B2CF9AE}" pid="3" name="ICV">
    <vt:lpwstr>059949C588164DBC9C92FF83ED8ABCD1_13</vt:lpwstr>
  </property>
</Properties>
</file>